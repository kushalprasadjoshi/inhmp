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58" r:id="rId14"/>
    <p:sldId id="279" r:id="rId15"/>
    <p:sldId id="280" r:id="rId16"/>
    <p:sldId id="281" r:id="rId17"/>
    <p:sldId id="259" r:id="rId18"/>
    <p:sldId id="282" r:id="rId19"/>
    <p:sldId id="283" r:id="rId20"/>
    <p:sldId id="263" r:id="rId21"/>
    <p:sldId id="260" r:id="rId22"/>
    <p:sldId id="284" r:id="rId23"/>
    <p:sldId id="285" r:id="rId24"/>
    <p:sldId id="286" r:id="rId25"/>
    <p:sldId id="287" r:id="rId26"/>
    <p:sldId id="288" r:id="rId27"/>
    <p:sldId id="261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62" r:id="rId36"/>
    <p:sldId id="296" r:id="rId37"/>
    <p:sldId id="297" r:id="rId38"/>
    <p:sldId id="298" r:id="rId39"/>
    <p:sldId id="299" r:id="rId40"/>
    <p:sldId id="303" r:id="rId41"/>
    <p:sldId id="302" r:id="rId42"/>
    <p:sldId id="301" r:id="rId43"/>
    <p:sldId id="300" r:id="rId44"/>
    <p:sldId id="309" r:id="rId45"/>
    <p:sldId id="308" r:id="rId46"/>
    <p:sldId id="307" r:id="rId47"/>
    <p:sldId id="306" r:id="rId48"/>
    <p:sldId id="305" r:id="rId49"/>
    <p:sldId id="310" r:id="rId50"/>
    <p:sldId id="314" r:id="rId51"/>
    <p:sldId id="313" r:id="rId52"/>
    <p:sldId id="312" r:id="rId53"/>
    <p:sldId id="311" r:id="rId54"/>
    <p:sldId id="315" r:id="rId55"/>
    <p:sldId id="319" r:id="rId56"/>
    <p:sldId id="318" r:id="rId57"/>
    <p:sldId id="317" r:id="rId58"/>
    <p:sldId id="316" r:id="rId59"/>
    <p:sldId id="267" r:id="rId6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10"/>
  </p:normalViewPr>
  <p:slideViewPr>
    <p:cSldViewPr snapToGrid="0" snapToObjects="1">
      <p:cViewPr>
        <p:scale>
          <a:sx n="146" d="100"/>
          <a:sy n="146" d="100"/>
        </p:scale>
        <p:origin x="73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DC70CA-8A4A-D53A-FB1D-3693A6692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68BC0-DF33-E202-D737-C4A0771964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0DD21-5A0E-4A07-B654-CFEE4F287ED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D0A4C4-6961-DECC-CA12-799FFB7561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D69F1-431D-2B3D-EEDE-89D3E965D7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776A5-2C3F-4E50-BF59-FD6A66D6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516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271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9EA4E-DB16-3E82-84F1-E419A5798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40483-C2D2-CEAD-A70C-B298E5687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8DB83-59B7-B49C-A2B5-38784A7D5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2CB4C-85CD-88E7-6734-C19D32F58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319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1C9C7-657A-1EF5-C654-E92727640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F1316-8C35-8014-50F0-DDF43749C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4B8AE-DE71-6F62-AD40-09FEFEE7A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590A6-5D90-1C30-D1FA-C8B66A0F1D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364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9EDC9-5140-A9CE-030B-B2C5F59F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C9692-B270-CD2D-BD2B-59E157BB4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D0248-3ABB-2359-1DFF-C59302AFC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10EA6-67A7-583F-FECF-64BF5960D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100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50396-D436-7708-0C85-2E60E737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89979-C283-A0FD-0175-EF2FFB331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74348-417B-B18B-5EBB-E3247D010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33E5D-5C7F-3249-88F4-9920622BF8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492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3FCE1-0EB6-38EF-5B36-4A438537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9CEAB-82D0-670D-3979-598EE64C3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53B96-8006-D86C-93A6-83F2816DE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CDAD7-D9AF-0D91-7721-255417EA8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755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281BB-AA34-1C05-D5C5-27671791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26671-0578-6655-01F6-E8CEA7E47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A9B8E-D80F-AFB4-5A32-2E4FEBA69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B4B90-24D9-CE88-9ACF-1A67B84133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15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452B5-639C-8BF3-AF96-B8FD71B72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F79CB-42BB-202C-3DB4-17FD1F7BE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1BE14-7D85-0D06-53F6-EC6430E61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21B75-0B68-0C64-3472-D89497818A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427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5FB99-1958-1A97-8F81-59692149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7C8A4-AA81-2406-91CA-01ECABCC5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0189A-6431-2C2B-8C13-F07FC5C4B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8DF7F-F1CA-C0F0-8BA2-5C1E3B9203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081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D056D-74A0-308B-E533-D50D45F0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4F5B63-5C0D-9EFD-A0CE-8BE0B2938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0497B-5D79-3E44-E757-EEF81FB5F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5C56D-6C22-6BF8-C1F1-4BDCB3CBB0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629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92C17-6B90-259D-C85A-1269920A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E33CD-3B46-94CE-89B9-030F87678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0EB7E-A16C-7245-C736-09FF7E2A8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5E7E6-D8E5-5BE1-657F-806ED7A5B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982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E993-87FA-21BF-729C-377598B8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C53E5-E1CB-5ABF-F50B-D129B503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9ED81-6877-72DF-A9BD-AEA743C09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536D6-988B-B46E-E8FA-F02187F27A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280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520E-7083-DB44-3BED-017B07B7C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A9345-EA88-FF37-467A-A614DE7C0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AA8DE-9837-D2B2-5864-C565E58B7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3DABC-A59F-1F67-D30A-DFDDE7B3B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425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833E-B12E-1C22-BC6E-3C2AC2AF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C2458-F861-D939-2F50-7FA2907CD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3D600-9FC4-F90B-368D-4B16A7D65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4066C-1A3A-09E9-0570-35860EA991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030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DD7D1-682B-545B-A308-81256B4B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12DEB-3404-F347-2795-0BEA7097E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17CCA-E234-D342-6759-AD73457EF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D9329-ACC5-962A-407D-3D744D0EDB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5632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2AAA-633D-AE6F-EF9D-6BC8FFE6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7C16B-E485-5EAD-14AE-6F744039E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52193-0B39-9EEE-8752-8AAB7969B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7A217-25C2-FD39-51A0-9378A8664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850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87A32-137A-EA3A-5255-E0CB99C2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B8C16-45A1-C2C3-2E8E-0FF7DBB29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AD58A-ED99-842D-C61B-D776E6F97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44E17-3AD3-9649-2C39-832FC89BC6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859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8ADDA-62BB-40A3-7220-F9C773D30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53739-DB4E-1478-3A86-5B39A2898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79726-3779-6B75-4336-FAD4736C4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48C22-1E99-31D0-79E0-43A1358CA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5915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3A3F4-0133-3BFA-BE11-A5A68B28C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E1331-6DD3-0D54-43BF-9CA6C0481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90615-98BA-0513-5E8E-A4D2593D3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AFCB5-6C80-C151-7A0E-7F2AE3D50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5550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23F2-DDA3-D746-7892-30A30EDF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16DB9-01DB-4D4B-10F1-6B8B03795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9028F-14A7-2B02-3E9A-CAFDCED18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1A3E6-CAEF-129D-302E-7DCED9DAF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193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7CF04-70DD-938D-98DB-65070A5C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19E0F-F85E-6F5F-C4C4-66DB851D3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6C63A-5006-FC3D-8483-96CB023B4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8DE29-B0AF-5DF8-35CD-67E1D946E4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7459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9C581-8CBD-C0BF-1A0B-9E5FAF29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20B88-6C0D-C196-2C79-20385007A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F0599-AF94-78DE-8286-823A5BCE4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E1BAF-66E5-1957-EAA8-3386E56EA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8567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9A526-A310-5CC8-F168-A2360B8C8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F865F-3FAF-2FA2-FB3F-1D58921E4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62C7E-C669-9192-B5E5-7A5791C48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72DE4-0B41-65B6-CE84-B1F3FBE8BA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3570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114B-C5F8-579C-C230-A01FCB8E9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2B68B-44C1-B75B-BB53-FACE25DE1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40646-C1F3-4EC6-03CE-DCB81EE31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4C40B-5E8A-2376-AE40-C15A5F9ED0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5258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F53FD-E781-E859-9940-B4B9D9C8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8DE9D-435A-D93A-A3B9-759934BAD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879BA-1E10-3A44-C9EF-EB2158FEB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30C36-8235-149A-E086-A13CDC9C08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1941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F7280-C24C-9775-D94D-202B08DA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85DCB-5361-645D-49D2-4BBFEAA0F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206C5-FDF6-A900-FBEA-D929C4540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B00F4-F465-AF5D-50BF-F4B66930B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695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6DAC-04F2-0C8A-2E39-462C9478E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1E99C-201F-E986-1F7F-63CEDD58E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25D8F-1C6B-9D78-7CDC-05139E31D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5D4D2-4D69-6930-B8A2-FB1EFF6F8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1890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7CBF-68D6-6370-84B8-A96104E5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7B155-4F3C-81AC-779C-5EDC6717A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8222D-6974-EFDA-AC55-C0977F109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29747-BD31-F617-B564-BD4D7A8171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7075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5DD29-D2B0-7B91-5BDB-9B251221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D8105-AAEE-2A10-3E74-58E53610D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7FAFD-570E-735C-A69D-ABFDC9023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08274-0881-4685-D6EB-7A0217C064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645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17909-41B9-2DF0-25E8-286A51E8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44298-C535-9413-10E5-C33C08DEE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54EFC-FF00-40C8-F26E-67E96D771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D5756-28C8-267D-A35A-4A325E3D6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888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EC5EC-FC92-FC71-59F4-F54CA2DE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91877-A9CC-2F17-08B8-728A626F1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627FF-0F3C-3ACA-5AD0-742292A69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056BE-4797-F988-BAB8-CB3D65F0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33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A214-CA64-9D63-7BA6-A2BC0773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98F700-DC5D-AD76-0DA6-A02EB2DAD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39379-94F2-24A7-65EE-38DC6104B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0B05A-AEC8-9961-3FBC-C2B698110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2793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C6E58-5F3F-D2B2-5133-B22294B87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970D8-677D-8468-48A2-9C809BA4E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AA57E-96C7-5237-0FB9-21B526400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23F0F-929D-0C1F-8136-E813FE1C6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1563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DFE8D-2028-3475-6B65-260E59948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B3793-FEE5-71E2-ABFD-512080EE5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DC4A5-5022-0EF3-E0FD-7909B9DA8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AA0EF-774B-E8BD-3686-57E644B262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47780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67C8-64B5-6723-BB6F-B2DD6BDD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E2752-4482-B654-A794-809F974C8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3072F-1DC7-BDA8-A42E-178856327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0678E-BCCB-69DA-9125-F1628FAFA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824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D8D79-EC59-8AD3-1015-0E03F8A6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E490E-C9E7-5442-D40D-0D081DB3D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5A63E-E8C9-E442-CC6E-196550F95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B2C2F-38DF-2FC6-D20C-0BEAAA4941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8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0364-2603-C2E7-07FD-F1B2E0C6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FE07D-3888-07B9-E526-16805CF7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92CFC-9DBE-6F47-9DBF-7A6AE8414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4F9E2-7D48-1D55-FA7A-AB06E4260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9169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B2F2-7BFB-D923-6786-835FFE5F0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24FE6-A8F3-992C-AA79-D96803A71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529E2-ED6C-C9B1-5DE2-BDD1404BF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7004-F4CC-DD6A-AD6C-3F95D633DD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0334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74111-48F7-66F1-1B57-451CF76BB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79296-66F7-BF32-79A4-889CE8D3F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467A5-7EE1-4349-1A0B-7C1B9A5DC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8C5E-FCBF-C7F1-780B-3F1989D4B5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4914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45711-2898-5826-1FA1-6B63336E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A464D-8F49-0B7B-2C58-FEE80011E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4BAA9-7A83-E899-63C7-27233A52C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A11C6-836C-8CD3-6878-033E20B705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3969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50911-4D2C-112E-91A6-9EFD6590C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18D73-C0F9-48BD-7C6B-9D42FB756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78C2B-7C42-8DDD-97C6-1212A72A5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91AED-F7C4-3E07-43CF-DA1D8CB5DD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257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284F0-8D3B-3ABE-FA22-A420B522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CAECE-93A4-CB9D-C4BB-319F33688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79E6EA-22EB-15D2-D4CD-77401E696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06E35-7525-4A32-3369-D669FCFB7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3070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BCFA0-F0A7-635D-D891-31711C75C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90BDC-0CFA-929E-6003-A2D4B3D88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DDE0E-AC23-CEC2-B468-870DCF599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A9F31-ADC8-2AC1-56FE-9CE936099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7505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0F375-CE6A-9B3E-F718-5453FE54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669A2-84D9-EAB9-985F-87A62C880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ED02C0-62B0-2B42-F79E-76A1D928B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4518B-2D48-18CC-2FCE-E8A6BEE6E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7753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231C-BF50-13F1-385C-91886BF0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96ABE-8831-4B98-9E84-F32F0D28B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1E6BF-81DA-8996-2621-30A28342A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FD6A9-7982-698D-A0C8-6CD0E7617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7155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4DF42-D238-E1D7-0009-354C2F6C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C9927-21F7-0695-81F3-97EA609FA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34DE4-D6AD-053F-8C8C-F625AC426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6F9FE-9783-19D3-5511-9201270D12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87746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CCDA3-DCC3-C512-50D4-D5318071D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F0DE9-0BA1-14A7-C5EC-CE19CE702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50015-4BD0-BC6A-0DD0-4D18877ED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71F57-E230-C86B-DF10-2EF030C3D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6042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2C9E-E239-C4FC-8887-AF77BFF8C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6F3BD-5989-F32F-A709-322064A67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63457-7E6B-DC05-B698-7C4E976B0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B4F6C-E799-D046-75AE-03F770863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5850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9F81-C46E-BD84-67E7-1C3FD43CC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49CC1-8331-A20C-3E3B-1F3DD664F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541A4-E397-B0CC-362A-FD731E256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711AE-3549-9442-E006-CAD4A1CE22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18922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3EEBA-37B8-2217-8149-D21EBCAA0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57F34-CFD7-FDA0-F9BA-AB13E30EC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58EC3-1E11-B3E6-05A8-4D42022C7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E1CBD-B30F-EE38-9A87-1D0C1DD79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5992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F415F-BA7E-052B-CC0E-E9C134EE5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C287E-A062-B54D-2842-D1B4A6E16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3C74F-CEA2-AF3D-7AD2-61B324BE4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470FE-1AE4-6584-127F-C66F91519C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83939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449977"/>
            <a:ext cx="7315200" cy="1293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National Health Management Platform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99308" y="2924447"/>
            <a:ext cx="7315200" cy="601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Revolutionizing Healthcare Access Through Digital Innovation</a:t>
            </a:r>
          </a:p>
          <a:p>
            <a:pPr marL="0" indent="0" algn="ctr">
              <a:buNone/>
            </a:pPr>
            <a:r>
              <a:rPr lang="en-US" b="0" i="1" dirty="0">
                <a:solidFill>
                  <a:srgbClr val="F9FAFB"/>
                </a:solidFill>
                <a:effectLst/>
                <a:latin typeface="quote-cjk-patch"/>
              </a:rPr>
              <a:t>Connecting Care, Saving Lives, Powering the Future of Medicine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43695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Kushal Prasad Joshi  | Bibek Ghimire | Shasanka Acharya  | Kamal Rokaya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5F22B-306E-F4A2-D88F-01AA2D05D9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88107" y="-399498"/>
            <a:ext cx="3463290" cy="2308860"/>
          </a:xfrm>
          <a:prstGeom prst="rect">
            <a:avLst/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8F81FB19-7A75-6648-9885-4256638820ED}"/>
              </a:ext>
            </a:extLst>
          </p:cNvPr>
          <p:cNvSpPr/>
          <p:nvPr/>
        </p:nvSpPr>
        <p:spPr>
          <a:xfrm>
            <a:off x="862152" y="4026081"/>
            <a:ext cx="7315200" cy="226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9FAFB"/>
                </a:solidFill>
                <a:effectLst/>
                <a:latin typeface="quote-cjk-patch"/>
              </a:rPr>
              <a:t>Team DOT_ZIP</a:t>
            </a:r>
            <a:endParaRPr lang="en-US" sz="1800" b="1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F209C89-9A95-3224-ED51-F0EAA491C9D2}"/>
              </a:ext>
            </a:extLst>
          </p:cNvPr>
          <p:cNvGrpSpPr/>
          <p:nvPr/>
        </p:nvGrpSpPr>
        <p:grpSpPr>
          <a:xfrm>
            <a:off x="-3513891" y="1188720"/>
            <a:ext cx="4023360" cy="365760"/>
            <a:chOff x="731520" y="1188720"/>
            <a:chExt cx="4023360" cy="365760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34440"/>
              <a:ext cx="274320" cy="274320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109728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The Problem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6C7D099-7F12-D26A-949F-9E0DD9FF7F21}"/>
              </a:ext>
            </a:extLst>
          </p:cNvPr>
          <p:cNvGrpSpPr/>
          <p:nvPr/>
        </p:nvGrpSpPr>
        <p:grpSpPr>
          <a:xfrm>
            <a:off x="9196227" y="1188720"/>
            <a:ext cx="4023360" cy="365760"/>
            <a:chOff x="5029200" y="1188720"/>
            <a:chExt cx="4023360" cy="365760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1234440"/>
              <a:ext cx="274320" cy="274320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539496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Our solution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FF7206F-698F-288F-0096-A43C4D8BF646}"/>
              </a:ext>
            </a:extLst>
          </p:cNvPr>
          <p:cNvGrpSpPr/>
          <p:nvPr/>
        </p:nvGrpSpPr>
        <p:grpSpPr>
          <a:xfrm>
            <a:off x="9196227" y="1637128"/>
            <a:ext cx="4023360" cy="365760"/>
            <a:chOff x="731520" y="1645920"/>
            <a:chExt cx="4023360" cy="365760"/>
          </a:xfrm>
        </p:grpSpPr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91640"/>
              <a:ext cx="274320" cy="274320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109728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Solution Architecture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B7BE360-15D6-F208-67B8-2AF23B48DB25}"/>
              </a:ext>
            </a:extLst>
          </p:cNvPr>
          <p:cNvGrpSpPr/>
          <p:nvPr/>
        </p:nvGrpSpPr>
        <p:grpSpPr>
          <a:xfrm>
            <a:off x="9196227" y="2097844"/>
            <a:ext cx="4023360" cy="365760"/>
            <a:chOff x="5029200" y="1645920"/>
            <a:chExt cx="4023360" cy="365760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1691640"/>
              <a:ext cx="274320" cy="274320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539496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Social Impact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871C23-D64D-0C19-C7F9-85EFD518A63D}"/>
              </a:ext>
            </a:extLst>
          </p:cNvPr>
          <p:cNvGrpSpPr/>
          <p:nvPr/>
        </p:nvGrpSpPr>
        <p:grpSpPr>
          <a:xfrm>
            <a:off x="-3513891" y="1645920"/>
            <a:ext cx="4023360" cy="365760"/>
            <a:chOff x="731520" y="2103120"/>
            <a:chExt cx="4023360" cy="365760"/>
          </a:xfrm>
        </p:grpSpPr>
        <p:pic>
          <p:nvPicPr>
            <p:cNvPr id="12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148840"/>
              <a:ext cx="274320" cy="274320"/>
            </a:xfrm>
            <a:prstGeom prst="rect">
              <a:avLst/>
            </a:prstGeom>
          </p:spPr>
        </p:pic>
        <p:sp>
          <p:nvSpPr>
            <p:cNvPr id="13" name="Text 6"/>
            <p:cNvSpPr/>
            <p:nvPr/>
          </p:nvSpPr>
          <p:spPr>
            <a:xfrm>
              <a:off x="109728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Traction and Validation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9250257-2BCB-BF15-924A-7DAB88FDA5F1}"/>
              </a:ext>
            </a:extLst>
          </p:cNvPr>
          <p:cNvGrpSpPr/>
          <p:nvPr/>
        </p:nvGrpSpPr>
        <p:grpSpPr>
          <a:xfrm>
            <a:off x="-3527939" y="2570870"/>
            <a:ext cx="4023360" cy="365760"/>
            <a:chOff x="5029200" y="2103120"/>
            <a:chExt cx="4023360" cy="365760"/>
          </a:xfrm>
        </p:grpSpPr>
        <p:pic>
          <p:nvPicPr>
            <p:cNvPr id="14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15" name="Text 7"/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Sustainable Business Model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BC69FFA-8EE6-1C5B-8DEE-131E8EBE3ED3}"/>
              </a:ext>
            </a:extLst>
          </p:cNvPr>
          <p:cNvGrpSpPr/>
          <p:nvPr/>
        </p:nvGrpSpPr>
        <p:grpSpPr>
          <a:xfrm>
            <a:off x="9196203" y="2560320"/>
            <a:ext cx="4023360" cy="365760"/>
            <a:chOff x="731520" y="2560320"/>
            <a:chExt cx="4023360" cy="365760"/>
          </a:xfrm>
        </p:grpSpPr>
        <p:pic>
          <p:nvPicPr>
            <p:cNvPr id="16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1520" y="2606040"/>
              <a:ext cx="274320" cy="274320"/>
            </a:xfrm>
            <a:prstGeom prst="rect">
              <a:avLst/>
            </a:prstGeom>
          </p:spPr>
        </p:pic>
        <p:sp>
          <p:nvSpPr>
            <p:cNvPr id="17" name="Text 8"/>
            <p:cNvSpPr/>
            <p:nvPr/>
          </p:nvSpPr>
          <p:spPr>
            <a:xfrm>
              <a:off x="109728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National Rollout Strategy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ECEED57-BA7E-A699-3835-B003C74A3D7F}"/>
              </a:ext>
            </a:extLst>
          </p:cNvPr>
          <p:cNvGrpSpPr/>
          <p:nvPr/>
        </p:nvGrpSpPr>
        <p:grpSpPr>
          <a:xfrm>
            <a:off x="9196203" y="3021036"/>
            <a:ext cx="4023360" cy="365760"/>
            <a:chOff x="5029200" y="2560320"/>
            <a:chExt cx="4023360" cy="365760"/>
          </a:xfrm>
        </p:grpSpPr>
        <p:pic>
          <p:nvPicPr>
            <p:cNvPr id="18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29200" y="2606040"/>
              <a:ext cx="274320" cy="274320"/>
            </a:xfrm>
            <a:prstGeom prst="rect">
              <a:avLst/>
            </a:prstGeom>
          </p:spPr>
        </p:pic>
        <p:sp>
          <p:nvSpPr>
            <p:cNvPr id="19" name="Text 9"/>
            <p:cNvSpPr/>
            <p:nvPr/>
          </p:nvSpPr>
          <p:spPr>
            <a:xfrm>
              <a:off x="539496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Intelligence &amp; Analytics Layer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F79087-9747-44B3-E5C0-03F1D17D369C}"/>
              </a:ext>
            </a:extLst>
          </p:cNvPr>
          <p:cNvGrpSpPr/>
          <p:nvPr/>
        </p:nvGrpSpPr>
        <p:grpSpPr>
          <a:xfrm>
            <a:off x="-3513891" y="2134772"/>
            <a:ext cx="4023360" cy="365760"/>
            <a:chOff x="731520" y="2134772"/>
            <a:chExt cx="4023360" cy="365760"/>
          </a:xfrm>
        </p:grpSpPr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34AA561C-31F6-8307-E093-D6191C433011}"/>
                </a:ext>
              </a:extLst>
            </p:cNvPr>
            <p:cNvSpPr/>
            <p:nvPr/>
          </p:nvSpPr>
          <p:spPr>
            <a:xfrm>
              <a:off x="1097280" y="213477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Platform Workflow</a:t>
              </a:r>
              <a:endParaRPr lang="en-US" sz="1400" dirty="0"/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99FE0B77-B6AF-0798-62DC-3CFE3D5FD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145322"/>
              <a:ext cx="274320" cy="27432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2BA512-BAD0-793C-92C3-E46F7754B238}"/>
              </a:ext>
            </a:extLst>
          </p:cNvPr>
          <p:cNvGrpSpPr/>
          <p:nvPr/>
        </p:nvGrpSpPr>
        <p:grpSpPr>
          <a:xfrm>
            <a:off x="-3513891" y="3021036"/>
            <a:ext cx="4023360" cy="365760"/>
            <a:chOff x="5029200" y="2103120"/>
            <a:chExt cx="4023360" cy="365760"/>
          </a:xfrm>
        </p:grpSpPr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851A20B9-0219-1C7A-0534-EF13D437E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25939EEE-8965-B54A-CF95-EB5CFA2AEA73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Infrastructure and Operational Cost</a:t>
              </a:r>
              <a:endParaRPr lang="en-US" sz="1400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259A6-C559-51FA-ECB5-E0DF7C66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19183B-3E97-B9C9-D3BE-F2B0F4F54630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EAF569-F802-2392-3047-7430835DE98F}"/>
              </a:ext>
            </a:extLst>
          </p:cNvPr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9A12E7-B5FC-8884-FF1C-8D7A2AAB4E8C}"/>
              </a:ext>
            </a:extLst>
          </p:cNvPr>
          <p:cNvGrpSpPr/>
          <p:nvPr/>
        </p:nvGrpSpPr>
        <p:grpSpPr>
          <a:xfrm>
            <a:off x="476789" y="1188720"/>
            <a:ext cx="4023360" cy="365760"/>
            <a:chOff x="731520" y="1188720"/>
            <a:chExt cx="4023360" cy="365760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138C8B8F-2EB8-5D7B-263E-3F0EC722E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34440"/>
              <a:ext cx="274320" cy="274320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D5A4741A-945B-9352-ABC8-A7286EECDBBB}"/>
                </a:ext>
              </a:extLst>
            </p:cNvPr>
            <p:cNvSpPr/>
            <p:nvPr/>
          </p:nvSpPr>
          <p:spPr>
            <a:xfrm>
              <a:off x="109728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The Problem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33E6EB8-39DD-5294-8794-C0B26CE3C528}"/>
              </a:ext>
            </a:extLst>
          </p:cNvPr>
          <p:cNvGrpSpPr/>
          <p:nvPr/>
        </p:nvGrpSpPr>
        <p:grpSpPr>
          <a:xfrm>
            <a:off x="9196227" y="1188720"/>
            <a:ext cx="4023360" cy="365760"/>
            <a:chOff x="5029200" y="1188720"/>
            <a:chExt cx="4023360" cy="365760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57D235CD-A058-6594-7B31-3CB327B61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1234440"/>
              <a:ext cx="274320" cy="274320"/>
            </a:xfrm>
            <a:prstGeom prst="rect">
              <a:avLst/>
            </a:prstGeom>
          </p:spPr>
        </p:pic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AB0A8A70-2453-D035-C48A-910844C67897}"/>
                </a:ext>
              </a:extLst>
            </p:cNvPr>
            <p:cNvSpPr/>
            <p:nvPr/>
          </p:nvSpPr>
          <p:spPr>
            <a:xfrm>
              <a:off x="539496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Our solution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5286CC1-E0FB-9872-BBF8-BCCC212563C7}"/>
              </a:ext>
            </a:extLst>
          </p:cNvPr>
          <p:cNvGrpSpPr/>
          <p:nvPr/>
        </p:nvGrpSpPr>
        <p:grpSpPr>
          <a:xfrm>
            <a:off x="9196227" y="1637128"/>
            <a:ext cx="4023360" cy="365760"/>
            <a:chOff x="731520" y="1645920"/>
            <a:chExt cx="4023360" cy="365760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3D5BC9E8-0563-ED6E-D78E-5393D5BE4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91640"/>
              <a:ext cx="274320" cy="274320"/>
            </a:xfrm>
            <a:prstGeom prst="rect">
              <a:avLst/>
            </a:prstGeom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D37BEF7A-BB4B-A28F-D70F-70D82D56EC19}"/>
                </a:ext>
              </a:extLst>
            </p:cNvPr>
            <p:cNvSpPr/>
            <p:nvPr/>
          </p:nvSpPr>
          <p:spPr>
            <a:xfrm>
              <a:off x="109728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Solution Architecture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3E3A1C7-0BBD-FFC1-5135-F25A08D3A6CC}"/>
              </a:ext>
            </a:extLst>
          </p:cNvPr>
          <p:cNvGrpSpPr/>
          <p:nvPr/>
        </p:nvGrpSpPr>
        <p:grpSpPr>
          <a:xfrm>
            <a:off x="9196227" y="2097844"/>
            <a:ext cx="4023360" cy="365760"/>
            <a:chOff x="5029200" y="1645920"/>
            <a:chExt cx="4023360" cy="365760"/>
          </a:xfrm>
        </p:grpSpPr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E9B857CD-794A-1F74-D059-AB2FC79C4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1691640"/>
              <a:ext cx="274320" cy="274320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4C106119-F34A-F847-D0CA-951C8B01BD03}"/>
                </a:ext>
              </a:extLst>
            </p:cNvPr>
            <p:cNvSpPr/>
            <p:nvPr/>
          </p:nvSpPr>
          <p:spPr>
            <a:xfrm>
              <a:off x="539496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Social Impact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CA28EA-6A54-FF33-3D4C-ED19BC9CEF52}"/>
              </a:ext>
            </a:extLst>
          </p:cNvPr>
          <p:cNvGrpSpPr/>
          <p:nvPr/>
        </p:nvGrpSpPr>
        <p:grpSpPr>
          <a:xfrm>
            <a:off x="-3513891" y="1645920"/>
            <a:ext cx="4023360" cy="365760"/>
            <a:chOff x="731520" y="2103120"/>
            <a:chExt cx="4023360" cy="365760"/>
          </a:xfrm>
        </p:grpSpPr>
        <p:pic>
          <p:nvPicPr>
            <p:cNvPr id="12" name="Image 4" descr="preencoded.png">
              <a:extLst>
                <a:ext uri="{FF2B5EF4-FFF2-40B4-BE49-F238E27FC236}">
                  <a16:creationId xmlns:a16="http://schemas.microsoft.com/office/drawing/2014/main" id="{351DEB87-E843-0E28-F950-F0E5F1ACC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148840"/>
              <a:ext cx="274320" cy="274320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5BBF2C88-E55E-70C0-F1F4-25FB9BD746CD}"/>
                </a:ext>
              </a:extLst>
            </p:cNvPr>
            <p:cNvSpPr/>
            <p:nvPr/>
          </p:nvSpPr>
          <p:spPr>
            <a:xfrm>
              <a:off x="109728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Traction and Validation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B85088-D853-F963-5E38-2E3A97875843}"/>
              </a:ext>
            </a:extLst>
          </p:cNvPr>
          <p:cNvGrpSpPr/>
          <p:nvPr/>
        </p:nvGrpSpPr>
        <p:grpSpPr>
          <a:xfrm>
            <a:off x="-3527939" y="2570870"/>
            <a:ext cx="4023360" cy="365760"/>
            <a:chOff x="5029200" y="2103120"/>
            <a:chExt cx="4023360" cy="365760"/>
          </a:xfrm>
        </p:grpSpPr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58EA476B-AD04-E059-5EA3-003ADF4D5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DC295D8C-45DB-EF7D-8908-5992F3B42F37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Sustainable Business Model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CC7D77D-0C08-3B65-DA6B-556ADE9828EA}"/>
              </a:ext>
            </a:extLst>
          </p:cNvPr>
          <p:cNvGrpSpPr/>
          <p:nvPr/>
        </p:nvGrpSpPr>
        <p:grpSpPr>
          <a:xfrm>
            <a:off x="9196203" y="2560320"/>
            <a:ext cx="4023360" cy="365760"/>
            <a:chOff x="731520" y="2560320"/>
            <a:chExt cx="4023360" cy="365760"/>
          </a:xfrm>
        </p:grpSpPr>
        <p:pic>
          <p:nvPicPr>
            <p:cNvPr id="16" name="Image 6" descr="preencoded.png">
              <a:extLst>
                <a:ext uri="{FF2B5EF4-FFF2-40B4-BE49-F238E27FC236}">
                  <a16:creationId xmlns:a16="http://schemas.microsoft.com/office/drawing/2014/main" id="{17C00EA0-B54F-BA44-2CE4-E72193CB1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1520" y="2606040"/>
              <a:ext cx="274320" cy="274320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56808AF5-BB97-A6E3-9029-153FCA992C4E}"/>
                </a:ext>
              </a:extLst>
            </p:cNvPr>
            <p:cNvSpPr/>
            <p:nvPr/>
          </p:nvSpPr>
          <p:spPr>
            <a:xfrm>
              <a:off x="109728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National Rollout Strategy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77E3D3-0514-7B41-EE9D-17B574943EA3}"/>
              </a:ext>
            </a:extLst>
          </p:cNvPr>
          <p:cNvGrpSpPr/>
          <p:nvPr/>
        </p:nvGrpSpPr>
        <p:grpSpPr>
          <a:xfrm>
            <a:off x="9196203" y="3021036"/>
            <a:ext cx="4023360" cy="365760"/>
            <a:chOff x="5029200" y="2560320"/>
            <a:chExt cx="4023360" cy="365760"/>
          </a:xfrm>
        </p:grpSpPr>
        <p:pic>
          <p:nvPicPr>
            <p:cNvPr id="18" name="Image 7" descr="preencoded.png">
              <a:extLst>
                <a:ext uri="{FF2B5EF4-FFF2-40B4-BE49-F238E27FC236}">
                  <a16:creationId xmlns:a16="http://schemas.microsoft.com/office/drawing/2014/main" id="{BA350832-9765-9282-92EE-99FFDC3A2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29200" y="2606040"/>
              <a:ext cx="274320" cy="274320"/>
            </a:xfrm>
            <a:prstGeom prst="rect">
              <a:avLst/>
            </a:prstGeom>
          </p:spPr>
        </p:pic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11751506-8E7E-61C6-3940-58598F702456}"/>
                </a:ext>
              </a:extLst>
            </p:cNvPr>
            <p:cNvSpPr/>
            <p:nvPr/>
          </p:nvSpPr>
          <p:spPr>
            <a:xfrm>
              <a:off x="539496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Intelligence &amp; Analytics Layer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31DFBAA-5003-D08D-C423-1DF64E71EF59}"/>
              </a:ext>
            </a:extLst>
          </p:cNvPr>
          <p:cNvGrpSpPr/>
          <p:nvPr/>
        </p:nvGrpSpPr>
        <p:grpSpPr>
          <a:xfrm>
            <a:off x="-3513891" y="2134772"/>
            <a:ext cx="4023360" cy="365760"/>
            <a:chOff x="731520" y="2134772"/>
            <a:chExt cx="4023360" cy="365760"/>
          </a:xfrm>
        </p:grpSpPr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8542B988-E58C-FF3E-0261-6082FC58CE64}"/>
                </a:ext>
              </a:extLst>
            </p:cNvPr>
            <p:cNvSpPr/>
            <p:nvPr/>
          </p:nvSpPr>
          <p:spPr>
            <a:xfrm>
              <a:off x="1097280" y="213477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Platform Workflow</a:t>
              </a:r>
              <a:endParaRPr lang="en-US" sz="1400" dirty="0"/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547007D9-6B13-EF7D-5417-0BB4E0317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145322"/>
              <a:ext cx="274320" cy="27432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DA08047-ECDF-091E-4F01-858EB2721AFC}"/>
              </a:ext>
            </a:extLst>
          </p:cNvPr>
          <p:cNvGrpSpPr/>
          <p:nvPr/>
        </p:nvGrpSpPr>
        <p:grpSpPr>
          <a:xfrm>
            <a:off x="-3513891" y="3021036"/>
            <a:ext cx="4023360" cy="365760"/>
            <a:chOff x="5029200" y="2103120"/>
            <a:chExt cx="4023360" cy="365760"/>
          </a:xfrm>
        </p:grpSpPr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AAC454B6-1FF4-AFB4-6273-697CFB44E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E8A5D949-D1A6-5420-2EBC-729740C249D3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Infrastructure and Operational Cost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206218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6DFBF-8DDD-9931-92DA-E13491E3F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4E4EC4-3A4F-4B9C-ECB3-704E61D9D45F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A1C8E4C-C34E-0CA2-8639-F63874A132EC}"/>
              </a:ext>
            </a:extLst>
          </p:cNvPr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A92A354-D675-E04B-B354-F6EFC92648B2}"/>
              </a:ext>
            </a:extLst>
          </p:cNvPr>
          <p:cNvGrpSpPr/>
          <p:nvPr/>
        </p:nvGrpSpPr>
        <p:grpSpPr>
          <a:xfrm>
            <a:off x="476789" y="1188720"/>
            <a:ext cx="4023360" cy="365760"/>
            <a:chOff x="731520" y="1188720"/>
            <a:chExt cx="4023360" cy="365760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4AEE42E6-D033-9312-F8D7-A4411195B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34440"/>
              <a:ext cx="274320" cy="274320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19130817-98BD-14C6-0699-4FCBA7B51A91}"/>
                </a:ext>
              </a:extLst>
            </p:cNvPr>
            <p:cNvSpPr/>
            <p:nvPr/>
          </p:nvSpPr>
          <p:spPr>
            <a:xfrm>
              <a:off x="109728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The Problem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3CC658A-0A8D-321D-A59C-922928E4E93F}"/>
              </a:ext>
            </a:extLst>
          </p:cNvPr>
          <p:cNvGrpSpPr/>
          <p:nvPr/>
        </p:nvGrpSpPr>
        <p:grpSpPr>
          <a:xfrm>
            <a:off x="5074913" y="1188720"/>
            <a:ext cx="4023360" cy="365760"/>
            <a:chOff x="5029200" y="1188720"/>
            <a:chExt cx="4023360" cy="365760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51E80748-D193-782B-DC66-67563B3CA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1234440"/>
              <a:ext cx="274320" cy="274320"/>
            </a:xfrm>
            <a:prstGeom prst="rect">
              <a:avLst/>
            </a:prstGeom>
          </p:spPr>
        </p:pic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AEE925B9-BBE4-9E68-E987-D6AA532CD06C}"/>
                </a:ext>
              </a:extLst>
            </p:cNvPr>
            <p:cNvSpPr/>
            <p:nvPr/>
          </p:nvSpPr>
          <p:spPr>
            <a:xfrm>
              <a:off x="539496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Our solution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9E4D22-30B1-516A-AE45-6C91D3EDB529}"/>
              </a:ext>
            </a:extLst>
          </p:cNvPr>
          <p:cNvGrpSpPr/>
          <p:nvPr/>
        </p:nvGrpSpPr>
        <p:grpSpPr>
          <a:xfrm>
            <a:off x="9196227" y="1637128"/>
            <a:ext cx="4023360" cy="365760"/>
            <a:chOff x="731520" y="1645920"/>
            <a:chExt cx="4023360" cy="365760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5EF568DD-164E-E562-7095-E3F7544F1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91640"/>
              <a:ext cx="274320" cy="274320"/>
            </a:xfrm>
            <a:prstGeom prst="rect">
              <a:avLst/>
            </a:prstGeom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7A967ED8-9D00-19FC-7B98-F70C559F094B}"/>
                </a:ext>
              </a:extLst>
            </p:cNvPr>
            <p:cNvSpPr/>
            <p:nvPr/>
          </p:nvSpPr>
          <p:spPr>
            <a:xfrm>
              <a:off x="109728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Solution Architecture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F12FF59-202F-EB67-1D1F-7C291072EBFD}"/>
              </a:ext>
            </a:extLst>
          </p:cNvPr>
          <p:cNvGrpSpPr/>
          <p:nvPr/>
        </p:nvGrpSpPr>
        <p:grpSpPr>
          <a:xfrm>
            <a:off x="9196227" y="2097844"/>
            <a:ext cx="4023360" cy="365760"/>
            <a:chOff x="5029200" y="1645920"/>
            <a:chExt cx="4023360" cy="365760"/>
          </a:xfrm>
        </p:grpSpPr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51CF3F06-B04B-7A40-7F6F-94F7D140C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1691640"/>
              <a:ext cx="274320" cy="274320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C51D7118-44C8-D6FF-8008-C3CBB5A49D40}"/>
                </a:ext>
              </a:extLst>
            </p:cNvPr>
            <p:cNvSpPr/>
            <p:nvPr/>
          </p:nvSpPr>
          <p:spPr>
            <a:xfrm>
              <a:off x="539496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Social Impact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549517-5847-C58E-56CC-BBE976EA1C98}"/>
              </a:ext>
            </a:extLst>
          </p:cNvPr>
          <p:cNvGrpSpPr/>
          <p:nvPr/>
        </p:nvGrpSpPr>
        <p:grpSpPr>
          <a:xfrm>
            <a:off x="-3513891" y="1645920"/>
            <a:ext cx="4023360" cy="365760"/>
            <a:chOff x="731520" y="2103120"/>
            <a:chExt cx="4023360" cy="365760"/>
          </a:xfrm>
        </p:grpSpPr>
        <p:pic>
          <p:nvPicPr>
            <p:cNvPr id="12" name="Image 4" descr="preencoded.png">
              <a:extLst>
                <a:ext uri="{FF2B5EF4-FFF2-40B4-BE49-F238E27FC236}">
                  <a16:creationId xmlns:a16="http://schemas.microsoft.com/office/drawing/2014/main" id="{80B1A61B-ECAA-C734-B66B-B9B35A7F0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148840"/>
              <a:ext cx="274320" cy="274320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9EF94B94-2871-84E2-346F-5DEE8D0EBB0F}"/>
                </a:ext>
              </a:extLst>
            </p:cNvPr>
            <p:cNvSpPr/>
            <p:nvPr/>
          </p:nvSpPr>
          <p:spPr>
            <a:xfrm>
              <a:off x="109728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Traction and Validation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7117BF6-7937-E584-D07B-EC857A8339B8}"/>
              </a:ext>
            </a:extLst>
          </p:cNvPr>
          <p:cNvGrpSpPr/>
          <p:nvPr/>
        </p:nvGrpSpPr>
        <p:grpSpPr>
          <a:xfrm>
            <a:off x="-3527939" y="2570870"/>
            <a:ext cx="4023360" cy="365760"/>
            <a:chOff x="5029200" y="2103120"/>
            <a:chExt cx="4023360" cy="365760"/>
          </a:xfrm>
        </p:grpSpPr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CB16A448-C646-CBA5-33FA-3DD5CA621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A7477D4B-ED12-5E77-5A23-D53A65E7C843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Sustainable Business Model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E6784CF-4E04-2C12-9EE5-E3EC0C704091}"/>
              </a:ext>
            </a:extLst>
          </p:cNvPr>
          <p:cNvGrpSpPr/>
          <p:nvPr/>
        </p:nvGrpSpPr>
        <p:grpSpPr>
          <a:xfrm>
            <a:off x="9196203" y="2560320"/>
            <a:ext cx="4023360" cy="365760"/>
            <a:chOff x="731520" y="2560320"/>
            <a:chExt cx="4023360" cy="365760"/>
          </a:xfrm>
        </p:grpSpPr>
        <p:pic>
          <p:nvPicPr>
            <p:cNvPr id="16" name="Image 6" descr="preencoded.png">
              <a:extLst>
                <a:ext uri="{FF2B5EF4-FFF2-40B4-BE49-F238E27FC236}">
                  <a16:creationId xmlns:a16="http://schemas.microsoft.com/office/drawing/2014/main" id="{78735663-9E33-FBF6-0E51-AA6E36DF7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1520" y="2606040"/>
              <a:ext cx="274320" cy="274320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3690BE93-13D3-E154-1540-528B47FD7EEC}"/>
                </a:ext>
              </a:extLst>
            </p:cNvPr>
            <p:cNvSpPr/>
            <p:nvPr/>
          </p:nvSpPr>
          <p:spPr>
            <a:xfrm>
              <a:off x="109728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National Rollout Strategy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2A5A944-540A-38F9-0DE6-C43E370EA8C1}"/>
              </a:ext>
            </a:extLst>
          </p:cNvPr>
          <p:cNvGrpSpPr/>
          <p:nvPr/>
        </p:nvGrpSpPr>
        <p:grpSpPr>
          <a:xfrm>
            <a:off x="9196203" y="3021036"/>
            <a:ext cx="4023360" cy="365760"/>
            <a:chOff x="5029200" y="2560320"/>
            <a:chExt cx="4023360" cy="365760"/>
          </a:xfrm>
        </p:grpSpPr>
        <p:pic>
          <p:nvPicPr>
            <p:cNvPr id="18" name="Image 7" descr="preencoded.png">
              <a:extLst>
                <a:ext uri="{FF2B5EF4-FFF2-40B4-BE49-F238E27FC236}">
                  <a16:creationId xmlns:a16="http://schemas.microsoft.com/office/drawing/2014/main" id="{3849C2DB-84A9-1E66-2398-B61DCA861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29200" y="2606040"/>
              <a:ext cx="274320" cy="274320"/>
            </a:xfrm>
            <a:prstGeom prst="rect">
              <a:avLst/>
            </a:prstGeom>
          </p:spPr>
        </p:pic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92DDC297-11FB-1B57-ED78-93BADC24D669}"/>
                </a:ext>
              </a:extLst>
            </p:cNvPr>
            <p:cNvSpPr/>
            <p:nvPr/>
          </p:nvSpPr>
          <p:spPr>
            <a:xfrm>
              <a:off x="539496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Intelligence &amp; Analytics Layer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26DDB-B485-A7C8-9AFE-D04ECFAC0A15}"/>
              </a:ext>
            </a:extLst>
          </p:cNvPr>
          <p:cNvGrpSpPr/>
          <p:nvPr/>
        </p:nvGrpSpPr>
        <p:grpSpPr>
          <a:xfrm>
            <a:off x="-3513891" y="2134772"/>
            <a:ext cx="4023360" cy="365760"/>
            <a:chOff x="731520" y="2134772"/>
            <a:chExt cx="4023360" cy="365760"/>
          </a:xfrm>
        </p:grpSpPr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78B05A81-17F8-4E7B-847F-A4D397429904}"/>
                </a:ext>
              </a:extLst>
            </p:cNvPr>
            <p:cNvSpPr/>
            <p:nvPr/>
          </p:nvSpPr>
          <p:spPr>
            <a:xfrm>
              <a:off x="1097280" y="213477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Platform Workflow</a:t>
              </a:r>
              <a:endParaRPr lang="en-US" sz="1400" dirty="0"/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56687DF2-DFB7-699F-EC8B-A75884C9F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145322"/>
              <a:ext cx="274320" cy="27432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0B58021-F091-853F-88D1-43D772879C83}"/>
              </a:ext>
            </a:extLst>
          </p:cNvPr>
          <p:cNvGrpSpPr/>
          <p:nvPr/>
        </p:nvGrpSpPr>
        <p:grpSpPr>
          <a:xfrm>
            <a:off x="-3513891" y="3021036"/>
            <a:ext cx="4023360" cy="365760"/>
            <a:chOff x="5029200" y="2103120"/>
            <a:chExt cx="4023360" cy="365760"/>
          </a:xfrm>
        </p:grpSpPr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91453B49-EC59-7ABA-C88C-7C693BB62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B335FC40-86E8-FFFD-DEF9-02C0FA3EE29A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Infrastructure and Operational Cost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775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46ECB-688E-CB7D-EC44-0F42DAA7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0A99EA-C77D-0F8F-1479-96D07C64533E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C26302-61EA-D9FE-A491-EC8FC3AA9538}"/>
              </a:ext>
            </a:extLst>
          </p:cNvPr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D28CA4-0158-6A86-1B18-0359F6E35ECE}"/>
              </a:ext>
            </a:extLst>
          </p:cNvPr>
          <p:cNvGrpSpPr/>
          <p:nvPr/>
        </p:nvGrpSpPr>
        <p:grpSpPr>
          <a:xfrm>
            <a:off x="476789" y="1188720"/>
            <a:ext cx="4023360" cy="365760"/>
            <a:chOff x="731520" y="1188720"/>
            <a:chExt cx="4023360" cy="365760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7CFECD07-71E6-7955-F8FC-019484A83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34440"/>
              <a:ext cx="274320" cy="274320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38A76470-8C35-EF34-81DC-7EBBA857EA84}"/>
                </a:ext>
              </a:extLst>
            </p:cNvPr>
            <p:cNvSpPr/>
            <p:nvPr/>
          </p:nvSpPr>
          <p:spPr>
            <a:xfrm>
              <a:off x="109728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The Problem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A0CE376-FB3B-039E-DC97-1D28B3F87198}"/>
              </a:ext>
            </a:extLst>
          </p:cNvPr>
          <p:cNvGrpSpPr/>
          <p:nvPr/>
        </p:nvGrpSpPr>
        <p:grpSpPr>
          <a:xfrm>
            <a:off x="5074913" y="1188720"/>
            <a:ext cx="4023360" cy="365760"/>
            <a:chOff x="5029200" y="1188720"/>
            <a:chExt cx="4023360" cy="365760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44A2D2D2-B8AC-02A0-6EAE-B6DFFA113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1234440"/>
              <a:ext cx="274320" cy="274320"/>
            </a:xfrm>
            <a:prstGeom prst="rect">
              <a:avLst/>
            </a:prstGeom>
          </p:spPr>
        </p:pic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6882CE3C-9273-2B52-78BC-C1755BB85E28}"/>
                </a:ext>
              </a:extLst>
            </p:cNvPr>
            <p:cNvSpPr/>
            <p:nvPr/>
          </p:nvSpPr>
          <p:spPr>
            <a:xfrm>
              <a:off x="539496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Our solution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4E1436-F085-5167-8B69-AFC9DE61CE11}"/>
              </a:ext>
            </a:extLst>
          </p:cNvPr>
          <p:cNvGrpSpPr/>
          <p:nvPr/>
        </p:nvGrpSpPr>
        <p:grpSpPr>
          <a:xfrm>
            <a:off x="9196227" y="1637128"/>
            <a:ext cx="4023360" cy="365760"/>
            <a:chOff x="731520" y="1645920"/>
            <a:chExt cx="4023360" cy="365760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F538CED1-30DF-C189-84BF-BE11D552E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91640"/>
              <a:ext cx="274320" cy="274320"/>
            </a:xfrm>
            <a:prstGeom prst="rect">
              <a:avLst/>
            </a:prstGeom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AE8C4001-1FCF-69B5-742C-02EA898DF320}"/>
                </a:ext>
              </a:extLst>
            </p:cNvPr>
            <p:cNvSpPr/>
            <p:nvPr/>
          </p:nvSpPr>
          <p:spPr>
            <a:xfrm>
              <a:off x="109728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Solution Architecture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D3D0DD-71CA-336A-427A-44523240F007}"/>
              </a:ext>
            </a:extLst>
          </p:cNvPr>
          <p:cNvGrpSpPr/>
          <p:nvPr/>
        </p:nvGrpSpPr>
        <p:grpSpPr>
          <a:xfrm>
            <a:off x="9196227" y="2097844"/>
            <a:ext cx="4023360" cy="365760"/>
            <a:chOff x="5029200" y="1645920"/>
            <a:chExt cx="4023360" cy="365760"/>
          </a:xfrm>
        </p:grpSpPr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9EE7C4FE-9161-477C-D2CD-B64C5C28B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1691640"/>
              <a:ext cx="274320" cy="274320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BF6E7ADF-CE2A-1058-851C-0DBBD5108AE6}"/>
                </a:ext>
              </a:extLst>
            </p:cNvPr>
            <p:cNvSpPr/>
            <p:nvPr/>
          </p:nvSpPr>
          <p:spPr>
            <a:xfrm>
              <a:off x="539496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Social Impact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447D51-6A3D-817F-B2F5-8A4D99F7B7C3}"/>
              </a:ext>
            </a:extLst>
          </p:cNvPr>
          <p:cNvGrpSpPr/>
          <p:nvPr/>
        </p:nvGrpSpPr>
        <p:grpSpPr>
          <a:xfrm>
            <a:off x="496388" y="1645920"/>
            <a:ext cx="4023360" cy="365760"/>
            <a:chOff x="731520" y="2103120"/>
            <a:chExt cx="4023360" cy="365760"/>
          </a:xfrm>
        </p:grpSpPr>
        <p:pic>
          <p:nvPicPr>
            <p:cNvPr id="12" name="Image 4" descr="preencoded.png">
              <a:extLst>
                <a:ext uri="{FF2B5EF4-FFF2-40B4-BE49-F238E27FC236}">
                  <a16:creationId xmlns:a16="http://schemas.microsoft.com/office/drawing/2014/main" id="{A121861B-2A32-CA30-BD13-F8877A47E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148840"/>
              <a:ext cx="274320" cy="274320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16307704-6A07-679B-7B7F-6C4F874324E8}"/>
                </a:ext>
              </a:extLst>
            </p:cNvPr>
            <p:cNvSpPr/>
            <p:nvPr/>
          </p:nvSpPr>
          <p:spPr>
            <a:xfrm>
              <a:off x="109728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Traction and Validation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C4094AD-94E2-2D8C-690F-A9A742F6FD42}"/>
              </a:ext>
            </a:extLst>
          </p:cNvPr>
          <p:cNvGrpSpPr/>
          <p:nvPr/>
        </p:nvGrpSpPr>
        <p:grpSpPr>
          <a:xfrm>
            <a:off x="-3527939" y="2570870"/>
            <a:ext cx="4023360" cy="365760"/>
            <a:chOff x="5029200" y="2103120"/>
            <a:chExt cx="4023360" cy="365760"/>
          </a:xfrm>
        </p:grpSpPr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9D2001CC-0557-D359-7D9F-64A980BFB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68F0D953-2DCD-4977-1FC6-0FBB094432D2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Sustainable Business Model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632FE3D-D3F8-14C1-7A75-D5BAB547EF89}"/>
              </a:ext>
            </a:extLst>
          </p:cNvPr>
          <p:cNvGrpSpPr/>
          <p:nvPr/>
        </p:nvGrpSpPr>
        <p:grpSpPr>
          <a:xfrm>
            <a:off x="9196203" y="2560320"/>
            <a:ext cx="4023360" cy="365760"/>
            <a:chOff x="731520" y="2560320"/>
            <a:chExt cx="4023360" cy="365760"/>
          </a:xfrm>
        </p:grpSpPr>
        <p:pic>
          <p:nvPicPr>
            <p:cNvPr id="16" name="Image 6" descr="preencoded.png">
              <a:extLst>
                <a:ext uri="{FF2B5EF4-FFF2-40B4-BE49-F238E27FC236}">
                  <a16:creationId xmlns:a16="http://schemas.microsoft.com/office/drawing/2014/main" id="{FF2B0571-8DE8-B252-4EA8-5725E1E80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1520" y="2606040"/>
              <a:ext cx="274320" cy="274320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DCD19835-2D16-87CB-726F-967FBE91AD6A}"/>
                </a:ext>
              </a:extLst>
            </p:cNvPr>
            <p:cNvSpPr/>
            <p:nvPr/>
          </p:nvSpPr>
          <p:spPr>
            <a:xfrm>
              <a:off x="109728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National Rollout Strategy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F51FC5-75D6-A6A0-7E58-F2D259DA725E}"/>
              </a:ext>
            </a:extLst>
          </p:cNvPr>
          <p:cNvGrpSpPr/>
          <p:nvPr/>
        </p:nvGrpSpPr>
        <p:grpSpPr>
          <a:xfrm>
            <a:off x="9196203" y="3021036"/>
            <a:ext cx="4023360" cy="365760"/>
            <a:chOff x="5029200" y="2560320"/>
            <a:chExt cx="4023360" cy="365760"/>
          </a:xfrm>
        </p:grpSpPr>
        <p:pic>
          <p:nvPicPr>
            <p:cNvPr id="18" name="Image 7" descr="preencoded.png">
              <a:extLst>
                <a:ext uri="{FF2B5EF4-FFF2-40B4-BE49-F238E27FC236}">
                  <a16:creationId xmlns:a16="http://schemas.microsoft.com/office/drawing/2014/main" id="{35863612-0236-E32E-1BAB-89D84E54B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29200" y="2606040"/>
              <a:ext cx="274320" cy="274320"/>
            </a:xfrm>
            <a:prstGeom prst="rect">
              <a:avLst/>
            </a:prstGeom>
          </p:spPr>
        </p:pic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1AF10B7F-C958-D850-BD10-022A604FDB26}"/>
                </a:ext>
              </a:extLst>
            </p:cNvPr>
            <p:cNvSpPr/>
            <p:nvPr/>
          </p:nvSpPr>
          <p:spPr>
            <a:xfrm>
              <a:off x="539496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Intelligence &amp; Analytics Layer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96F1EF6-6245-CE91-8BDE-341F25FE1395}"/>
              </a:ext>
            </a:extLst>
          </p:cNvPr>
          <p:cNvGrpSpPr/>
          <p:nvPr/>
        </p:nvGrpSpPr>
        <p:grpSpPr>
          <a:xfrm>
            <a:off x="-3513891" y="2134772"/>
            <a:ext cx="4023360" cy="365760"/>
            <a:chOff x="731520" y="2134772"/>
            <a:chExt cx="4023360" cy="365760"/>
          </a:xfrm>
        </p:grpSpPr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1142F121-179C-B7B7-F541-B0655218E5D4}"/>
                </a:ext>
              </a:extLst>
            </p:cNvPr>
            <p:cNvSpPr/>
            <p:nvPr/>
          </p:nvSpPr>
          <p:spPr>
            <a:xfrm>
              <a:off x="1097280" y="213477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Platform Workflow</a:t>
              </a:r>
              <a:endParaRPr lang="en-US" sz="1400" dirty="0"/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CF4E99B2-9EBF-8656-2C8D-857638872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145322"/>
              <a:ext cx="274320" cy="27432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0BD361A-119B-3CCF-3EAC-E8D5DDB06037}"/>
              </a:ext>
            </a:extLst>
          </p:cNvPr>
          <p:cNvGrpSpPr/>
          <p:nvPr/>
        </p:nvGrpSpPr>
        <p:grpSpPr>
          <a:xfrm>
            <a:off x="-3513891" y="3021036"/>
            <a:ext cx="4023360" cy="365760"/>
            <a:chOff x="5029200" y="2103120"/>
            <a:chExt cx="4023360" cy="365760"/>
          </a:xfrm>
        </p:grpSpPr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48933C9F-CBC8-C5B0-7CD8-D0EB9D1FD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A2143772-F6CD-91AE-147C-203AB31B3E50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Infrastructure and Operational Cost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32303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5D566-C660-7E98-8044-C7CF9C05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7A24C6-6475-E59B-C9AA-8E4A95BC5DDC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445FC4-67AA-EF49-9514-059FDA431B21}"/>
              </a:ext>
            </a:extLst>
          </p:cNvPr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A310AD8-5B32-634B-0378-8F382BDBA2A5}"/>
              </a:ext>
            </a:extLst>
          </p:cNvPr>
          <p:cNvGrpSpPr/>
          <p:nvPr/>
        </p:nvGrpSpPr>
        <p:grpSpPr>
          <a:xfrm>
            <a:off x="476789" y="1188720"/>
            <a:ext cx="4023360" cy="365760"/>
            <a:chOff x="731520" y="1188720"/>
            <a:chExt cx="4023360" cy="365760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60FDAA2B-41A9-554A-40B9-6DE9C67BE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34440"/>
              <a:ext cx="274320" cy="274320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9CC7B6F4-7EEF-44E1-D29B-5F078D7ECC79}"/>
                </a:ext>
              </a:extLst>
            </p:cNvPr>
            <p:cNvSpPr/>
            <p:nvPr/>
          </p:nvSpPr>
          <p:spPr>
            <a:xfrm>
              <a:off x="109728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The Problem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71A8363-58FB-9B66-4E7D-DA045791D194}"/>
              </a:ext>
            </a:extLst>
          </p:cNvPr>
          <p:cNvGrpSpPr/>
          <p:nvPr/>
        </p:nvGrpSpPr>
        <p:grpSpPr>
          <a:xfrm>
            <a:off x="5074913" y="1188720"/>
            <a:ext cx="4023360" cy="365760"/>
            <a:chOff x="5029200" y="1188720"/>
            <a:chExt cx="4023360" cy="365760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E7616140-C793-0884-4075-1CB0D1C83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1234440"/>
              <a:ext cx="274320" cy="274320"/>
            </a:xfrm>
            <a:prstGeom prst="rect">
              <a:avLst/>
            </a:prstGeom>
          </p:spPr>
        </p:pic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C6AD5ECD-E1C1-4154-C036-72167D7F071A}"/>
                </a:ext>
              </a:extLst>
            </p:cNvPr>
            <p:cNvSpPr/>
            <p:nvPr/>
          </p:nvSpPr>
          <p:spPr>
            <a:xfrm>
              <a:off x="539496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Our solution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7AA9053-0F78-86F5-36A0-6440479F41E9}"/>
              </a:ext>
            </a:extLst>
          </p:cNvPr>
          <p:cNvGrpSpPr/>
          <p:nvPr/>
        </p:nvGrpSpPr>
        <p:grpSpPr>
          <a:xfrm>
            <a:off x="5068382" y="1637128"/>
            <a:ext cx="4023360" cy="365760"/>
            <a:chOff x="731520" y="1645920"/>
            <a:chExt cx="4023360" cy="365760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66418973-B686-89CC-D3F5-AC5BC077D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91640"/>
              <a:ext cx="274320" cy="274320"/>
            </a:xfrm>
            <a:prstGeom prst="rect">
              <a:avLst/>
            </a:prstGeom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E123A991-4DE5-DC4A-A9C6-73997DDFC3F3}"/>
                </a:ext>
              </a:extLst>
            </p:cNvPr>
            <p:cNvSpPr/>
            <p:nvPr/>
          </p:nvSpPr>
          <p:spPr>
            <a:xfrm>
              <a:off x="109728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Solution Architecture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B27BF1C-7E67-7A32-F977-2A8612749E60}"/>
              </a:ext>
            </a:extLst>
          </p:cNvPr>
          <p:cNvGrpSpPr/>
          <p:nvPr/>
        </p:nvGrpSpPr>
        <p:grpSpPr>
          <a:xfrm>
            <a:off x="9196227" y="2097844"/>
            <a:ext cx="4023360" cy="365760"/>
            <a:chOff x="5029200" y="1645920"/>
            <a:chExt cx="4023360" cy="365760"/>
          </a:xfrm>
        </p:grpSpPr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69C34D94-CD7E-B852-4216-BD6BD9116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1691640"/>
              <a:ext cx="274320" cy="274320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05A44EBC-664C-F6DA-8A6F-10695081DA68}"/>
                </a:ext>
              </a:extLst>
            </p:cNvPr>
            <p:cNvSpPr/>
            <p:nvPr/>
          </p:nvSpPr>
          <p:spPr>
            <a:xfrm>
              <a:off x="539496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Social Impact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67880B-3278-A9EC-7B3B-AC107855E47E}"/>
              </a:ext>
            </a:extLst>
          </p:cNvPr>
          <p:cNvGrpSpPr/>
          <p:nvPr/>
        </p:nvGrpSpPr>
        <p:grpSpPr>
          <a:xfrm>
            <a:off x="496388" y="1645920"/>
            <a:ext cx="4023360" cy="365760"/>
            <a:chOff x="731520" y="2103120"/>
            <a:chExt cx="4023360" cy="365760"/>
          </a:xfrm>
        </p:grpSpPr>
        <p:pic>
          <p:nvPicPr>
            <p:cNvPr id="12" name="Image 4" descr="preencoded.png">
              <a:extLst>
                <a:ext uri="{FF2B5EF4-FFF2-40B4-BE49-F238E27FC236}">
                  <a16:creationId xmlns:a16="http://schemas.microsoft.com/office/drawing/2014/main" id="{F3477323-383E-E93C-6C12-489D0FD8A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148840"/>
              <a:ext cx="274320" cy="274320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BC36DE11-9761-4DC0-BDE4-2F4F31F4BB25}"/>
                </a:ext>
              </a:extLst>
            </p:cNvPr>
            <p:cNvSpPr/>
            <p:nvPr/>
          </p:nvSpPr>
          <p:spPr>
            <a:xfrm>
              <a:off x="109728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Traction and Validation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1CF84AD-58F8-BF0C-BD69-3B107B7B0532}"/>
              </a:ext>
            </a:extLst>
          </p:cNvPr>
          <p:cNvGrpSpPr/>
          <p:nvPr/>
        </p:nvGrpSpPr>
        <p:grpSpPr>
          <a:xfrm>
            <a:off x="-3527939" y="2570870"/>
            <a:ext cx="4023360" cy="365760"/>
            <a:chOff x="5029200" y="2103120"/>
            <a:chExt cx="4023360" cy="365760"/>
          </a:xfrm>
        </p:grpSpPr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588CFCE1-0A3F-33CC-72F0-F35DBEE8D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949EF90A-F8B3-5EAA-4584-F56E8DCF437D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Sustainable Business Model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D027815-4262-054B-B4CD-3241800F3C9A}"/>
              </a:ext>
            </a:extLst>
          </p:cNvPr>
          <p:cNvGrpSpPr/>
          <p:nvPr/>
        </p:nvGrpSpPr>
        <p:grpSpPr>
          <a:xfrm>
            <a:off x="9196203" y="2560320"/>
            <a:ext cx="4023360" cy="365760"/>
            <a:chOff x="731520" y="2560320"/>
            <a:chExt cx="4023360" cy="365760"/>
          </a:xfrm>
        </p:grpSpPr>
        <p:pic>
          <p:nvPicPr>
            <p:cNvPr id="16" name="Image 6" descr="preencoded.png">
              <a:extLst>
                <a:ext uri="{FF2B5EF4-FFF2-40B4-BE49-F238E27FC236}">
                  <a16:creationId xmlns:a16="http://schemas.microsoft.com/office/drawing/2014/main" id="{A6A1A0D6-41E3-1536-12E5-4AC753F9F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1520" y="2606040"/>
              <a:ext cx="274320" cy="274320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FFF67729-859A-216E-369D-AE9D6C85BB8E}"/>
                </a:ext>
              </a:extLst>
            </p:cNvPr>
            <p:cNvSpPr/>
            <p:nvPr/>
          </p:nvSpPr>
          <p:spPr>
            <a:xfrm>
              <a:off x="109728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National Rollout Strategy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FE020AA-E8B5-6D4E-023E-D0D0AEDC5922}"/>
              </a:ext>
            </a:extLst>
          </p:cNvPr>
          <p:cNvGrpSpPr/>
          <p:nvPr/>
        </p:nvGrpSpPr>
        <p:grpSpPr>
          <a:xfrm>
            <a:off x="9196203" y="3021036"/>
            <a:ext cx="4023360" cy="365760"/>
            <a:chOff x="5029200" y="2560320"/>
            <a:chExt cx="4023360" cy="365760"/>
          </a:xfrm>
        </p:grpSpPr>
        <p:pic>
          <p:nvPicPr>
            <p:cNvPr id="18" name="Image 7" descr="preencoded.png">
              <a:extLst>
                <a:ext uri="{FF2B5EF4-FFF2-40B4-BE49-F238E27FC236}">
                  <a16:creationId xmlns:a16="http://schemas.microsoft.com/office/drawing/2014/main" id="{C457C0E6-665E-4EB9-F276-D386F3945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29200" y="2606040"/>
              <a:ext cx="274320" cy="274320"/>
            </a:xfrm>
            <a:prstGeom prst="rect">
              <a:avLst/>
            </a:prstGeom>
          </p:spPr>
        </p:pic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EC5E0D89-7779-9C24-E22F-30E2CB4371DB}"/>
                </a:ext>
              </a:extLst>
            </p:cNvPr>
            <p:cNvSpPr/>
            <p:nvPr/>
          </p:nvSpPr>
          <p:spPr>
            <a:xfrm>
              <a:off x="539496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Intelligence &amp; Analytics Layer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06FEEC7-8E36-6D04-93DE-E569A887F18D}"/>
              </a:ext>
            </a:extLst>
          </p:cNvPr>
          <p:cNvGrpSpPr/>
          <p:nvPr/>
        </p:nvGrpSpPr>
        <p:grpSpPr>
          <a:xfrm>
            <a:off x="-3513891" y="2134772"/>
            <a:ext cx="4023360" cy="365760"/>
            <a:chOff x="731520" y="2134772"/>
            <a:chExt cx="4023360" cy="365760"/>
          </a:xfrm>
        </p:grpSpPr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3D24C9B9-B7B4-A2DA-A3D4-05480016E276}"/>
                </a:ext>
              </a:extLst>
            </p:cNvPr>
            <p:cNvSpPr/>
            <p:nvPr/>
          </p:nvSpPr>
          <p:spPr>
            <a:xfrm>
              <a:off x="1097280" y="213477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Platform Workflow</a:t>
              </a:r>
              <a:endParaRPr lang="en-US" sz="1400" dirty="0"/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0E9B255C-BA70-60E1-45B4-FD547805F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145322"/>
              <a:ext cx="274320" cy="27432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F36E65-5413-C21E-3E1D-8AF4FA308C7F}"/>
              </a:ext>
            </a:extLst>
          </p:cNvPr>
          <p:cNvGrpSpPr/>
          <p:nvPr/>
        </p:nvGrpSpPr>
        <p:grpSpPr>
          <a:xfrm>
            <a:off x="-3513891" y="3021036"/>
            <a:ext cx="4023360" cy="365760"/>
            <a:chOff x="5029200" y="2103120"/>
            <a:chExt cx="4023360" cy="365760"/>
          </a:xfrm>
        </p:grpSpPr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37E88206-35CB-96EA-E623-F08830FAE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404CD9F2-342F-B477-1FD3-C4221851F7FF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Infrastructure and Operational Cost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78699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ACEAA-1113-9D02-F86E-2943D1C68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5D9195-D9E5-742A-4EEC-01A6DE4EFFE0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511373-0ACA-2ECE-92D1-301DCE2CE1ED}"/>
              </a:ext>
            </a:extLst>
          </p:cNvPr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0C297DF-FF8A-1F58-B18C-2FDE845F6D78}"/>
              </a:ext>
            </a:extLst>
          </p:cNvPr>
          <p:cNvGrpSpPr/>
          <p:nvPr/>
        </p:nvGrpSpPr>
        <p:grpSpPr>
          <a:xfrm>
            <a:off x="476789" y="1188720"/>
            <a:ext cx="4023360" cy="365760"/>
            <a:chOff x="731520" y="1188720"/>
            <a:chExt cx="4023360" cy="365760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E7C4315E-71FF-60A3-F11B-D346DED15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34440"/>
              <a:ext cx="274320" cy="274320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55BC7E02-EA1D-3694-2B00-94B6883023BA}"/>
                </a:ext>
              </a:extLst>
            </p:cNvPr>
            <p:cNvSpPr/>
            <p:nvPr/>
          </p:nvSpPr>
          <p:spPr>
            <a:xfrm>
              <a:off x="109728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The Problem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7F86C8E-D38F-B3DA-A56E-03C491E2C7E6}"/>
              </a:ext>
            </a:extLst>
          </p:cNvPr>
          <p:cNvGrpSpPr/>
          <p:nvPr/>
        </p:nvGrpSpPr>
        <p:grpSpPr>
          <a:xfrm>
            <a:off x="5074913" y="1188720"/>
            <a:ext cx="4023360" cy="365760"/>
            <a:chOff x="5029200" y="1188720"/>
            <a:chExt cx="4023360" cy="365760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601F018E-B6A4-B98C-7DDD-F79B014CD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1234440"/>
              <a:ext cx="274320" cy="274320"/>
            </a:xfrm>
            <a:prstGeom prst="rect">
              <a:avLst/>
            </a:prstGeom>
          </p:spPr>
        </p:pic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C6903A1F-DC24-C07E-3E28-80C5F0AF79F5}"/>
                </a:ext>
              </a:extLst>
            </p:cNvPr>
            <p:cNvSpPr/>
            <p:nvPr/>
          </p:nvSpPr>
          <p:spPr>
            <a:xfrm>
              <a:off x="539496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Our solution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9144096-211A-4969-5E21-376274812AC6}"/>
              </a:ext>
            </a:extLst>
          </p:cNvPr>
          <p:cNvGrpSpPr/>
          <p:nvPr/>
        </p:nvGrpSpPr>
        <p:grpSpPr>
          <a:xfrm>
            <a:off x="5068382" y="1637128"/>
            <a:ext cx="4023360" cy="365760"/>
            <a:chOff x="731520" y="1645920"/>
            <a:chExt cx="4023360" cy="365760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6EA71375-8E43-B796-EC43-2ED207CE5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91640"/>
              <a:ext cx="274320" cy="274320"/>
            </a:xfrm>
            <a:prstGeom prst="rect">
              <a:avLst/>
            </a:prstGeom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A8BBFDF2-EC96-EA59-4AB9-3CBFA0A1F92C}"/>
                </a:ext>
              </a:extLst>
            </p:cNvPr>
            <p:cNvSpPr/>
            <p:nvPr/>
          </p:nvSpPr>
          <p:spPr>
            <a:xfrm>
              <a:off x="109728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Solution Architecture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555AE60-A976-0395-3DBC-80CDD73E1F69}"/>
              </a:ext>
            </a:extLst>
          </p:cNvPr>
          <p:cNvGrpSpPr/>
          <p:nvPr/>
        </p:nvGrpSpPr>
        <p:grpSpPr>
          <a:xfrm>
            <a:off x="9196227" y="2097844"/>
            <a:ext cx="4023360" cy="365760"/>
            <a:chOff x="5029200" y="1645920"/>
            <a:chExt cx="4023360" cy="365760"/>
          </a:xfrm>
        </p:grpSpPr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DBDA47EA-2735-5CFC-48EE-100A24FB3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1691640"/>
              <a:ext cx="274320" cy="274320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30B61238-EE8B-4AFF-8EC7-883265AD101C}"/>
                </a:ext>
              </a:extLst>
            </p:cNvPr>
            <p:cNvSpPr/>
            <p:nvPr/>
          </p:nvSpPr>
          <p:spPr>
            <a:xfrm>
              <a:off x="539496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Social Impact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E164A5-0949-F4F4-F8F8-D8F92AB4F9AA}"/>
              </a:ext>
            </a:extLst>
          </p:cNvPr>
          <p:cNvGrpSpPr/>
          <p:nvPr/>
        </p:nvGrpSpPr>
        <p:grpSpPr>
          <a:xfrm>
            <a:off x="496388" y="1645920"/>
            <a:ext cx="4023360" cy="365760"/>
            <a:chOff x="731520" y="2103120"/>
            <a:chExt cx="4023360" cy="365760"/>
          </a:xfrm>
        </p:grpSpPr>
        <p:pic>
          <p:nvPicPr>
            <p:cNvPr id="12" name="Image 4" descr="preencoded.png">
              <a:extLst>
                <a:ext uri="{FF2B5EF4-FFF2-40B4-BE49-F238E27FC236}">
                  <a16:creationId xmlns:a16="http://schemas.microsoft.com/office/drawing/2014/main" id="{1DA67D4B-DC42-9B63-7298-C6717F6FD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148840"/>
              <a:ext cx="274320" cy="274320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840FC12B-7703-A45D-0AE4-5ECE9B4E7C40}"/>
                </a:ext>
              </a:extLst>
            </p:cNvPr>
            <p:cNvSpPr/>
            <p:nvPr/>
          </p:nvSpPr>
          <p:spPr>
            <a:xfrm>
              <a:off x="109728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Traction and Validation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EE0D47-0530-46EE-F519-C21B736A65EC}"/>
              </a:ext>
            </a:extLst>
          </p:cNvPr>
          <p:cNvGrpSpPr/>
          <p:nvPr/>
        </p:nvGrpSpPr>
        <p:grpSpPr>
          <a:xfrm>
            <a:off x="-3527939" y="2570870"/>
            <a:ext cx="4023360" cy="365760"/>
            <a:chOff x="5029200" y="2103120"/>
            <a:chExt cx="4023360" cy="365760"/>
          </a:xfrm>
        </p:grpSpPr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3A940475-788F-8345-0DC3-418F2489C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29C100CD-FAF5-47CA-21BB-95D21F2F3742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Sustainable Business Model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9B2FC5A-1F38-1B43-F3F0-B69213C1D20A}"/>
              </a:ext>
            </a:extLst>
          </p:cNvPr>
          <p:cNvGrpSpPr/>
          <p:nvPr/>
        </p:nvGrpSpPr>
        <p:grpSpPr>
          <a:xfrm>
            <a:off x="9196203" y="2560320"/>
            <a:ext cx="4023360" cy="365760"/>
            <a:chOff x="731520" y="2560320"/>
            <a:chExt cx="4023360" cy="365760"/>
          </a:xfrm>
        </p:grpSpPr>
        <p:pic>
          <p:nvPicPr>
            <p:cNvPr id="16" name="Image 6" descr="preencoded.png">
              <a:extLst>
                <a:ext uri="{FF2B5EF4-FFF2-40B4-BE49-F238E27FC236}">
                  <a16:creationId xmlns:a16="http://schemas.microsoft.com/office/drawing/2014/main" id="{1F6D041C-00FF-B783-EAE3-0EED3440A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1520" y="2606040"/>
              <a:ext cx="274320" cy="274320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A08F8914-EBD4-8EC7-9330-3AB6C4BC601A}"/>
                </a:ext>
              </a:extLst>
            </p:cNvPr>
            <p:cNvSpPr/>
            <p:nvPr/>
          </p:nvSpPr>
          <p:spPr>
            <a:xfrm>
              <a:off x="109728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National Rollout Strategy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2CB687B-7B35-5ED9-B32C-B901E18AA046}"/>
              </a:ext>
            </a:extLst>
          </p:cNvPr>
          <p:cNvGrpSpPr/>
          <p:nvPr/>
        </p:nvGrpSpPr>
        <p:grpSpPr>
          <a:xfrm>
            <a:off x="9196203" y="3021036"/>
            <a:ext cx="4023360" cy="365760"/>
            <a:chOff x="5029200" y="2560320"/>
            <a:chExt cx="4023360" cy="365760"/>
          </a:xfrm>
        </p:grpSpPr>
        <p:pic>
          <p:nvPicPr>
            <p:cNvPr id="18" name="Image 7" descr="preencoded.png">
              <a:extLst>
                <a:ext uri="{FF2B5EF4-FFF2-40B4-BE49-F238E27FC236}">
                  <a16:creationId xmlns:a16="http://schemas.microsoft.com/office/drawing/2014/main" id="{7712219F-E27D-4A8B-40A4-874ABE1B2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29200" y="2606040"/>
              <a:ext cx="274320" cy="274320"/>
            </a:xfrm>
            <a:prstGeom prst="rect">
              <a:avLst/>
            </a:prstGeom>
          </p:spPr>
        </p:pic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B03FB038-8DDE-D658-444C-8C6281AE7409}"/>
                </a:ext>
              </a:extLst>
            </p:cNvPr>
            <p:cNvSpPr/>
            <p:nvPr/>
          </p:nvSpPr>
          <p:spPr>
            <a:xfrm>
              <a:off x="539496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Intelligence &amp; Analytics Layer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12CABA-AC10-6F3A-B0E8-FEE5DF76CD82}"/>
              </a:ext>
            </a:extLst>
          </p:cNvPr>
          <p:cNvGrpSpPr/>
          <p:nvPr/>
        </p:nvGrpSpPr>
        <p:grpSpPr>
          <a:xfrm>
            <a:off x="502915" y="2134772"/>
            <a:ext cx="4023360" cy="365760"/>
            <a:chOff x="731520" y="2134772"/>
            <a:chExt cx="4023360" cy="365760"/>
          </a:xfrm>
        </p:grpSpPr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A8E0AFC8-F286-68D4-105C-AA975794071F}"/>
                </a:ext>
              </a:extLst>
            </p:cNvPr>
            <p:cNvSpPr/>
            <p:nvPr/>
          </p:nvSpPr>
          <p:spPr>
            <a:xfrm>
              <a:off x="1097280" y="213477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Platform Workflow</a:t>
              </a:r>
              <a:endParaRPr lang="en-US" sz="1400" dirty="0"/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4D4FCC9C-83B8-3A32-F963-04F523CDF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145322"/>
              <a:ext cx="274320" cy="27432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B3559BB-79BB-0BC8-0A90-A8D9DFEECFBF}"/>
              </a:ext>
            </a:extLst>
          </p:cNvPr>
          <p:cNvGrpSpPr/>
          <p:nvPr/>
        </p:nvGrpSpPr>
        <p:grpSpPr>
          <a:xfrm>
            <a:off x="-3513891" y="3021036"/>
            <a:ext cx="4023360" cy="365760"/>
            <a:chOff x="5029200" y="2103120"/>
            <a:chExt cx="4023360" cy="365760"/>
          </a:xfrm>
        </p:grpSpPr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40929D27-BDDE-2471-C22C-C86844C80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EB6252B6-D2F0-7246-65C4-2899EC1B1578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Infrastructure and Operational Cost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797135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0CD571-85F1-2FCD-E9B5-1F873FF78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394D0D-9856-F35E-06BD-5E0FF5E0329B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B9598E6-9515-DEDD-A5DC-B7844D2F7BC7}"/>
              </a:ext>
            </a:extLst>
          </p:cNvPr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B746483-5293-F493-82DF-3EB2C6467CD7}"/>
              </a:ext>
            </a:extLst>
          </p:cNvPr>
          <p:cNvGrpSpPr/>
          <p:nvPr/>
        </p:nvGrpSpPr>
        <p:grpSpPr>
          <a:xfrm>
            <a:off x="476789" y="1188720"/>
            <a:ext cx="4023360" cy="365760"/>
            <a:chOff x="731520" y="1188720"/>
            <a:chExt cx="4023360" cy="365760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288C4C15-87AA-69B0-73B2-41DEB4B57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34440"/>
              <a:ext cx="274320" cy="274320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FBE69FD6-9F36-0783-6466-7950708097A0}"/>
                </a:ext>
              </a:extLst>
            </p:cNvPr>
            <p:cNvSpPr/>
            <p:nvPr/>
          </p:nvSpPr>
          <p:spPr>
            <a:xfrm>
              <a:off x="109728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The Problem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D16F59-E2B2-7710-658A-57FCDE673191}"/>
              </a:ext>
            </a:extLst>
          </p:cNvPr>
          <p:cNvGrpSpPr/>
          <p:nvPr/>
        </p:nvGrpSpPr>
        <p:grpSpPr>
          <a:xfrm>
            <a:off x="5074913" y="1188720"/>
            <a:ext cx="4023360" cy="365760"/>
            <a:chOff x="5029200" y="1188720"/>
            <a:chExt cx="4023360" cy="365760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1D9B3E8D-F479-1D7C-1846-44A7AD859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1234440"/>
              <a:ext cx="274320" cy="274320"/>
            </a:xfrm>
            <a:prstGeom prst="rect">
              <a:avLst/>
            </a:prstGeom>
          </p:spPr>
        </p:pic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A9228116-E546-88AC-05D9-98904A4604B1}"/>
                </a:ext>
              </a:extLst>
            </p:cNvPr>
            <p:cNvSpPr/>
            <p:nvPr/>
          </p:nvSpPr>
          <p:spPr>
            <a:xfrm>
              <a:off x="539496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Our solution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639FCA-5A57-ED46-B790-7457308A0D08}"/>
              </a:ext>
            </a:extLst>
          </p:cNvPr>
          <p:cNvGrpSpPr/>
          <p:nvPr/>
        </p:nvGrpSpPr>
        <p:grpSpPr>
          <a:xfrm>
            <a:off x="5068382" y="1637128"/>
            <a:ext cx="4023360" cy="365760"/>
            <a:chOff x="731520" y="1645920"/>
            <a:chExt cx="4023360" cy="365760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A89559E7-EEC3-4EC1-B7A3-4DE839836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91640"/>
              <a:ext cx="274320" cy="274320"/>
            </a:xfrm>
            <a:prstGeom prst="rect">
              <a:avLst/>
            </a:prstGeom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BB5592F1-6CD8-13A1-91ED-D92E757A9F46}"/>
                </a:ext>
              </a:extLst>
            </p:cNvPr>
            <p:cNvSpPr/>
            <p:nvPr/>
          </p:nvSpPr>
          <p:spPr>
            <a:xfrm>
              <a:off x="109728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Solution Architecture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23B87B-63ED-C15F-9380-3A02A95C45F6}"/>
              </a:ext>
            </a:extLst>
          </p:cNvPr>
          <p:cNvGrpSpPr/>
          <p:nvPr/>
        </p:nvGrpSpPr>
        <p:grpSpPr>
          <a:xfrm>
            <a:off x="5068372" y="2097844"/>
            <a:ext cx="4023360" cy="365760"/>
            <a:chOff x="5029200" y="1645920"/>
            <a:chExt cx="4023360" cy="365760"/>
          </a:xfrm>
        </p:grpSpPr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52FE020D-07E3-83CB-5696-4C626A728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1691640"/>
              <a:ext cx="274320" cy="274320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BE43CDBE-8504-F15C-D8A5-258A4C03D204}"/>
                </a:ext>
              </a:extLst>
            </p:cNvPr>
            <p:cNvSpPr/>
            <p:nvPr/>
          </p:nvSpPr>
          <p:spPr>
            <a:xfrm>
              <a:off x="539496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Social Impact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D923AA-A1B9-E869-4B45-C1853CB266E4}"/>
              </a:ext>
            </a:extLst>
          </p:cNvPr>
          <p:cNvGrpSpPr/>
          <p:nvPr/>
        </p:nvGrpSpPr>
        <p:grpSpPr>
          <a:xfrm>
            <a:off x="496388" y="1645920"/>
            <a:ext cx="4023360" cy="365760"/>
            <a:chOff x="731520" y="2103120"/>
            <a:chExt cx="4023360" cy="365760"/>
          </a:xfrm>
        </p:grpSpPr>
        <p:pic>
          <p:nvPicPr>
            <p:cNvPr id="12" name="Image 4" descr="preencoded.png">
              <a:extLst>
                <a:ext uri="{FF2B5EF4-FFF2-40B4-BE49-F238E27FC236}">
                  <a16:creationId xmlns:a16="http://schemas.microsoft.com/office/drawing/2014/main" id="{5463F1BF-3B94-DE5C-08A9-3A3CE43D5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148840"/>
              <a:ext cx="274320" cy="274320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91BD058B-7249-C2BC-B212-4637511BDE4A}"/>
                </a:ext>
              </a:extLst>
            </p:cNvPr>
            <p:cNvSpPr/>
            <p:nvPr/>
          </p:nvSpPr>
          <p:spPr>
            <a:xfrm>
              <a:off x="109728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Traction and Validation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8CDD477-40CD-7150-3FB9-31571E348B55}"/>
              </a:ext>
            </a:extLst>
          </p:cNvPr>
          <p:cNvGrpSpPr/>
          <p:nvPr/>
        </p:nvGrpSpPr>
        <p:grpSpPr>
          <a:xfrm>
            <a:off x="-3527939" y="2570870"/>
            <a:ext cx="4023360" cy="365760"/>
            <a:chOff x="5029200" y="2103120"/>
            <a:chExt cx="4023360" cy="365760"/>
          </a:xfrm>
        </p:grpSpPr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E21E7DF3-DFBC-318F-1909-6738C233C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84F32F9E-AA19-E4B2-2AE2-C859C2007A55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Sustainable Business Model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429B84-C93C-8305-68BE-81881129C3C0}"/>
              </a:ext>
            </a:extLst>
          </p:cNvPr>
          <p:cNvGrpSpPr/>
          <p:nvPr/>
        </p:nvGrpSpPr>
        <p:grpSpPr>
          <a:xfrm>
            <a:off x="9196203" y="2560320"/>
            <a:ext cx="4023360" cy="365760"/>
            <a:chOff x="731520" y="2560320"/>
            <a:chExt cx="4023360" cy="365760"/>
          </a:xfrm>
        </p:grpSpPr>
        <p:pic>
          <p:nvPicPr>
            <p:cNvPr id="16" name="Image 6" descr="preencoded.png">
              <a:extLst>
                <a:ext uri="{FF2B5EF4-FFF2-40B4-BE49-F238E27FC236}">
                  <a16:creationId xmlns:a16="http://schemas.microsoft.com/office/drawing/2014/main" id="{F1D86A8B-09FB-2E8F-26FC-25D2B533B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1520" y="2606040"/>
              <a:ext cx="274320" cy="274320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5CE90B4F-64C3-D121-E733-B5D15EB02763}"/>
                </a:ext>
              </a:extLst>
            </p:cNvPr>
            <p:cNvSpPr/>
            <p:nvPr/>
          </p:nvSpPr>
          <p:spPr>
            <a:xfrm>
              <a:off x="109728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National Rollout Strategy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D5EBA9-59EC-152E-DD07-3B158A804D9A}"/>
              </a:ext>
            </a:extLst>
          </p:cNvPr>
          <p:cNvGrpSpPr/>
          <p:nvPr/>
        </p:nvGrpSpPr>
        <p:grpSpPr>
          <a:xfrm>
            <a:off x="9196203" y="3021036"/>
            <a:ext cx="4023360" cy="365760"/>
            <a:chOff x="5029200" y="2560320"/>
            <a:chExt cx="4023360" cy="365760"/>
          </a:xfrm>
        </p:grpSpPr>
        <p:pic>
          <p:nvPicPr>
            <p:cNvPr id="18" name="Image 7" descr="preencoded.png">
              <a:extLst>
                <a:ext uri="{FF2B5EF4-FFF2-40B4-BE49-F238E27FC236}">
                  <a16:creationId xmlns:a16="http://schemas.microsoft.com/office/drawing/2014/main" id="{5C50AB3A-BEDE-98D4-ACCC-A444EA1EB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29200" y="2606040"/>
              <a:ext cx="274320" cy="274320"/>
            </a:xfrm>
            <a:prstGeom prst="rect">
              <a:avLst/>
            </a:prstGeom>
          </p:spPr>
        </p:pic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A6399E8F-B7CD-4A5D-300C-759E3CD81AF1}"/>
                </a:ext>
              </a:extLst>
            </p:cNvPr>
            <p:cNvSpPr/>
            <p:nvPr/>
          </p:nvSpPr>
          <p:spPr>
            <a:xfrm>
              <a:off x="539496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Intelligence &amp; Analytics Layer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DAED4F-7A95-DB4E-74F5-F912D7D9548A}"/>
              </a:ext>
            </a:extLst>
          </p:cNvPr>
          <p:cNvGrpSpPr/>
          <p:nvPr/>
        </p:nvGrpSpPr>
        <p:grpSpPr>
          <a:xfrm>
            <a:off x="502915" y="2134772"/>
            <a:ext cx="4023360" cy="365760"/>
            <a:chOff x="731520" y="2134772"/>
            <a:chExt cx="4023360" cy="365760"/>
          </a:xfrm>
        </p:grpSpPr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3F52F088-24CF-6175-8EAE-CC4C05685B02}"/>
                </a:ext>
              </a:extLst>
            </p:cNvPr>
            <p:cNvSpPr/>
            <p:nvPr/>
          </p:nvSpPr>
          <p:spPr>
            <a:xfrm>
              <a:off x="1097280" y="213477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Platform Workflow</a:t>
              </a:r>
              <a:endParaRPr lang="en-US" sz="1400" dirty="0"/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84FEA3F5-AD08-04F6-E1FA-2A783EACB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145322"/>
              <a:ext cx="274320" cy="27432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19901C-C9BB-884C-E445-24732EF1EF67}"/>
              </a:ext>
            </a:extLst>
          </p:cNvPr>
          <p:cNvGrpSpPr/>
          <p:nvPr/>
        </p:nvGrpSpPr>
        <p:grpSpPr>
          <a:xfrm>
            <a:off x="-3513891" y="3021036"/>
            <a:ext cx="4023360" cy="365760"/>
            <a:chOff x="5029200" y="2103120"/>
            <a:chExt cx="4023360" cy="365760"/>
          </a:xfrm>
        </p:grpSpPr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59858DA9-B3C7-256F-0789-D9094A776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BFF51219-FB91-9169-832F-5762120F790A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Infrastructure and Operational Cost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800420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76CBB-CE88-984D-5610-E75344E0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33BB6B-E2C7-B5DB-A3EA-DE35E5A595EF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C98DAF-5C4D-D4C6-F1B4-1F0E94732AEB}"/>
              </a:ext>
            </a:extLst>
          </p:cNvPr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A3933A2-981F-A916-2F8D-1F0A9D15F8EF}"/>
              </a:ext>
            </a:extLst>
          </p:cNvPr>
          <p:cNvGrpSpPr/>
          <p:nvPr/>
        </p:nvGrpSpPr>
        <p:grpSpPr>
          <a:xfrm>
            <a:off x="476789" y="1188720"/>
            <a:ext cx="4023360" cy="365760"/>
            <a:chOff x="731520" y="1188720"/>
            <a:chExt cx="4023360" cy="365760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EE1E55DA-0779-EB44-267F-05BA4D8D9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34440"/>
              <a:ext cx="274320" cy="274320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21A310CB-6D19-508B-A86F-5AF5BE2EE647}"/>
                </a:ext>
              </a:extLst>
            </p:cNvPr>
            <p:cNvSpPr/>
            <p:nvPr/>
          </p:nvSpPr>
          <p:spPr>
            <a:xfrm>
              <a:off x="109728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The Problem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B9F2CD2-FB3B-BF33-5249-6AF9A7B82207}"/>
              </a:ext>
            </a:extLst>
          </p:cNvPr>
          <p:cNvGrpSpPr/>
          <p:nvPr/>
        </p:nvGrpSpPr>
        <p:grpSpPr>
          <a:xfrm>
            <a:off x="5074913" y="1188720"/>
            <a:ext cx="4023360" cy="365760"/>
            <a:chOff x="5029200" y="1188720"/>
            <a:chExt cx="4023360" cy="365760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7921EE6B-D0F2-47D1-8B6D-65499ABBA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1234440"/>
              <a:ext cx="274320" cy="274320"/>
            </a:xfrm>
            <a:prstGeom prst="rect">
              <a:avLst/>
            </a:prstGeom>
          </p:spPr>
        </p:pic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6D2B49A5-7C38-5274-3142-3D21805E094C}"/>
                </a:ext>
              </a:extLst>
            </p:cNvPr>
            <p:cNvSpPr/>
            <p:nvPr/>
          </p:nvSpPr>
          <p:spPr>
            <a:xfrm>
              <a:off x="539496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Our solution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D801327-D117-AF83-DC6E-633AC3FBCB70}"/>
              </a:ext>
            </a:extLst>
          </p:cNvPr>
          <p:cNvGrpSpPr/>
          <p:nvPr/>
        </p:nvGrpSpPr>
        <p:grpSpPr>
          <a:xfrm>
            <a:off x="5068382" y="1637128"/>
            <a:ext cx="4023360" cy="365760"/>
            <a:chOff x="731520" y="1645920"/>
            <a:chExt cx="4023360" cy="365760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3040D083-EDDB-B266-48E4-E598C6241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91640"/>
              <a:ext cx="274320" cy="274320"/>
            </a:xfrm>
            <a:prstGeom prst="rect">
              <a:avLst/>
            </a:prstGeom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049FAA67-ABF9-E09E-F3F7-91019BA4BD92}"/>
                </a:ext>
              </a:extLst>
            </p:cNvPr>
            <p:cNvSpPr/>
            <p:nvPr/>
          </p:nvSpPr>
          <p:spPr>
            <a:xfrm>
              <a:off x="109728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Solution Architecture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C7AC7C-52A5-C4CC-AAE7-CDED837D57F9}"/>
              </a:ext>
            </a:extLst>
          </p:cNvPr>
          <p:cNvGrpSpPr/>
          <p:nvPr/>
        </p:nvGrpSpPr>
        <p:grpSpPr>
          <a:xfrm>
            <a:off x="5068372" y="2097844"/>
            <a:ext cx="4023360" cy="365760"/>
            <a:chOff x="5029200" y="1645920"/>
            <a:chExt cx="4023360" cy="365760"/>
          </a:xfrm>
        </p:grpSpPr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62A4F7C9-4B6C-AE3C-B8D1-D31ABF034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1691640"/>
              <a:ext cx="274320" cy="274320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42B6EA37-0D8B-5B9F-9D19-645678B17900}"/>
                </a:ext>
              </a:extLst>
            </p:cNvPr>
            <p:cNvSpPr/>
            <p:nvPr/>
          </p:nvSpPr>
          <p:spPr>
            <a:xfrm>
              <a:off x="539496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Social Impact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8CB3B1-F11D-DD8C-8E9D-4DE0D593D64A}"/>
              </a:ext>
            </a:extLst>
          </p:cNvPr>
          <p:cNvGrpSpPr/>
          <p:nvPr/>
        </p:nvGrpSpPr>
        <p:grpSpPr>
          <a:xfrm>
            <a:off x="496388" y="1645920"/>
            <a:ext cx="4023360" cy="365760"/>
            <a:chOff x="731520" y="2103120"/>
            <a:chExt cx="4023360" cy="365760"/>
          </a:xfrm>
        </p:grpSpPr>
        <p:pic>
          <p:nvPicPr>
            <p:cNvPr id="12" name="Image 4" descr="preencoded.png">
              <a:extLst>
                <a:ext uri="{FF2B5EF4-FFF2-40B4-BE49-F238E27FC236}">
                  <a16:creationId xmlns:a16="http://schemas.microsoft.com/office/drawing/2014/main" id="{58A2929C-5156-3F0B-2505-F194DC504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148840"/>
              <a:ext cx="274320" cy="274320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F9C63E52-22A4-EA39-7394-272B1D998FF2}"/>
                </a:ext>
              </a:extLst>
            </p:cNvPr>
            <p:cNvSpPr/>
            <p:nvPr/>
          </p:nvSpPr>
          <p:spPr>
            <a:xfrm>
              <a:off x="109728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Traction and Validation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7FA91F5-E70B-3843-63D8-3AA29222DDB1}"/>
              </a:ext>
            </a:extLst>
          </p:cNvPr>
          <p:cNvGrpSpPr/>
          <p:nvPr/>
        </p:nvGrpSpPr>
        <p:grpSpPr>
          <a:xfrm>
            <a:off x="508463" y="2570870"/>
            <a:ext cx="4023360" cy="365760"/>
            <a:chOff x="5029200" y="2103120"/>
            <a:chExt cx="4023360" cy="365760"/>
          </a:xfrm>
        </p:grpSpPr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16165194-966D-F616-EC03-95193F4E9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6470B6E4-B2E1-41A4-EDC4-314D46B09800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Sustainable Business Model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437830-87C3-47A7-3D4D-C50AE8693CFE}"/>
              </a:ext>
            </a:extLst>
          </p:cNvPr>
          <p:cNvGrpSpPr/>
          <p:nvPr/>
        </p:nvGrpSpPr>
        <p:grpSpPr>
          <a:xfrm>
            <a:off x="9196203" y="2560320"/>
            <a:ext cx="4023360" cy="365760"/>
            <a:chOff x="731520" y="2560320"/>
            <a:chExt cx="4023360" cy="365760"/>
          </a:xfrm>
        </p:grpSpPr>
        <p:pic>
          <p:nvPicPr>
            <p:cNvPr id="16" name="Image 6" descr="preencoded.png">
              <a:extLst>
                <a:ext uri="{FF2B5EF4-FFF2-40B4-BE49-F238E27FC236}">
                  <a16:creationId xmlns:a16="http://schemas.microsoft.com/office/drawing/2014/main" id="{4E9E321C-5ECB-B151-9DF7-3046D3338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1520" y="2606040"/>
              <a:ext cx="274320" cy="274320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E936966D-5DD5-C0D3-CD69-1075309E4340}"/>
                </a:ext>
              </a:extLst>
            </p:cNvPr>
            <p:cNvSpPr/>
            <p:nvPr/>
          </p:nvSpPr>
          <p:spPr>
            <a:xfrm>
              <a:off x="109728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National Rollout Strategy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CB02283-117E-B24B-494B-336291D222AC}"/>
              </a:ext>
            </a:extLst>
          </p:cNvPr>
          <p:cNvGrpSpPr/>
          <p:nvPr/>
        </p:nvGrpSpPr>
        <p:grpSpPr>
          <a:xfrm>
            <a:off x="9196203" y="3021036"/>
            <a:ext cx="4023360" cy="365760"/>
            <a:chOff x="5029200" y="2560320"/>
            <a:chExt cx="4023360" cy="365760"/>
          </a:xfrm>
        </p:grpSpPr>
        <p:pic>
          <p:nvPicPr>
            <p:cNvPr id="18" name="Image 7" descr="preencoded.png">
              <a:extLst>
                <a:ext uri="{FF2B5EF4-FFF2-40B4-BE49-F238E27FC236}">
                  <a16:creationId xmlns:a16="http://schemas.microsoft.com/office/drawing/2014/main" id="{43F4D4D2-8754-1A9A-C0EB-2B3EA2D75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29200" y="2606040"/>
              <a:ext cx="274320" cy="274320"/>
            </a:xfrm>
            <a:prstGeom prst="rect">
              <a:avLst/>
            </a:prstGeom>
          </p:spPr>
        </p:pic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67355271-6C74-A3EC-048B-DAA7E7C3C467}"/>
                </a:ext>
              </a:extLst>
            </p:cNvPr>
            <p:cNvSpPr/>
            <p:nvPr/>
          </p:nvSpPr>
          <p:spPr>
            <a:xfrm>
              <a:off x="539496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Intelligence &amp; Analytics Layer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3DAB28-737B-B19E-8512-448B614F905C}"/>
              </a:ext>
            </a:extLst>
          </p:cNvPr>
          <p:cNvGrpSpPr/>
          <p:nvPr/>
        </p:nvGrpSpPr>
        <p:grpSpPr>
          <a:xfrm>
            <a:off x="502915" y="2134772"/>
            <a:ext cx="4023360" cy="365760"/>
            <a:chOff x="731520" y="2134772"/>
            <a:chExt cx="4023360" cy="365760"/>
          </a:xfrm>
        </p:grpSpPr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D3075D36-D946-438A-EA0A-DB600D28082B}"/>
                </a:ext>
              </a:extLst>
            </p:cNvPr>
            <p:cNvSpPr/>
            <p:nvPr/>
          </p:nvSpPr>
          <p:spPr>
            <a:xfrm>
              <a:off x="1097280" y="213477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Platform Workflow</a:t>
              </a:r>
              <a:endParaRPr lang="en-US" sz="1400" dirty="0"/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DE352C98-5317-D773-50F3-9C59F8DC7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145322"/>
              <a:ext cx="274320" cy="27432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44A89EB-C3C4-0D0F-6624-A30E64D22E29}"/>
              </a:ext>
            </a:extLst>
          </p:cNvPr>
          <p:cNvGrpSpPr/>
          <p:nvPr/>
        </p:nvGrpSpPr>
        <p:grpSpPr>
          <a:xfrm>
            <a:off x="-3513891" y="3021036"/>
            <a:ext cx="4023360" cy="365760"/>
            <a:chOff x="5029200" y="2103120"/>
            <a:chExt cx="4023360" cy="365760"/>
          </a:xfrm>
        </p:grpSpPr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24FDD6D3-B340-60A5-A064-4DE03C9C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30807A6B-FA71-F458-F0EB-D4DFB2C3FE87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Infrastructure and Operational Cost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770268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C1803-C5AD-91A6-EE2C-99584BFD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AD6CE0-712F-58BE-BA66-194D00F3A5CE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C3E43D-2CF8-65AB-8792-B91F5F8479BF}"/>
              </a:ext>
            </a:extLst>
          </p:cNvPr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0B3712-3A0A-4163-F4FA-149CCF281EEE}"/>
              </a:ext>
            </a:extLst>
          </p:cNvPr>
          <p:cNvGrpSpPr/>
          <p:nvPr/>
        </p:nvGrpSpPr>
        <p:grpSpPr>
          <a:xfrm>
            <a:off x="476789" y="1188720"/>
            <a:ext cx="4023360" cy="365760"/>
            <a:chOff x="731520" y="1188720"/>
            <a:chExt cx="4023360" cy="365760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7DF2D802-0A6E-CA95-033B-D7D66C8E7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34440"/>
              <a:ext cx="274320" cy="274320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A97EFEF5-FBB8-AEFD-45D9-95F7977E4CEA}"/>
                </a:ext>
              </a:extLst>
            </p:cNvPr>
            <p:cNvSpPr/>
            <p:nvPr/>
          </p:nvSpPr>
          <p:spPr>
            <a:xfrm>
              <a:off x="109728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The Problem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DCCCB5E-03A8-43AB-9EAD-29D13F1D4674}"/>
              </a:ext>
            </a:extLst>
          </p:cNvPr>
          <p:cNvGrpSpPr/>
          <p:nvPr/>
        </p:nvGrpSpPr>
        <p:grpSpPr>
          <a:xfrm>
            <a:off x="5074913" y="1188720"/>
            <a:ext cx="4023360" cy="365760"/>
            <a:chOff x="5029200" y="1188720"/>
            <a:chExt cx="4023360" cy="365760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79C56C61-A226-0205-B1B7-5823ABBA9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1234440"/>
              <a:ext cx="274320" cy="274320"/>
            </a:xfrm>
            <a:prstGeom prst="rect">
              <a:avLst/>
            </a:prstGeom>
          </p:spPr>
        </p:pic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BEF0BDE0-33D4-EDFA-A517-213868751ABE}"/>
                </a:ext>
              </a:extLst>
            </p:cNvPr>
            <p:cNvSpPr/>
            <p:nvPr/>
          </p:nvSpPr>
          <p:spPr>
            <a:xfrm>
              <a:off x="539496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Our solution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7AACC9-8F2D-5961-25F0-26BC21D7E05D}"/>
              </a:ext>
            </a:extLst>
          </p:cNvPr>
          <p:cNvGrpSpPr/>
          <p:nvPr/>
        </p:nvGrpSpPr>
        <p:grpSpPr>
          <a:xfrm>
            <a:off x="5068382" y="1637128"/>
            <a:ext cx="4023360" cy="365760"/>
            <a:chOff x="731520" y="1645920"/>
            <a:chExt cx="4023360" cy="365760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EF07577D-2E2E-EE31-D686-8B8922A49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91640"/>
              <a:ext cx="274320" cy="274320"/>
            </a:xfrm>
            <a:prstGeom prst="rect">
              <a:avLst/>
            </a:prstGeom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5C0362C8-1742-357A-A1DE-6A252E3BD9B0}"/>
                </a:ext>
              </a:extLst>
            </p:cNvPr>
            <p:cNvSpPr/>
            <p:nvPr/>
          </p:nvSpPr>
          <p:spPr>
            <a:xfrm>
              <a:off x="109728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Solution Architecture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8736E5A-5546-BAEB-5444-8BDFD3403C76}"/>
              </a:ext>
            </a:extLst>
          </p:cNvPr>
          <p:cNvGrpSpPr/>
          <p:nvPr/>
        </p:nvGrpSpPr>
        <p:grpSpPr>
          <a:xfrm>
            <a:off x="5068372" y="2097844"/>
            <a:ext cx="4023360" cy="365760"/>
            <a:chOff x="5029200" y="1645920"/>
            <a:chExt cx="4023360" cy="365760"/>
          </a:xfrm>
        </p:grpSpPr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5B6B3F44-7609-263D-385E-BE3BAA718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1691640"/>
              <a:ext cx="274320" cy="274320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B835CBA4-E851-76CE-9126-264C7536BBD2}"/>
                </a:ext>
              </a:extLst>
            </p:cNvPr>
            <p:cNvSpPr/>
            <p:nvPr/>
          </p:nvSpPr>
          <p:spPr>
            <a:xfrm>
              <a:off x="539496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Social Impact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019232-1D6D-0536-DD91-B58B623CE68D}"/>
              </a:ext>
            </a:extLst>
          </p:cNvPr>
          <p:cNvGrpSpPr/>
          <p:nvPr/>
        </p:nvGrpSpPr>
        <p:grpSpPr>
          <a:xfrm>
            <a:off x="496388" y="1645920"/>
            <a:ext cx="4023360" cy="365760"/>
            <a:chOff x="731520" y="2103120"/>
            <a:chExt cx="4023360" cy="365760"/>
          </a:xfrm>
        </p:grpSpPr>
        <p:pic>
          <p:nvPicPr>
            <p:cNvPr id="12" name="Image 4" descr="preencoded.png">
              <a:extLst>
                <a:ext uri="{FF2B5EF4-FFF2-40B4-BE49-F238E27FC236}">
                  <a16:creationId xmlns:a16="http://schemas.microsoft.com/office/drawing/2014/main" id="{AD0C8C0A-C58F-2824-1A39-DE4A73C67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148840"/>
              <a:ext cx="274320" cy="274320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2D89E49B-3402-FB28-284F-EC8E2038555E}"/>
                </a:ext>
              </a:extLst>
            </p:cNvPr>
            <p:cNvSpPr/>
            <p:nvPr/>
          </p:nvSpPr>
          <p:spPr>
            <a:xfrm>
              <a:off x="109728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Traction and Validation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D59DCE0-6C86-3093-62C3-DB72FB5757C7}"/>
              </a:ext>
            </a:extLst>
          </p:cNvPr>
          <p:cNvGrpSpPr/>
          <p:nvPr/>
        </p:nvGrpSpPr>
        <p:grpSpPr>
          <a:xfrm>
            <a:off x="508463" y="2570870"/>
            <a:ext cx="4023360" cy="365760"/>
            <a:chOff x="5029200" y="2103120"/>
            <a:chExt cx="4023360" cy="365760"/>
          </a:xfrm>
        </p:grpSpPr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17357CD0-8FE1-8F10-4945-1368F6D18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3AC7258D-E42B-7E58-2A0A-F87BD9D4BA5A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Sustainable Business Model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E3BC1D-E0D9-1FCA-030E-3C63910275B7}"/>
              </a:ext>
            </a:extLst>
          </p:cNvPr>
          <p:cNvGrpSpPr/>
          <p:nvPr/>
        </p:nvGrpSpPr>
        <p:grpSpPr>
          <a:xfrm>
            <a:off x="5061826" y="2560320"/>
            <a:ext cx="4023360" cy="365760"/>
            <a:chOff x="731520" y="2560320"/>
            <a:chExt cx="4023360" cy="365760"/>
          </a:xfrm>
        </p:grpSpPr>
        <p:pic>
          <p:nvPicPr>
            <p:cNvPr id="16" name="Image 6" descr="preencoded.png">
              <a:extLst>
                <a:ext uri="{FF2B5EF4-FFF2-40B4-BE49-F238E27FC236}">
                  <a16:creationId xmlns:a16="http://schemas.microsoft.com/office/drawing/2014/main" id="{CF5EADD9-B69E-D51B-059A-063320413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1520" y="2606040"/>
              <a:ext cx="274320" cy="274320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981B1457-5BD9-D62A-1503-464F37C6F905}"/>
                </a:ext>
              </a:extLst>
            </p:cNvPr>
            <p:cNvSpPr/>
            <p:nvPr/>
          </p:nvSpPr>
          <p:spPr>
            <a:xfrm>
              <a:off x="109728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National Rollout Strategy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130DA7-EE8E-E6DB-1028-C2C2D37B4802}"/>
              </a:ext>
            </a:extLst>
          </p:cNvPr>
          <p:cNvGrpSpPr/>
          <p:nvPr/>
        </p:nvGrpSpPr>
        <p:grpSpPr>
          <a:xfrm>
            <a:off x="9196203" y="3021036"/>
            <a:ext cx="4023360" cy="365760"/>
            <a:chOff x="5029200" y="2560320"/>
            <a:chExt cx="4023360" cy="365760"/>
          </a:xfrm>
        </p:grpSpPr>
        <p:pic>
          <p:nvPicPr>
            <p:cNvPr id="18" name="Image 7" descr="preencoded.png">
              <a:extLst>
                <a:ext uri="{FF2B5EF4-FFF2-40B4-BE49-F238E27FC236}">
                  <a16:creationId xmlns:a16="http://schemas.microsoft.com/office/drawing/2014/main" id="{FF00D129-C4F4-EAC8-43B3-19FB68F45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29200" y="2606040"/>
              <a:ext cx="274320" cy="274320"/>
            </a:xfrm>
            <a:prstGeom prst="rect">
              <a:avLst/>
            </a:prstGeom>
          </p:spPr>
        </p:pic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C7AFB169-9FDD-D424-6FC9-1213AA68FC7E}"/>
                </a:ext>
              </a:extLst>
            </p:cNvPr>
            <p:cNvSpPr/>
            <p:nvPr/>
          </p:nvSpPr>
          <p:spPr>
            <a:xfrm>
              <a:off x="539496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Intelligence &amp; Analytics Layer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6492A85-BE5A-7ED3-1212-32614B9F1714}"/>
              </a:ext>
            </a:extLst>
          </p:cNvPr>
          <p:cNvGrpSpPr/>
          <p:nvPr/>
        </p:nvGrpSpPr>
        <p:grpSpPr>
          <a:xfrm>
            <a:off x="502915" y="2134772"/>
            <a:ext cx="4023360" cy="365760"/>
            <a:chOff x="731520" y="2134772"/>
            <a:chExt cx="4023360" cy="365760"/>
          </a:xfrm>
        </p:grpSpPr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9B25413A-2546-9646-3AA5-A916CF5F835A}"/>
                </a:ext>
              </a:extLst>
            </p:cNvPr>
            <p:cNvSpPr/>
            <p:nvPr/>
          </p:nvSpPr>
          <p:spPr>
            <a:xfrm>
              <a:off x="1097280" y="213477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Platform Workflow</a:t>
              </a:r>
              <a:endParaRPr lang="en-US" sz="1400" dirty="0"/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1335F2DF-C6D0-4F76-531F-248D1483D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145322"/>
              <a:ext cx="274320" cy="27432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C3A75EC-A436-0272-8265-0C9700A4C941}"/>
              </a:ext>
            </a:extLst>
          </p:cNvPr>
          <p:cNvGrpSpPr/>
          <p:nvPr/>
        </p:nvGrpSpPr>
        <p:grpSpPr>
          <a:xfrm>
            <a:off x="-3513891" y="3021036"/>
            <a:ext cx="4023360" cy="365760"/>
            <a:chOff x="5029200" y="2103120"/>
            <a:chExt cx="4023360" cy="365760"/>
          </a:xfrm>
        </p:grpSpPr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06851531-7E98-0B09-AE7A-3637D819F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52B2EBB5-7DEE-9665-9A23-3EA01FE3E45B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Infrastructure and Operational Cost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1923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7B1B9-83CE-EBAD-79AD-8647D28D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7B06D7-567A-763D-0E7E-0E901D339B05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9E746E-3E01-B8C9-887C-62027FA49FD0}"/>
              </a:ext>
            </a:extLst>
          </p:cNvPr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265E7C7-9182-A3F4-48E8-1951A84B821A}"/>
              </a:ext>
            </a:extLst>
          </p:cNvPr>
          <p:cNvGrpSpPr/>
          <p:nvPr/>
        </p:nvGrpSpPr>
        <p:grpSpPr>
          <a:xfrm>
            <a:off x="476789" y="1188720"/>
            <a:ext cx="4023360" cy="365760"/>
            <a:chOff x="731520" y="1188720"/>
            <a:chExt cx="4023360" cy="365760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9BF565D6-470A-89BC-9FDC-F8A9406D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34440"/>
              <a:ext cx="274320" cy="274320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15C1CFD7-0960-7C4F-0153-D8F39CBECEBA}"/>
                </a:ext>
              </a:extLst>
            </p:cNvPr>
            <p:cNvSpPr/>
            <p:nvPr/>
          </p:nvSpPr>
          <p:spPr>
            <a:xfrm>
              <a:off x="109728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The Problem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925BC2-FE7F-4EF6-5857-667A687C39FD}"/>
              </a:ext>
            </a:extLst>
          </p:cNvPr>
          <p:cNvGrpSpPr/>
          <p:nvPr/>
        </p:nvGrpSpPr>
        <p:grpSpPr>
          <a:xfrm>
            <a:off x="5074913" y="1188720"/>
            <a:ext cx="4023360" cy="365760"/>
            <a:chOff x="5029200" y="1188720"/>
            <a:chExt cx="4023360" cy="365760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C7F58CC1-0ED8-70D6-F0BA-C07333B70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1234440"/>
              <a:ext cx="274320" cy="274320"/>
            </a:xfrm>
            <a:prstGeom prst="rect">
              <a:avLst/>
            </a:prstGeom>
          </p:spPr>
        </p:pic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EE3BAC05-4227-D9E8-5C67-FB8966EFC9CB}"/>
                </a:ext>
              </a:extLst>
            </p:cNvPr>
            <p:cNvSpPr/>
            <p:nvPr/>
          </p:nvSpPr>
          <p:spPr>
            <a:xfrm>
              <a:off x="539496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Our solution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031CEC4-9534-6533-585C-B416CB0A3A7A}"/>
              </a:ext>
            </a:extLst>
          </p:cNvPr>
          <p:cNvGrpSpPr/>
          <p:nvPr/>
        </p:nvGrpSpPr>
        <p:grpSpPr>
          <a:xfrm>
            <a:off x="5068382" y="1637128"/>
            <a:ext cx="4023360" cy="365760"/>
            <a:chOff x="731520" y="1645920"/>
            <a:chExt cx="4023360" cy="365760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4D8FFC8E-3DB5-9FFE-3897-97EB13C21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91640"/>
              <a:ext cx="274320" cy="274320"/>
            </a:xfrm>
            <a:prstGeom prst="rect">
              <a:avLst/>
            </a:prstGeom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2191EE99-2412-32E4-B8DE-181AD86A28E9}"/>
                </a:ext>
              </a:extLst>
            </p:cNvPr>
            <p:cNvSpPr/>
            <p:nvPr/>
          </p:nvSpPr>
          <p:spPr>
            <a:xfrm>
              <a:off x="109728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Solution Architecture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BF78D3-CB04-7ECB-029A-CEA53DBE6DF1}"/>
              </a:ext>
            </a:extLst>
          </p:cNvPr>
          <p:cNvGrpSpPr/>
          <p:nvPr/>
        </p:nvGrpSpPr>
        <p:grpSpPr>
          <a:xfrm>
            <a:off x="5068372" y="2097844"/>
            <a:ext cx="4023360" cy="365760"/>
            <a:chOff x="5029200" y="1645920"/>
            <a:chExt cx="4023360" cy="365760"/>
          </a:xfrm>
        </p:grpSpPr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75CBF1C2-5F49-BA82-0CD5-18E5410BE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1691640"/>
              <a:ext cx="274320" cy="274320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13D7DC67-C99A-EF3E-9824-2F3B6D6918CB}"/>
                </a:ext>
              </a:extLst>
            </p:cNvPr>
            <p:cNvSpPr/>
            <p:nvPr/>
          </p:nvSpPr>
          <p:spPr>
            <a:xfrm>
              <a:off x="539496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Social Impact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9EF720E-DEE4-29B9-5B7B-30F48DC0B010}"/>
              </a:ext>
            </a:extLst>
          </p:cNvPr>
          <p:cNvGrpSpPr/>
          <p:nvPr/>
        </p:nvGrpSpPr>
        <p:grpSpPr>
          <a:xfrm>
            <a:off x="496388" y="1645920"/>
            <a:ext cx="4023360" cy="365760"/>
            <a:chOff x="731520" y="2103120"/>
            <a:chExt cx="4023360" cy="365760"/>
          </a:xfrm>
        </p:grpSpPr>
        <p:pic>
          <p:nvPicPr>
            <p:cNvPr id="12" name="Image 4" descr="preencoded.png">
              <a:extLst>
                <a:ext uri="{FF2B5EF4-FFF2-40B4-BE49-F238E27FC236}">
                  <a16:creationId xmlns:a16="http://schemas.microsoft.com/office/drawing/2014/main" id="{E15009C4-052A-5CC8-6E19-9A1F0296A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148840"/>
              <a:ext cx="274320" cy="274320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9B9B1146-0A70-B7F7-343F-BB484DE5D1DB}"/>
                </a:ext>
              </a:extLst>
            </p:cNvPr>
            <p:cNvSpPr/>
            <p:nvPr/>
          </p:nvSpPr>
          <p:spPr>
            <a:xfrm>
              <a:off x="109728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Traction and Validation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DAA1AB3-5753-E5FB-9B64-2D8E1C9AB87C}"/>
              </a:ext>
            </a:extLst>
          </p:cNvPr>
          <p:cNvGrpSpPr/>
          <p:nvPr/>
        </p:nvGrpSpPr>
        <p:grpSpPr>
          <a:xfrm>
            <a:off x="508463" y="2570870"/>
            <a:ext cx="4023360" cy="365760"/>
            <a:chOff x="5029200" y="2103120"/>
            <a:chExt cx="4023360" cy="365760"/>
          </a:xfrm>
        </p:grpSpPr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895E7F69-ED4C-36D0-7AB6-625B71AAE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6C866AD6-14F1-F229-4B88-BECC8050F1F0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Sustainable Business Model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49CEE92-2E58-338B-CA75-6DE3F847DC40}"/>
              </a:ext>
            </a:extLst>
          </p:cNvPr>
          <p:cNvGrpSpPr/>
          <p:nvPr/>
        </p:nvGrpSpPr>
        <p:grpSpPr>
          <a:xfrm>
            <a:off x="5061826" y="2560320"/>
            <a:ext cx="4023360" cy="365760"/>
            <a:chOff x="731520" y="2560320"/>
            <a:chExt cx="4023360" cy="365760"/>
          </a:xfrm>
        </p:grpSpPr>
        <p:pic>
          <p:nvPicPr>
            <p:cNvPr id="16" name="Image 6" descr="preencoded.png">
              <a:extLst>
                <a:ext uri="{FF2B5EF4-FFF2-40B4-BE49-F238E27FC236}">
                  <a16:creationId xmlns:a16="http://schemas.microsoft.com/office/drawing/2014/main" id="{7F2CA3BD-8D0C-3005-14F8-8097B262A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1520" y="2606040"/>
              <a:ext cx="274320" cy="274320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7620B8A2-C955-2EE9-A3B6-8ACB85551F9E}"/>
                </a:ext>
              </a:extLst>
            </p:cNvPr>
            <p:cNvSpPr/>
            <p:nvPr/>
          </p:nvSpPr>
          <p:spPr>
            <a:xfrm>
              <a:off x="109728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National Rollout Strategy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EC65289-1FFB-53B2-3168-BF4D710E1121}"/>
              </a:ext>
            </a:extLst>
          </p:cNvPr>
          <p:cNvGrpSpPr/>
          <p:nvPr/>
        </p:nvGrpSpPr>
        <p:grpSpPr>
          <a:xfrm>
            <a:off x="9196203" y="3021036"/>
            <a:ext cx="4023360" cy="365760"/>
            <a:chOff x="5029200" y="2560320"/>
            <a:chExt cx="4023360" cy="365760"/>
          </a:xfrm>
        </p:grpSpPr>
        <p:pic>
          <p:nvPicPr>
            <p:cNvPr id="18" name="Image 7" descr="preencoded.png">
              <a:extLst>
                <a:ext uri="{FF2B5EF4-FFF2-40B4-BE49-F238E27FC236}">
                  <a16:creationId xmlns:a16="http://schemas.microsoft.com/office/drawing/2014/main" id="{3B2B5B35-4DE0-2141-315D-725CF05A3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29200" y="2606040"/>
              <a:ext cx="274320" cy="274320"/>
            </a:xfrm>
            <a:prstGeom prst="rect">
              <a:avLst/>
            </a:prstGeom>
          </p:spPr>
        </p:pic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868E4C61-BBE1-1D1D-E25E-57F1C2DFAF5A}"/>
                </a:ext>
              </a:extLst>
            </p:cNvPr>
            <p:cNvSpPr/>
            <p:nvPr/>
          </p:nvSpPr>
          <p:spPr>
            <a:xfrm>
              <a:off x="539496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Intelligence &amp; Analytics Layer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3FA0C5B-3B76-B562-1639-0A92A8CD6207}"/>
              </a:ext>
            </a:extLst>
          </p:cNvPr>
          <p:cNvGrpSpPr/>
          <p:nvPr/>
        </p:nvGrpSpPr>
        <p:grpSpPr>
          <a:xfrm>
            <a:off x="502915" y="2134772"/>
            <a:ext cx="4023360" cy="365760"/>
            <a:chOff x="731520" y="2134772"/>
            <a:chExt cx="4023360" cy="365760"/>
          </a:xfrm>
        </p:grpSpPr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02E21245-C88D-128E-3E0D-0139ED7834A2}"/>
                </a:ext>
              </a:extLst>
            </p:cNvPr>
            <p:cNvSpPr/>
            <p:nvPr/>
          </p:nvSpPr>
          <p:spPr>
            <a:xfrm>
              <a:off x="1097280" y="213477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Platform Workflow</a:t>
              </a:r>
              <a:endParaRPr lang="en-US" sz="1400" dirty="0"/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C83AFD80-6623-D61D-BF3D-5ADF2C96D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145322"/>
              <a:ext cx="274320" cy="27432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6817508-B966-297F-836E-3733637351F9}"/>
              </a:ext>
            </a:extLst>
          </p:cNvPr>
          <p:cNvGrpSpPr/>
          <p:nvPr/>
        </p:nvGrpSpPr>
        <p:grpSpPr>
          <a:xfrm>
            <a:off x="496386" y="3021036"/>
            <a:ext cx="4023360" cy="365760"/>
            <a:chOff x="5029200" y="2103120"/>
            <a:chExt cx="4023360" cy="365760"/>
          </a:xfrm>
        </p:grpSpPr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12A76C54-3DC6-67A2-4DF8-1EEC4B107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342A000F-F489-E29A-2F9C-BA39C614FA07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Infrastructure and Operational Cost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890206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71C4A-824A-F46B-9AA4-5589D8F53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9AC1F5-E1DE-7863-9548-8CA6B1C507FD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53B8801-2E12-CBF6-C0BA-063F1CD1C3C9}"/>
              </a:ext>
            </a:extLst>
          </p:cNvPr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6C341D-5195-BB79-71A0-A28EB5231170}"/>
              </a:ext>
            </a:extLst>
          </p:cNvPr>
          <p:cNvGrpSpPr/>
          <p:nvPr/>
        </p:nvGrpSpPr>
        <p:grpSpPr>
          <a:xfrm>
            <a:off x="476789" y="1188720"/>
            <a:ext cx="4023360" cy="365760"/>
            <a:chOff x="731520" y="1188720"/>
            <a:chExt cx="4023360" cy="365760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778F1E5A-6D0B-68BE-2E5D-C6A4DBF7C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34440"/>
              <a:ext cx="274320" cy="274320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10E3C0D2-41ED-F314-C801-FBFED98216C0}"/>
                </a:ext>
              </a:extLst>
            </p:cNvPr>
            <p:cNvSpPr/>
            <p:nvPr/>
          </p:nvSpPr>
          <p:spPr>
            <a:xfrm>
              <a:off x="109728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The Problem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6597C7B-6894-E575-ACF0-5705A90E5049}"/>
              </a:ext>
            </a:extLst>
          </p:cNvPr>
          <p:cNvGrpSpPr/>
          <p:nvPr/>
        </p:nvGrpSpPr>
        <p:grpSpPr>
          <a:xfrm>
            <a:off x="5074913" y="1188720"/>
            <a:ext cx="4023360" cy="365760"/>
            <a:chOff x="5029200" y="1188720"/>
            <a:chExt cx="4023360" cy="365760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E49220C1-AC9D-795B-0151-50D0090DC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1234440"/>
              <a:ext cx="274320" cy="274320"/>
            </a:xfrm>
            <a:prstGeom prst="rect">
              <a:avLst/>
            </a:prstGeom>
          </p:spPr>
        </p:pic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4AD8327F-319F-8F01-5B08-C7AF95F3F35F}"/>
                </a:ext>
              </a:extLst>
            </p:cNvPr>
            <p:cNvSpPr/>
            <p:nvPr/>
          </p:nvSpPr>
          <p:spPr>
            <a:xfrm>
              <a:off x="5394960" y="11887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Our solution</a:t>
              </a:r>
              <a:endParaRPr lang="en-US" sz="1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4A3FD82-CED0-8E9C-7F35-CC61CDE73617}"/>
              </a:ext>
            </a:extLst>
          </p:cNvPr>
          <p:cNvGrpSpPr/>
          <p:nvPr/>
        </p:nvGrpSpPr>
        <p:grpSpPr>
          <a:xfrm>
            <a:off x="5068382" y="1637128"/>
            <a:ext cx="4023360" cy="365760"/>
            <a:chOff x="731520" y="1645920"/>
            <a:chExt cx="4023360" cy="365760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4C337D7C-C3D8-85D4-0E0F-93D4D0E93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91640"/>
              <a:ext cx="274320" cy="274320"/>
            </a:xfrm>
            <a:prstGeom prst="rect">
              <a:avLst/>
            </a:prstGeom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9054E200-F630-70A6-91DB-0FC2ED48D66D}"/>
                </a:ext>
              </a:extLst>
            </p:cNvPr>
            <p:cNvSpPr/>
            <p:nvPr/>
          </p:nvSpPr>
          <p:spPr>
            <a:xfrm>
              <a:off x="109728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Solution Architecture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7F2BFFA-49A2-B93C-47C1-0B01E0F99EB7}"/>
              </a:ext>
            </a:extLst>
          </p:cNvPr>
          <p:cNvGrpSpPr/>
          <p:nvPr/>
        </p:nvGrpSpPr>
        <p:grpSpPr>
          <a:xfrm>
            <a:off x="5068372" y="2097844"/>
            <a:ext cx="4023360" cy="365760"/>
            <a:chOff x="5029200" y="1645920"/>
            <a:chExt cx="4023360" cy="365760"/>
          </a:xfrm>
        </p:grpSpPr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8BD6AB30-96B8-CA88-06B1-B8BE3E63F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1691640"/>
              <a:ext cx="274320" cy="274320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8A58B37E-9B72-46BE-4AD9-76E29BFD5802}"/>
                </a:ext>
              </a:extLst>
            </p:cNvPr>
            <p:cNvSpPr/>
            <p:nvPr/>
          </p:nvSpPr>
          <p:spPr>
            <a:xfrm>
              <a:off x="5394960" y="16459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Social Impact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F40026-E555-7647-3103-3C48CD623B3B}"/>
              </a:ext>
            </a:extLst>
          </p:cNvPr>
          <p:cNvGrpSpPr/>
          <p:nvPr/>
        </p:nvGrpSpPr>
        <p:grpSpPr>
          <a:xfrm>
            <a:off x="496388" y="1645920"/>
            <a:ext cx="4023360" cy="365760"/>
            <a:chOff x="731520" y="2103120"/>
            <a:chExt cx="4023360" cy="365760"/>
          </a:xfrm>
        </p:grpSpPr>
        <p:pic>
          <p:nvPicPr>
            <p:cNvPr id="12" name="Image 4" descr="preencoded.png">
              <a:extLst>
                <a:ext uri="{FF2B5EF4-FFF2-40B4-BE49-F238E27FC236}">
                  <a16:creationId xmlns:a16="http://schemas.microsoft.com/office/drawing/2014/main" id="{D90F110A-19C3-BBDB-ADCC-49CD3C864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148840"/>
              <a:ext cx="274320" cy="274320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F119AEF5-4201-4B3D-DF45-B7D0D07DED46}"/>
                </a:ext>
              </a:extLst>
            </p:cNvPr>
            <p:cNvSpPr/>
            <p:nvPr/>
          </p:nvSpPr>
          <p:spPr>
            <a:xfrm>
              <a:off x="109728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Traction and Validation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6F8E895-6B0C-F250-80A8-042AA05EAB11}"/>
              </a:ext>
            </a:extLst>
          </p:cNvPr>
          <p:cNvGrpSpPr/>
          <p:nvPr/>
        </p:nvGrpSpPr>
        <p:grpSpPr>
          <a:xfrm>
            <a:off x="508463" y="2570870"/>
            <a:ext cx="4023360" cy="365760"/>
            <a:chOff x="5029200" y="2103120"/>
            <a:chExt cx="4023360" cy="365760"/>
          </a:xfrm>
        </p:grpSpPr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0AFF5D62-94F6-E62C-CA44-A30CF2353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10A1B9D5-DD8F-9524-A02F-E8F89740D589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Sustainable Business Model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329C26B-D58A-E6F3-821F-40DFA03B9CEE}"/>
              </a:ext>
            </a:extLst>
          </p:cNvPr>
          <p:cNvGrpSpPr/>
          <p:nvPr/>
        </p:nvGrpSpPr>
        <p:grpSpPr>
          <a:xfrm>
            <a:off x="5061826" y="2560320"/>
            <a:ext cx="4023360" cy="365760"/>
            <a:chOff x="731520" y="2560320"/>
            <a:chExt cx="4023360" cy="365760"/>
          </a:xfrm>
        </p:grpSpPr>
        <p:pic>
          <p:nvPicPr>
            <p:cNvPr id="16" name="Image 6" descr="preencoded.png">
              <a:extLst>
                <a:ext uri="{FF2B5EF4-FFF2-40B4-BE49-F238E27FC236}">
                  <a16:creationId xmlns:a16="http://schemas.microsoft.com/office/drawing/2014/main" id="{3184B167-4025-6AF7-4CF1-20D6628FD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1520" y="2606040"/>
              <a:ext cx="274320" cy="274320"/>
            </a:xfrm>
            <a:prstGeom prst="rect">
              <a:avLst/>
            </a:prstGeom>
          </p:spPr>
        </p:pic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DE4112B2-2759-7E3A-B8CC-08230BFF1A29}"/>
                </a:ext>
              </a:extLst>
            </p:cNvPr>
            <p:cNvSpPr/>
            <p:nvPr/>
          </p:nvSpPr>
          <p:spPr>
            <a:xfrm>
              <a:off x="109728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National Rollout Strategy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536CB3C-C52B-8891-EAFD-23FBB7DA65F0}"/>
              </a:ext>
            </a:extLst>
          </p:cNvPr>
          <p:cNvGrpSpPr/>
          <p:nvPr/>
        </p:nvGrpSpPr>
        <p:grpSpPr>
          <a:xfrm>
            <a:off x="5107537" y="3021036"/>
            <a:ext cx="4023360" cy="365760"/>
            <a:chOff x="5029200" y="2560320"/>
            <a:chExt cx="4023360" cy="365760"/>
          </a:xfrm>
        </p:grpSpPr>
        <p:pic>
          <p:nvPicPr>
            <p:cNvPr id="18" name="Image 7" descr="preencoded.png">
              <a:extLst>
                <a:ext uri="{FF2B5EF4-FFF2-40B4-BE49-F238E27FC236}">
                  <a16:creationId xmlns:a16="http://schemas.microsoft.com/office/drawing/2014/main" id="{A660A85F-F55B-91E4-4DC7-27B42246E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29200" y="2606040"/>
              <a:ext cx="274320" cy="274320"/>
            </a:xfrm>
            <a:prstGeom prst="rect">
              <a:avLst/>
            </a:prstGeom>
          </p:spPr>
        </p:pic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4C8EED7D-2D9D-AD43-528D-4AB88D609CA5}"/>
                </a:ext>
              </a:extLst>
            </p:cNvPr>
            <p:cNvSpPr/>
            <p:nvPr/>
          </p:nvSpPr>
          <p:spPr>
            <a:xfrm>
              <a:off x="5394960" y="25603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Intelligence &amp; Analytics Layer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7BA604B-CD74-59D2-DF63-C06DD74D6518}"/>
              </a:ext>
            </a:extLst>
          </p:cNvPr>
          <p:cNvGrpSpPr/>
          <p:nvPr/>
        </p:nvGrpSpPr>
        <p:grpSpPr>
          <a:xfrm>
            <a:off x="502915" y="2134772"/>
            <a:ext cx="4023360" cy="365760"/>
            <a:chOff x="731520" y="2134772"/>
            <a:chExt cx="4023360" cy="365760"/>
          </a:xfrm>
        </p:grpSpPr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FBE2588C-6294-4CBD-F5AF-14CA7C78D369}"/>
                </a:ext>
              </a:extLst>
            </p:cNvPr>
            <p:cNvSpPr/>
            <p:nvPr/>
          </p:nvSpPr>
          <p:spPr>
            <a:xfrm>
              <a:off x="1097280" y="2134772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Platform Workflow</a:t>
              </a:r>
              <a:endParaRPr lang="en-US" sz="1400" dirty="0"/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EEB44A0E-7675-84FA-22CC-310987010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2145322"/>
              <a:ext cx="274320" cy="27432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FCE5C0-8C04-A46C-3CA3-280019B08FDB}"/>
              </a:ext>
            </a:extLst>
          </p:cNvPr>
          <p:cNvGrpSpPr/>
          <p:nvPr/>
        </p:nvGrpSpPr>
        <p:grpSpPr>
          <a:xfrm>
            <a:off x="496386" y="3021036"/>
            <a:ext cx="4023360" cy="365760"/>
            <a:chOff x="5029200" y="2103120"/>
            <a:chExt cx="4023360" cy="365760"/>
          </a:xfrm>
        </p:grpSpPr>
        <p:pic>
          <p:nvPicPr>
            <p:cNvPr id="31" name="Image 5" descr="preencoded.png">
              <a:extLst>
                <a:ext uri="{FF2B5EF4-FFF2-40B4-BE49-F238E27FC236}">
                  <a16:creationId xmlns:a16="http://schemas.microsoft.com/office/drawing/2014/main" id="{971D6D62-3707-91BE-A1EF-BE1DF8C9D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29200" y="2148840"/>
              <a:ext cx="274320" cy="27432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6859CA6E-A2D1-6AA8-2258-FEB3E1663223}"/>
                </a:ext>
              </a:extLst>
            </p:cNvPr>
            <p:cNvSpPr/>
            <p:nvPr/>
          </p:nvSpPr>
          <p:spPr>
            <a:xfrm>
              <a:off x="5394960" y="210312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</a:rPr>
                <a:t>Infrastructure and Operational Cost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41210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640" y="6934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89560" y="579883"/>
            <a:ext cx="22860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3904785" y="686382"/>
            <a:ext cx="3886200" cy="10480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-3890711" y="686383"/>
            <a:ext cx="69088" cy="104803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-3662111" y="823543"/>
            <a:ext cx="345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Fragmented Medical Records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-3662111" y="1143583"/>
            <a:ext cx="345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64748B"/>
                </a:solidFill>
              </a:rPr>
              <a:t>Every hospital, every lab, every clinic is an island.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64748B"/>
                </a:solidFill>
              </a:rPr>
              <a:t>Your medical history stays where it was created.</a:t>
            </a:r>
            <a:endParaRPr lang="en-US" sz="12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9E0ED9-02C2-3074-B35B-B6D20ACD3E72}"/>
              </a:ext>
            </a:extLst>
          </p:cNvPr>
          <p:cNvGrpSpPr/>
          <p:nvPr/>
        </p:nvGrpSpPr>
        <p:grpSpPr>
          <a:xfrm>
            <a:off x="-3903605" y="2964767"/>
            <a:ext cx="3872126" cy="1440170"/>
            <a:chOff x="316527" y="2529240"/>
            <a:chExt cx="3886200" cy="914400"/>
          </a:xfrm>
        </p:grpSpPr>
        <p:sp>
          <p:nvSpPr>
            <p:cNvPr id="9" name="Shape 7"/>
            <p:cNvSpPr/>
            <p:nvPr/>
          </p:nvSpPr>
          <p:spPr>
            <a:xfrm>
              <a:off x="316527" y="2529240"/>
              <a:ext cx="3886200" cy="914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316527" y="2529240"/>
              <a:ext cx="69088" cy="9144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545127" y="2666400"/>
              <a:ext cx="345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System Suffers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45127" y="2986440"/>
              <a:ext cx="3454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No centralized health intelligence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Outbreaks detected too late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Billions lost in redundant diagnostics</a:t>
              </a:r>
              <a:endParaRPr lang="en-US" sz="120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-3903605" y="1843550"/>
            <a:ext cx="3872131" cy="107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-3897744" y="1843551"/>
            <a:ext cx="62139" cy="1039389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-3648042" y="1969552"/>
            <a:ext cx="344189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Patients Suffer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-3648042" y="2367971"/>
            <a:ext cx="344189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64748B"/>
                </a:solidFill>
              </a:rPr>
              <a:t>Repeat tests – waste of time &amp; money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64748B"/>
                </a:solidFill>
              </a:rPr>
              <a:t>Lost prescriptions – delayed treatment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64748B"/>
                </a:solidFill>
              </a:rPr>
              <a:t>Emergency visits – doctors work blind</a:t>
            </a:r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B5491C-65B1-4136-FF1B-8FF16BA7436F}"/>
              </a:ext>
            </a:extLst>
          </p:cNvPr>
          <p:cNvSpPr/>
          <p:nvPr/>
        </p:nvSpPr>
        <p:spPr>
          <a:xfrm>
            <a:off x="167640" y="4585714"/>
            <a:ext cx="8823960" cy="457201"/>
          </a:xfrm>
          <a:prstGeom prst="rect">
            <a:avLst/>
          </a:prstGeom>
          <a:solidFill>
            <a:srgbClr val="99001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53BEE2-1632-73F9-A01B-21DF79A5F789}"/>
              </a:ext>
            </a:extLst>
          </p:cNvPr>
          <p:cNvSpPr txBox="1"/>
          <p:nvPr/>
        </p:nvSpPr>
        <p:spPr>
          <a:xfrm>
            <a:off x="137160" y="4643735"/>
            <a:ext cx="89687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en-US" sz="1300" b="1" dirty="0"/>
              <a:t>💰 NPR 50M+</a:t>
            </a:r>
            <a:r>
              <a:rPr lang="en-US" sz="1300" dirty="0"/>
              <a:t> estimated annual loss in Nepal alone from repeated tests.</a:t>
            </a:r>
            <a:endParaRPr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E190F53-3497-8DEF-7EFA-7C08BAC210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" t="466" r="71531" b="21135"/>
          <a:stretch>
            <a:fillRect/>
          </a:stretch>
        </p:blipFill>
        <p:spPr>
          <a:xfrm>
            <a:off x="4288299" y="108701"/>
            <a:ext cx="1549793" cy="2856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B9A017E-FBC8-42E4-BFF3-AB5E907227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99" b="16992"/>
          <a:stretch>
            <a:fillRect/>
          </a:stretch>
        </p:blipFill>
        <p:spPr>
          <a:xfrm>
            <a:off x="7217184" y="44896"/>
            <a:ext cx="1791020" cy="28727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A9B7B5E-B7CF-C956-6BE8-DA4CF8053A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103" r="36674" b="20387"/>
          <a:stretch>
            <a:fillRect/>
          </a:stretch>
        </p:blipFill>
        <p:spPr>
          <a:xfrm>
            <a:off x="5671961" y="1843551"/>
            <a:ext cx="1643436" cy="26255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18B85-B397-7B5C-BF9E-A71DDB754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D0324D-4AEF-7581-2821-39D50C5A798A}"/>
              </a:ext>
            </a:extLst>
          </p:cNvPr>
          <p:cNvSpPr/>
          <p:nvPr/>
        </p:nvSpPr>
        <p:spPr>
          <a:xfrm>
            <a:off x="167640" y="6934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42306F-C60A-724A-5D80-0B241BDB0A58}"/>
              </a:ext>
            </a:extLst>
          </p:cNvPr>
          <p:cNvSpPr/>
          <p:nvPr/>
        </p:nvSpPr>
        <p:spPr>
          <a:xfrm>
            <a:off x="289560" y="579883"/>
            <a:ext cx="22860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838593C-1F0D-C6A1-8318-CCA86447A547}"/>
              </a:ext>
            </a:extLst>
          </p:cNvPr>
          <p:cNvGrpSpPr/>
          <p:nvPr/>
        </p:nvGrpSpPr>
        <p:grpSpPr>
          <a:xfrm>
            <a:off x="275315" y="686382"/>
            <a:ext cx="3886200" cy="1048039"/>
            <a:chOff x="-3904785" y="686382"/>
            <a:chExt cx="3886200" cy="1048039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8E8F1069-6990-FB6F-C6ED-65B833BD14EA}"/>
                </a:ext>
              </a:extLst>
            </p:cNvPr>
            <p:cNvSpPr/>
            <p:nvPr/>
          </p:nvSpPr>
          <p:spPr>
            <a:xfrm>
              <a:off x="-3904785" y="686382"/>
              <a:ext cx="3886200" cy="104803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F64D4E4E-3AE4-2233-A555-9A9F55B6F3E9}"/>
                </a:ext>
              </a:extLst>
            </p:cNvPr>
            <p:cNvSpPr/>
            <p:nvPr/>
          </p:nvSpPr>
          <p:spPr>
            <a:xfrm>
              <a:off x="-3890711" y="686383"/>
              <a:ext cx="69088" cy="1048038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E0CFD14E-5C64-6773-3264-E69079502AD4}"/>
                </a:ext>
              </a:extLst>
            </p:cNvPr>
            <p:cNvSpPr/>
            <p:nvPr/>
          </p:nvSpPr>
          <p:spPr>
            <a:xfrm>
              <a:off x="-3662111" y="823543"/>
              <a:ext cx="34544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Fragmented Medical Records</a:t>
              </a:r>
              <a:endParaRPr lang="en-US" sz="16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41BEAB37-A08D-0099-27B2-A5A108A889B7}"/>
                </a:ext>
              </a:extLst>
            </p:cNvPr>
            <p:cNvSpPr/>
            <p:nvPr/>
          </p:nvSpPr>
          <p:spPr>
            <a:xfrm>
              <a:off x="-3662111" y="1143583"/>
              <a:ext cx="3454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Every hospital, every lab, every clinic is an island.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Your medical history stays where it was created.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583E9F-1AD6-5F34-1F93-359C52F4DD0E}"/>
              </a:ext>
            </a:extLst>
          </p:cNvPr>
          <p:cNvGrpSpPr/>
          <p:nvPr/>
        </p:nvGrpSpPr>
        <p:grpSpPr>
          <a:xfrm>
            <a:off x="-3903605" y="2964767"/>
            <a:ext cx="3872126" cy="1440170"/>
            <a:chOff x="316527" y="2529240"/>
            <a:chExt cx="3886200" cy="914400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B0635ED5-B582-6181-309C-85952DD296DF}"/>
                </a:ext>
              </a:extLst>
            </p:cNvPr>
            <p:cNvSpPr/>
            <p:nvPr/>
          </p:nvSpPr>
          <p:spPr>
            <a:xfrm>
              <a:off x="316527" y="2529240"/>
              <a:ext cx="3886200" cy="914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AF922CAE-0EC4-90E9-6934-1B9BA106B274}"/>
                </a:ext>
              </a:extLst>
            </p:cNvPr>
            <p:cNvSpPr/>
            <p:nvPr/>
          </p:nvSpPr>
          <p:spPr>
            <a:xfrm>
              <a:off x="316527" y="2529240"/>
              <a:ext cx="69088" cy="9144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69CCB3A-B222-564E-2649-D323BFEEAA23}"/>
                </a:ext>
              </a:extLst>
            </p:cNvPr>
            <p:cNvSpPr/>
            <p:nvPr/>
          </p:nvSpPr>
          <p:spPr>
            <a:xfrm>
              <a:off x="545127" y="2666400"/>
              <a:ext cx="345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System Suffers</a:t>
              </a:r>
              <a:endParaRPr lang="en-US" sz="16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CA355D43-74E3-8D7D-F5A4-865E3D12B420}"/>
                </a:ext>
              </a:extLst>
            </p:cNvPr>
            <p:cNvSpPr/>
            <p:nvPr/>
          </p:nvSpPr>
          <p:spPr>
            <a:xfrm>
              <a:off x="545127" y="2986440"/>
              <a:ext cx="3454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No centralized health intelligence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Outbreaks detected too late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Billions lost in redundant diagnostics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8B4C59-030B-C5BA-A5AF-964E98D8A10B}"/>
              </a:ext>
            </a:extLst>
          </p:cNvPr>
          <p:cNvGrpSpPr/>
          <p:nvPr/>
        </p:nvGrpSpPr>
        <p:grpSpPr>
          <a:xfrm>
            <a:off x="-3903605" y="1843550"/>
            <a:ext cx="3872131" cy="1074075"/>
            <a:chOff x="-3903605" y="1843550"/>
            <a:chExt cx="3872131" cy="1074075"/>
          </a:xfrm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DE6BA67C-E357-3BC4-29CB-0AACD7D216C7}"/>
                </a:ext>
              </a:extLst>
            </p:cNvPr>
            <p:cNvSpPr/>
            <p:nvPr/>
          </p:nvSpPr>
          <p:spPr>
            <a:xfrm>
              <a:off x="-3903605" y="1843550"/>
              <a:ext cx="3872131" cy="10740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F9C8E7F4-29AB-82A2-027B-7A4F74C0773B}"/>
                </a:ext>
              </a:extLst>
            </p:cNvPr>
            <p:cNvSpPr/>
            <p:nvPr/>
          </p:nvSpPr>
          <p:spPr>
            <a:xfrm>
              <a:off x="-3897744" y="1843551"/>
              <a:ext cx="62139" cy="1039389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3023D0B6-18EC-056D-61F9-84DC86B5035D}"/>
                </a:ext>
              </a:extLst>
            </p:cNvPr>
            <p:cNvSpPr/>
            <p:nvPr/>
          </p:nvSpPr>
          <p:spPr>
            <a:xfrm>
              <a:off x="-3648042" y="1969552"/>
              <a:ext cx="3441894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Patients Suffer</a:t>
              </a:r>
              <a:endParaRPr lang="en-US" sz="16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8B3193B8-17D0-CC4C-8681-63B830E9B624}"/>
                </a:ext>
              </a:extLst>
            </p:cNvPr>
            <p:cNvSpPr/>
            <p:nvPr/>
          </p:nvSpPr>
          <p:spPr>
            <a:xfrm>
              <a:off x="-3648042" y="2367971"/>
              <a:ext cx="344189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Repeat tests – waste of time &amp; money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Lost prescriptions – delayed treatment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Emergency visits – doctors work blind</a:t>
              </a:r>
              <a:endParaRPr lang="en-US" sz="1200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F058F-098B-33B8-6404-B1153A099088}"/>
              </a:ext>
            </a:extLst>
          </p:cNvPr>
          <p:cNvSpPr/>
          <p:nvPr/>
        </p:nvSpPr>
        <p:spPr>
          <a:xfrm>
            <a:off x="167640" y="4585714"/>
            <a:ext cx="8823960" cy="457201"/>
          </a:xfrm>
          <a:prstGeom prst="rect">
            <a:avLst/>
          </a:prstGeom>
          <a:solidFill>
            <a:srgbClr val="99001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351C3F-BE3F-21DF-C7F4-B073C7099A03}"/>
              </a:ext>
            </a:extLst>
          </p:cNvPr>
          <p:cNvSpPr txBox="1"/>
          <p:nvPr/>
        </p:nvSpPr>
        <p:spPr>
          <a:xfrm>
            <a:off x="137160" y="4643735"/>
            <a:ext cx="89687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en-US" sz="1300" b="1" dirty="0"/>
              <a:t>💰 NPR 50M+</a:t>
            </a:r>
            <a:r>
              <a:rPr lang="en-US" sz="1300" dirty="0"/>
              <a:t> estimated annual loss in Nepal alone from repeated tests.</a:t>
            </a:r>
            <a:endParaRPr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B41907C-5728-2DBE-BF7E-5F98FD008C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" t="466" r="71531" b="21135"/>
          <a:stretch>
            <a:fillRect/>
          </a:stretch>
        </p:blipFill>
        <p:spPr>
          <a:xfrm>
            <a:off x="4288299" y="108701"/>
            <a:ext cx="1549793" cy="2856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3F186FB-2F3B-5F98-2104-4EFDC7A41F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99" b="16992"/>
          <a:stretch>
            <a:fillRect/>
          </a:stretch>
        </p:blipFill>
        <p:spPr>
          <a:xfrm>
            <a:off x="7217184" y="44896"/>
            <a:ext cx="1791020" cy="28727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8528473-CD4B-D441-E30E-C12075BF55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103" r="36674" b="20387"/>
          <a:stretch>
            <a:fillRect/>
          </a:stretch>
        </p:blipFill>
        <p:spPr>
          <a:xfrm>
            <a:off x="5671961" y="1843551"/>
            <a:ext cx="1643436" cy="26255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0929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B0315-5DB3-A746-DF58-1CB6DF62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81FB0E-B82D-E6A8-6776-65322A13CF67}"/>
              </a:ext>
            </a:extLst>
          </p:cNvPr>
          <p:cNvSpPr/>
          <p:nvPr/>
        </p:nvSpPr>
        <p:spPr>
          <a:xfrm>
            <a:off x="167640" y="6934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478BEF-5689-79DD-949C-34A92104F4F9}"/>
              </a:ext>
            </a:extLst>
          </p:cNvPr>
          <p:cNvSpPr/>
          <p:nvPr/>
        </p:nvSpPr>
        <p:spPr>
          <a:xfrm>
            <a:off x="289560" y="579883"/>
            <a:ext cx="22860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038CF8B-778C-B57B-6A15-89B21AC671D1}"/>
              </a:ext>
            </a:extLst>
          </p:cNvPr>
          <p:cNvGrpSpPr/>
          <p:nvPr/>
        </p:nvGrpSpPr>
        <p:grpSpPr>
          <a:xfrm>
            <a:off x="275315" y="686382"/>
            <a:ext cx="3886200" cy="1048039"/>
            <a:chOff x="-3904785" y="686382"/>
            <a:chExt cx="3886200" cy="1048039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C6C35232-07DB-5340-F8C8-14233301DF44}"/>
                </a:ext>
              </a:extLst>
            </p:cNvPr>
            <p:cNvSpPr/>
            <p:nvPr/>
          </p:nvSpPr>
          <p:spPr>
            <a:xfrm>
              <a:off x="-3904785" y="686382"/>
              <a:ext cx="3886200" cy="104803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4B1092CB-EC78-E0F5-C070-F233245E244E}"/>
                </a:ext>
              </a:extLst>
            </p:cNvPr>
            <p:cNvSpPr/>
            <p:nvPr/>
          </p:nvSpPr>
          <p:spPr>
            <a:xfrm>
              <a:off x="-3890711" y="686383"/>
              <a:ext cx="69088" cy="1048038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F4BB801D-45D1-41CE-2180-70FEF9E34A81}"/>
                </a:ext>
              </a:extLst>
            </p:cNvPr>
            <p:cNvSpPr/>
            <p:nvPr/>
          </p:nvSpPr>
          <p:spPr>
            <a:xfrm>
              <a:off x="-3662111" y="823543"/>
              <a:ext cx="34544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Fragmented Medical Records</a:t>
              </a:r>
              <a:endParaRPr lang="en-US" sz="16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4377ABCD-9973-6C62-E026-34DE488A681D}"/>
                </a:ext>
              </a:extLst>
            </p:cNvPr>
            <p:cNvSpPr/>
            <p:nvPr/>
          </p:nvSpPr>
          <p:spPr>
            <a:xfrm>
              <a:off x="-3662111" y="1143583"/>
              <a:ext cx="3454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Every hospital, every lab, every clinic is an island.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Your medical history stays where it was created.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D47DE0-BAEE-937D-89B8-DC55FF52B3BC}"/>
              </a:ext>
            </a:extLst>
          </p:cNvPr>
          <p:cNvGrpSpPr/>
          <p:nvPr/>
        </p:nvGrpSpPr>
        <p:grpSpPr>
          <a:xfrm>
            <a:off x="-3903605" y="2964767"/>
            <a:ext cx="3872126" cy="1440170"/>
            <a:chOff x="316527" y="2529240"/>
            <a:chExt cx="3886200" cy="914400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EED56C35-BB10-C6E5-EAD2-68A2CFB0A657}"/>
                </a:ext>
              </a:extLst>
            </p:cNvPr>
            <p:cNvSpPr/>
            <p:nvPr/>
          </p:nvSpPr>
          <p:spPr>
            <a:xfrm>
              <a:off x="316527" y="2529240"/>
              <a:ext cx="3886200" cy="914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7ECACA41-95DB-F6CD-A245-905E550A5D1F}"/>
                </a:ext>
              </a:extLst>
            </p:cNvPr>
            <p:cNvSpPr/>
            <p:nvPr/>
          </p:nvSpPr>
          <p:spPr>
            <a:xfrm>
              <a:off x="316527" y="2529240"/>
              <a:ext cx="69088" cy="9144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13EB19EA-DE9A-A311-6EEA-A2254E2D3C62}"/>
                </a:ext>
              </a:extLst>
            </p:cNvPr>
            <p:cNvSpPr/>
            <p:nvPr/>
          </p:nvSpPr>
          <p:spPr>
            <a:xfrm>
              <a:off x="545127" y="2666400"/>
              <a:ext cx="345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System Suffers</a:t>
              </a:r>
              <a:endParaRPr lang="en-US" sz="16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E1389780-3F64-5FCC-B7FE-B67905013038}"/>
                </a:ext>
              </a:extLst>
            </p:cNvPr>
            <p:cNvSpPr/>
            <p:nvPr/>
          </p:nvSpPr>
          <p:spPr>
            <a:xfrm>
              <a:off x="545127" y="2986440"/>
              <a:ext cx="3454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No centralized health intelligence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Outbreaks detected too late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Billions lost in redundant diagnostics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09230D-E5DB-4883-1E79-E860D88F6B5D}"/>
              </a:ext>
            </a:extLst>
          </p:cNvPr>
          <p:cNvGrpSpPr/>
          <p:nvPr/>
        </p:nvGrpSpPr>
        <p:grpSpPr>
          <a:xfrm>
            <a:off x="296092" y="1843550"/>
            <a:ext cx="3872131" cy="1074075"/>
            <a:chOff x="-3903605" y="1843550"/>
            <a:chExt cx="3872131" cy="1074075"/>
          </a:xfrm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06CE2353-1AEE-D5DD-695B-09B5BBAC0545}"/>
                </a:ext>
              </a:extLst>
            </p:cNvPr>
            <p:cNvSpPr/>
            <p:nvPr/>
          </p:nvSpPr>
          <p:spPr>
            <a:xfrm>
              <a:off x="-3903605" y="1843550"/>
              <a:ext cx="3872131" cy="10740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7E3561D0-2C13-8058-025F-6B914999EC0E}"/>
                </a:ext>
              </a:extLst>
            </p:cNvPr>
            <p:cNvSpPr/>
            <p:nvPr/>
          </p:nvSpPr>
          <p:spPr>
            <a:xfrm>
              <a:off x="-3897744" y="1843551"/>
              <a:ext cx="62139" cy="1039389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CBA180BB-E477-4F5C-24C9-43EE6FD16574}"/>
                </a:ext>
              </a:extLst>
            </p:cNvPr>
            <p:cNvSpPr/>
            <p:nvPr/>
          </p:nvSpPr>
          <p:spPr>
            <a:xfrm>
              <a:off x="-3648042" y="1969552"/>
              <a:ext cx="3441894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Patients Suffer</a:t>
              </a:r>
              <a:endParaRPr lang="en-US" sz="16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8D20E46C-2E1F-2B54-CE4D-A7E630D6F677}"/>
                </a:ext>
              </a:extLst>
            </p:cNvPr>
            <p:cNvSpPr/>
            <p:nvPr/>
          </p:nvSpPr>
          <p:spPr>
            <a:xfrm>
              <a:off x="-3648042" y="2367971"/>
              <a:ext cx="344189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Repeat tests – waste of time &amp; money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Lost prescriptions – delayed treatment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Emergency visits – doctors work blind</a:t>
              </a:r>
              <a:endParaRPr lang="en-US" sz="1200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CA4717C-586A-A840-E900-A32306602675}"/>
              </a:ext>
            </a:extLst>
          </p:cNvPr>
          <p:cNvSpPr/>
          <p:nvPr/>
        </p:nvSpPr>
        <p:spPr>
          <a:xfrm>
            <a:off x="167640" y="4585714"/>
            <a:ext cx="8823960" cy="457201"/>
          </a:xfrm>
          <a:prstGeom prst="rect">
            <a:avLst/>
          </a:prstGeom>
          <a:solidFill>
            <a:srgbClr val="99001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B405D9-4E22-B9DE-31C2-25D4547FB9B5}"/>
              </a:ext>
            </a:extLst>
          </p:cNvPr>
          <p:cNvSpPr txBox="1"/>
          <p:nvPr/>
        </p:nvSpPr>
        <p:spPr>
          <a:xfrm>
            <a:off x="137160" y="4643735"/>
            <a:ext cx="89687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en-US" sz="1300" b="1" dirty="0"/>
              <a:t>💰 NPR 50M+</a:t>
            </a:r>
            <a:r>
              <a:rPr lang="en-US" sz="1300" dirty="0"/>
              <a:t> estimated annual loss in Nepal alone from repeated tests.</a:t>
            </a:r>
            <a:endParaRPr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BE6B5E8-ACCC-185F-3721-17EAE3F1E2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" t="466" r="71531" b="21135"/>
          <a:stretch>
            <a:fillRect/>
          </a:stretch>
        </p:blipFill>
        <p:spPr>
          <a:xfrm>
            <a:off x="4288299" y="108701"/>
            <a:ext cx="1549793" cy="2856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F0C2063-6226-BC23-AB0B-CE87B83B85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99" b="16992"/>
          <a:stretch>
            <a:fillRect/>
          </a:stretch>
        </p:blipFill>
        <p:spPr>
          <a:xfrm>
            <a:off x="7217184" y="44896"/>
            <a:ext cx="1791020" cy="28727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33B3527-2FD6-399B-E3B9-4BC8661D18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103" r="36674" b="20387"/>
          <a:stretch>
            <a:fillRect/>
          </a:stretch>
        </p:blipFill>
        <p:spPr>
          <a:xfrm>
            <a:off x="5671961" y="1843551"/>
            <a:ext cx="1643436" cy="26255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15766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2687F-826F-6DD3-8636-54789056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C6B6C0-C079-1FBE-A802-35981C3876F8}"/>
              </a:ext>
            </a:extLst>
          </p:cNvPr>
          <p:cNvSpPr/>
          <p:nvPr/>
        </p:nvSpPr>
        <p:spPr>
          <a:xfrm>
            <a:off x="167640" y="6934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5E74B7-468F-DF60-855A-473F035BBA70}"/>
              </a:ext>
            </a:extLst>
          </p:cNvPr>
          <p:cNvSpPr/>
          <p:nvPr/>
        </p:nvSpPr>
        <p:spPr>
          <a:xfrm>
            <a:off x="289560" y="579883"/>
            <a:ext cx="22860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C240049-450C-CE43-5666-429D88BF20E4}"/>
              </a:ext>
            </a:extLst>
          </p:cNvPr>
          <p:cNvGrpSpPr/>
          <p:nvPr/>
        </p:nvGrpSpPr>
        <p:grpSpPr>
          <a:xfrm>
            <a:off x="275315" y="686382"/>
            <a:ext cx="3886200" cy="1048039"/>
            <a:chOff x="-3904785" y="686382"/>
            <a:chExt cx="3886200" cy="1048039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C8E8021-8E52-C76D-F1EF-985F544987E7}"/>
                </a:ext>
              </a:extLst>
            </p:cNvPr>
            <p:cNvSpPr/>
            <p:nvPr/>
          </p:nvSpPr>
          <p:spPr>
            <a:xfrm>
              <a:off x="-3904785" y="686382"/>
              <a:ext cx="3886200" cy="104803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C5CE9F06-603F-DE26-FA09-6D83B955AF93}"/>
                </a:ext>
              </a:extLst>
            </p:cNvPr>
            <p:cNvSpPr/>
            <p:nvPr/>
          </p:nvSpPr>
          <p:spPr>
            <a:xfrm>
              <a:off x="-3890711" y="686383"/>
              <a:ext cx="69088" cy="1048038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D946BDB-EAC8-323D-1099-F25111720F30}"/>
                </a:ext>
              </a:extLst>
            </p:cNvPr>
            <p:cNvSpPr/>
            <p:nvPr/>
          </p:nvSpPr>
          <p:spPr>
            <a:xfrm>
              <a:off x="-3662111" y="823543"/>
              <a:ext cx="34544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Fragmented Medical Records</a:t>
              </a:r>
              <a:endParaRPr lang="en-US" sz="16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EF26F65B-2382-2AD9-62FD-E6F194CD1B15}"/>
                </a:ext>
              </a:extLst>
            </p:cNvPr>
            <p:cNvSpPr/>
            <p:nvPr/>
          </p:nvSpPr>
          <p:spPr>
            <a:xfrm>
              <a:off x="-3662111" y="1143583"/>
              <a:ext cx="3454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Every hospital, every lab, every clinic is an island.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Your medical history stays where it was created.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D34526D-15A4-39F6-4387-DA0196D58D22}"/>
              </a:ext>
            </a:extLst>
          </p:cNvPr>
          <p:cNvGrpSpPr/>
          <p:nvPr/>
        </p:nvGrpSpPr>
        <p:grpSpPr>
          <a:xfrm>
            <a:off x="302614" y="2964767"/>
            <a:ext cx="3872126" cy="1440170"/>
            <a:chOff x="316527" y="2529240"/>
            <a:chExt cx="3886200" cy="914400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63B87A66-CCDA-51BC-776D-65BF885D10A2}"/>
                </a:ext>
              </a:extLst>
            </p:cNvPr>
            <p:cNvSpPr/>
            <p:nvPr/>
          </p:nvSpPr>
          <p:spPr>
            <a:xfrm>
              <a:off x="316527" y="2529240"/>
              <a:ext cx="3886200" cy="914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A5E8D27D-EC3F-B7C9-10C6-EECEFB7A63BA}"/>
                </a:ext>
              </a:extLst>
            </p:cNvPr>
            <p:cNvSpPr/>
            <p:nvPr/>
          </p:nvSpPr>
          <p:spPr>
            <a:xfrm>
              <a:off x="316527" y="2529240"/>
              <a:ext cx="69088" cy="9144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BABCBA36-E222-63C0-6E9A-BF90E64A1C47}"/>
                </a:ext>
              </a:extLst>
            </p:cNvPr>
            <p:cNvSpPr/>
            <p:nvPr/>
          </p:nvSpPr>
          <p:spPr>
            <a:xfrm>
              <a:off x="545127" y="2666400"/>
              <a:ext cx="345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System Suffers</a:t>
              </a:r>
              <a:endParaRPr lang="en-US" sz="16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DC5C0314-9A8F-CC2C-3FA1-2F5BC40B088D}"/>
                </a:ext>
              </a:extLst>
            </p:cNvPr>
            <p:cNvSpPr/>
            <p:nvPr/>
          </p:nvSpPr>
          <p:spPr>
            <a:xfrm>
              <a:off x="545127" y="2986440"/>
              <a:ext cx="3454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No centralized health intelligence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Outbreaks detected too late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Billions lost in redundant diagnostics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352E6B-A093-3290-014A-B418431723BC}"/>
              </a:ext>
            </a:extLst>
          </p:cNvPr>
          <p:cNvGrpSpPr/>
          <p:nvPr/>
        </p:nvGrpSpPr>
        <p:grpSpPr>
          <a:xfrm>
            <a:off x="296092" y="1843550"/>
            <a:ext cx="3872131" cy="1074075"/>
            <a:chOff x="-3903605" y="1843550"/>
            <a:chExt cx="3872131" cy="1074075"/>
          </a:xfrm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BB0AB385-B185-B339-B5E7-94E97D0FEBA5}"/>
                </a:ext>
              </a:extLst>
            </p:cNvPr>
            <p:cNvSpPr/>
            <p:nvPr/>
          </p:nvSpPr>
          <p:spPr>
            <a:xfrm>
              <a:off x="-3903605" y="1843550"/>
              <a:ext cx="3872131" cy="10740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9B832902-F397-8E12-031D-529340D03A4A}"/>
                </a:ext>
              </a:extLst>
            </p:cNvPr>
            <p:cNvSpPr/>
            <p:nvPr/>
          </p:nvSpPr>
          <p:spPr>
            <a:xfrm>
              <a:off x="-3897744" y="1843551"/>
              <a:ext cx="62139" cy="1039389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FCAA3833-0F51-272E-5DF3-3369D8F4E3EA}"/>
                </a:ext>
              </a:extLst>
            </p:cNvPr>
            <p:cNvSpPr/>
            <p:nvPr/>
          </p:nvSpPr>
          <p:spPr>
            <a:xfrm>
              <a:off x="-3648042" y="1969552"/>
              <a:ext cx="3441894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Patients Suffer</a:t>
              </a:r>
              <a:endParaRPr lang="en-US" sz="16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9D4554FE-B645-67FC-E1E5-46F89C18087C}"/>
                </a:ext>
              </a:extLst>
            </p:cNvPr>
            <p:cNvSpPr/>
            <p:nvPr/>
          </p:nvSpPr>
          <p:spPr>
            <a:xfrm>
              <a:off x="-3648042" y="2367971"/>
              <a:ext cx="3441894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Repeat tests – waste of time &amp; money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Lost prescriptions – delayed treatment</a:t>
              </a:r>
            </a:p>
            <a:p>
              <a:pPr marL="171450" indent="-171450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rgbClr val="64748B"/>
                  </a:solidFill>
                </a:rPr>
                <a:t>Emergency visits – doctors work blind</a:t>
              </a:r>
              <a:endParaRPr lang="en-US" sz="1200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3C89EB0-B2D0-D459-F504-CC2EFA4D1B8D}"/>
              </a:ext>
            </a:extLst>
          </p:cNvPr>
          <p:cNvSpPr/>
          <p:nvPr/>
        </p:nvSpPr>
        <p:spPr>
          <a:xfrm>
            <a:off x="167640" y="4585714"/>
            <a:ext cx="8823960" cy="457201"/>
          </a:xfrm>
          <a:prstGeom prst="rect">
            <a:avLst/>
          </a:prstGeom>
          <a:solidFill>
            <a:srgbClr val="99001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59C000-D978-F3E9-E377-4025DFFFBBE5}"/>
              </a:ext>
            </a:extLst>
          </p:cNvPr>
          <p:cNvSpPr txBox="1"/>
          <p:nvPr/>
        </p:nvSpPr>
        <p:spPr>
          <a:xfrm>
            <a:off x="137160" y="4643735"/>
            <a:ext cx="89687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en-US" sz="1300" b="1" dirty="0"/>
              <a:t>💰 NPR 50M+</a:t>
            </a:r>
            <a:r>
              <a:rPr lang="en-US" sz="1300" dirty="0"/>
              <a:t> estimated annual loss in Nepal alone from repeated tests.</a:t>
            </a:r>
            <a:endParaRPr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F12CA27-088A-CA03-9A86-AE28C1742C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" t="466" r="71531" b="21135"/>
          <a:stretch>
            <a:fillRect/>
          </a:stretch>
        </p:blipFill>
        <p:spPr>
          <a:xfrm>
            <a:off x="4288299" y="108701"/>
            <a:ext cx="1549793" cy="28560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C595614-B953-371F-487C-0898365E8A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99" b="16992"/>
          <a:stretch>
            <a:fillRect/>
          </a:stretch>
        </p:blipFill>
        <p:spPr>
          <a:xfrm>
            <a:off x="7217184" y="44896"/>
            <a:ext cx="1791020" cy="28727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09B74C7-4EB8-CECE-CE54-7846051576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103" r="36674" b="20387"/>
          <a:stretch>
            <a:fillRect/>
          </a:stretch>
        </p:blipFill>
        <p:spPr>
          <a:xfrm>
            <a:off x="5671961" y="1843551"/>
            <a:ext cx="1643436" cy="26255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42184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6659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CDCA2E-FFF3-AA14-833B-B344EE0400EC}"/>
              </a:ext>
            </a:extLst>
          </p:cNvPr>
          <p:cNvGrpSpPr/>
          <p:nvPr/>
        </p:nvGrpSpPr>
        <p:grpSpPr>
          <a:xfrm>
            <a:off x="9222354" y="515973"/>
            <a:ext cx="5219617" cy="3229381"/>
            <a:chOff x="4522005" y="1051560"/>
            <a:chExt cx="4256235" cy="3100001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1143000"/>
              <a:ext cx="228600" cy="228600"/>
            </a:xfrm>
            <a:prstGeom prst="rect">
              <a:avLst/>
            </a:prstGeom>
          </p:spPr>
        </p:pic>
        <p:sp>
          <p:nvSpPr>
            <p:cNvPr id="7" name="Shape 3"/>
            <p:cNvSpPr/>
            <p:nvPr/>
          </p:nvSpPr>
          <p:spPr>
            <a:xfrm>
              <a:off x="4526280" y="109728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4"/>
            <p:cNvSpPr/>
            <p:nvPr/>
          </p:nvSpPr>
          <p:spPr>
            <a:xfrm>
              <a:off x="4937760" y="105156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Unified lifetime health record: </a:t>
              </a:r>
              <a:r>
                <a:rPr lang="en-US" sz="1600" dirty="0">
                  <a:solidFill>
                    <a:srgbClr val="1E293B"/>
                  </a:solidFill>
                </a:rPr>
                <a:t>from birth to golden years</a:t>
              </a:r>
              <a:endParaRPr lang="en-US" sz="1600" dirty="0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1783080"/>
              <a:ext cx="228600" cy="228600"/>
            </a:xfrm>
            <a:prstGeom prst="rect">
              <a:avLst/>
            </a:prstGeom>
          </p:spPr>
        </p:pic>
        <p:sp>
          <p:nvSpPr>
            <p:cNvPr id="10" name="Shape 5"/>
            <p:cNvSpPr/>
            <p:nvPr/>
          </p:nvSpPr>
          <p:spPr>
            <a:xfrm>
              <a:off x="4526280" y="173736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6"/>
            <p:cNvSpPr/>
            <p:nvPr/>
          </p:nvSpPr>
          <p:spPr>
            <a:xfrm>
              <a:off x="4937760" y="169164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Global UUID: </a:t>
              </a:r>
              <a:r>
                <a:rPr lang="en-US" sz="1600" dirty="0">
                  <a:solidFill>
                    <a:srgbClr val="1E293B"/>
                  </a:solidFill>
                </a:rPr>
                <a:t>every patient, hospital, doctor uniquely identified</a:t>
              </a:r>
              <a:endParaRPr lang="en-US" sz="1600" dirty="0"/>
            </a:p>
          </p:txBody>
        </p:sp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2423160"/>
              <a:ext cx="228600" cy="228600"/>
            </a:xfrm>
            <a:prstGeom prst="rect">
              <a:avLst/>
            </a:prstGeom>
          </p:spPr>
        </p:pic>
        <p:sp>
          <p:nvSpPr>
            <p:cNvPr id="13" name="Shape 7"/>
            <p:cNvSpPr/>
            <p:nvPr/>
          </p:nvSpPr>
          <p:spPr>
            <a:xfrm>
              <a:off x="4526280" y="237744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8"/>
            <p:cNvSpPr/>
            <p:nvPr/>
          </p:nvSpPr>
          <p:spPr>
            <a:xfrm>
              <a:off x="4937760" y="233172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Consent-first architecture: </a:t>
              </a:r>
              <a:r>
                <a:rPr lang="en-US" sz="1600" dirty="0">
                  <a:solidFill>
                    <a:srgbClr val="1E293B"/>
                  </a:solidFill>
                </a:rPr>
                <a:t>patient controls who sees what</a:t>
              </a:r>
              <a:endParaRPr lang="en-US" sz="1600" dirty="0"/>
            </a:p>
          </p:txBody>
        </p:sp>
        <p:pic>
          <p:nvPicPr>
            <p:cNvPr id="15" name="Image 4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3063240"/>
              <a:ext cx="228600" cy="228600"/>
            </a:xfrm>
            <a:prstGeom prst="rect">
              <a:avLst/>
            </a:prstGeom>
          </p:spPr>
        </p:pic>
        <p:sp>
          <p:nvSpPr>
            <p:cNvPr id="16" name="Shape 9"/>
            <p:cNvSpPr/>
            <p:nvPr/>
          </p:nvSpPr>
          <p:spPr>
            <a:xfrm>
              <a:off x="4526280" y="301752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0"/>
            <p:cNvSpPr/>
            <p:nvPr/>
          </p:nvSpPr>
          <p:spPr>
            <a:xfrm>
              <a:off x="4937760" y="297180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Break‑glass emergency override: </a:t>
              </a:r>
              <a:r>
                <a:rPr lang="en-US" sz="1600" dirty="0">
                  <a:solidFill>
                    <a:srgbClr val="1E293B"/>
                  </a:solidFill>
                </a:rPr>
                <a:t>seconds matter, audit trails protect</a:t>
              </a:r>
              <a:endParaRPr lang="en-US" sz="1600" dirty="0"/>
            </a:p>
          </p:txBody>
        </p:sp>
        <p:pic>
          <p:nvPicPr>
            <p:cNvPr id="18" name="Image 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3703320"/>
              <a:ext cx="228600" cy="228600"/>
            </a:xfrm>
            <a:prstGeom prst="rect">
              <a:avLst/>
            </a:prstGeom>
          </p:spPr>
        </p:pic>
        <p:sp>
          <p:nvSpPr>
            <p:cNvPr id="26" name="Shape 9">
              <a:extLst>
                <a:ext uri="{FF2B5EF4-FFF2-40B4-BE49-F238E27FC236}">
                  <a16:creationId xmlns:a16="http://schemas.microsoft.com/office/drawing/2014/main" id="{05AE8C02-4FCE-91E7-0CF0-C9ADC8A6D187}"/>
                </a:ext>
              </a:extLst>
            </p:cNvPr>
            <p:cNvSpPr/>
            <p:nvPr/>
          </p:nvSpPr>
          <p:spPr>
            <a:xfrm>
              <a:off x="4522005" y="3740085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13184747-B471-885E-E82A-A3B2D5CC9693}"/>
                </a:ext>
              </a:extLst>
            </p:cNvPr>
            <p:cNvSpPr/>
            <p:nvPr/>
          </p:nvSpPr>
          <p:spPr>
            <a:xfrm>
              <a:off x="4933484" y="3694360"/>
              <a:ext cx="3840480" cy="4572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Break‑glass emergency override: </a:t>
              </a:r>
              <a:r>
                <a:rPr lang="en-US" sz="1600" dirty="0">
                  <a:solidFill>
                    <a:srgbClr val="1E293B"/>
                  </a:solidFill>
                </a:rPr>
                <a:t>seconds matter, audit trails protect</a:t>
              </a:r>
              <a:endParaRPr lang="en-US" sz="1600" dirty="0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DCC293D6-0C09-A990-474E-D6A17E491E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73686" y="171889"/>
            <a:ext cx="4147772" cy="2765181"/>
          </a:xfrm>
          <a:prstGeom prst="rect">
            <a:avLst/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C1B05E77-1FF7-A137-8E71-EA34D2486C23}"/>
              </a:ext>
            </a:extLst>
          </p:cNvPr>
          <p:cNvGrpSpPr/>
          <p:nvPr/>
        </p:nvGrpSpPr>
        <p:grpSpPr>
          <a:xfrm>
            <a:off x="3206217" y="5142880"/>
            <a:ext cx="6137306" cy="1271430"/>
            <a:chOff x="3206217" y="3875785"/>
            <a:chExt cx="6137306" cy="127143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B50F798-F9AA-B58C-6D90-D1A50FC1190D}"/>
                </a:ext>
              </a:extLst>
            </p:cNvPr>
            <p:cNvGrpSpPr/>
            <p:nvPr/>
          </p:nvGrpSpPr>
          <p:grpSpPr>
            <a:xfrm>
              <a:off x="3206217" y="3875785"/>
              <a:ext cx="5943599" cy="1271430"/>
              <a:chOff x="3206217" y="3875785"/>
              <a:chExt cx="5943599" cy="127143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C26BADE-2D17-C1FC-EF03-856EBDE05B63}"/>
                  </a:ext>
                </a:extLst>
              </p:cNvPr>
              <p:cNvSpPr/>
              <p:nvPr/>
            </p:nvSpPr>
            <p:spPr>
              <a:xfrm>
                <a:off x="3206217" y="3896723"/>
                <a:ext cx="5943599" cy="1250492"/>
              </a:xfrm>
              <a:prstGeom prst="rect">
                <a:avLst/>
              </a:prstGeom>
              <a:solidFill>
                <a:srgbClr val="1F4E79"/>
              </a:solidFill>
              <a:ln w="25400">
                <a:solidFill>
                  <a:srgbClr val="1F4E7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3911D5-AA7B-CD82-D120-6EFADEA48445}"/>
                  </a:ext>
                </a:extLst>
              </p:cNvPr>
              <p:cNvSpPr txBox="1"/>
              <p:nvPr/>
            </p:nvSpPr>
            <p:spPr>
              <a:xfrm>
                <a:off x="3798459" y="3875785"/>
                <a:ext cx="28896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rPr dirty="0"/>
                  <a:t>✨  Our Platform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3CB5CA-ECB5-72D6-E35C-FF169F5FD3EB}"/>
                </a:ext>
              </a:extLst>
            </p:cNvPr>
            <p:cNvSpPr txBox="1"/>
            <p:nvPr/>
          </p:nvSpPr>
          <p:spPr>
            <a:xfrm>
              <a:off x="3812613" y="4272255"/>
              <a:ext cx="5530910" cy="846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300" b="1">
                  <a:solidFill>
                    <a:srgbClr val="1F4E79"/>
                  </a:solidFill>
                </a:defRPr>
              </a:pPr>
              <a:r>
                <a:rPr dirty="0">
                  <a:solidFill>
                    <a:schemeClr val="bg1"/>
                  </a:solidFill>
                </a:rPr>
                <a:t>🌐 </a:t>
              </a:r>
              <a:r>
                <a:rPr lang="en-US" b="1" i="0" dirty="0">
                  <a:solidFill>
                    <a:srgbClr val="F9FAFB"/>
                  </a:solidFill>
                  <a:effectLst/>
                  <a:latin typeface="quote-cjk-patch"/>
                </a:rPr>
                <a:t>One platform. One lifetime record. Everywhere.</a:t>
              </a:r>
            </a:p>
            <a:p>
              <a:pPr>
                <a:spcAft>
                  <a:spcPts val="600"/>
                </a:spcAft>
                <a:defRPr sz="1300" b="1">
                  <a:solidFill>
                    <a:srgbClr val="1F4E79"/>
                  </a:solidFill>
                </a:defRPr>
              </a:pPr>
              <a:r>
                <a:rPr dirty="0">
                  <a:solidFill>
                    <a:schemeClr val="bg1"/>
                  </a:solidFill>
                </a:rPr>
                <a:t>📶 </a:t>
              </a:r>
              <a:r>
                <a:rPr lang="en-US" dirty="0">
                  <a:solidFill>
                    <a:schemeClr val="bg1"/>
                  </a:solidFill>
                </a:rPr>
                <a:t>User device first design &amp; encrypted cloud storage.</a:t>
              </a:r>
              <a:endParaRPr dirty="0">
                <a:solidFill>
                  <a:schemeClr val="bg1"/>
                </a:solidFill>
              </a:endParaRPr>
            </a:p>
            <a:p>
              <a:pPr>
                <a:spcAft>
                  <a:spcPts val="600"/>
                </a:spcAft>
                <a:defRPr sz="1300" b="1">
                  <a:solidFill>
                    <a:srgbClr val="1F4E79"/>
                  </a:solidFill>
                </a:defRPr>
              </a:pPr>
              <a:r>
                <a:rPr dirty="0">
                  <a:solidFill>
                    <a:schemeClr val="bg1"/>
                  </a:solidFill>
                </a:rPr>
                <a:t>🚨 Emergency-</a:t>
              </a:r>
              <a:r>
                <a:rPr lang="en-US" dirty="0">
                  <a:solidFill>
                    <a:schemeClr val="bg1"/>
                  </a:solidFill>
                </a:rPr>
                <a:t>ready</a:t>
              </a:r>
              <a:r>
                <a:rPr dirty="0">
                  <a:solidFill>
                    <a:schemeClr val="bg1"/>
                  </a:solidFill>
                </a:rPr>
                <a:t> architecture with instant override protocols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D3CECFA-4912-CE4B-8252-B7AC61B0AAA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85" t="20761" r="51771" b="53090"/>
          <a:stretch>
            <a:fillRect/>
          </a:stretch>
        </p:blipFill>
        <p:spPr>
          <a:xfrm>
            <a:off x="232148" y="2627163"/>
            <a:ext cx="2675138" cy="230886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7AA83B4-76CF-A9CF-1551-36DD53E1A537}"/>
              </a:ext>
            </a:extLst>
          </p:cNvPr>
          <p:cNvSpPr/>
          <p:nvPr/>
        </p:nvSpPr>
        <p:spPr>
          <a:xfrm>
            <a:off x="232148" y="4474029"/>
            <a:ext cx="2675138" cy="4975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"Centralized. Intelligent. Connected Healthcare.”</a:t>
            </a:r>
            <a:endParaRPr lang="en-US" sz="1400" dirty="0"/>
          </a:p>
          <a:p>
            <a:pPr algn="ctr"/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D5A3B-1F98-525C-EA58-1F786D2A7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70703F-3B6E-3204-8E8E-6594E2DFB4F9}"/>
              </a:ext>
            </a:extLst>
          </p:cNvPr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5D9237B-B738-9B24-4FE1-7391DD482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1371600" cy="13716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654F1D9-5B48-05AD-962F-FA7AA5C4505F}"/>
              </a:ext>
            </a:extLst>
          </p:cNvPr>
          <p:cNvSpPr/>
          <p:nvPr/>
        </p:nvSpPr>
        <p:spPr>
          <a:xfrm>
            <a:off x="0" y="286659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41CB53-4843-471B-63AF-BE1194815E6C}"/>
              </a:ext>
            </a:extLst>
          </p:cNvPr>
          <p:cNvGrpSpPr/>
          <p:nvPr/>
        </p:nvGrpSpPr>
        <p:grpSpPr>
          <a:xfrm>
            <a:off x="9222354" y="515973"/>
            <a:ext cx="5219617" cy="3229381"/>
            <a:chOff x="4522005" y="1051560"/>
            <a:chExt cx="4256235" cy="3100001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95F90AFC-3A61-8619-3019-B127F3DB9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1143000"/>
              <a:ext cx="228600" cy="228600"/>
            </a:xfrm>
            <a:prstGeom prst="rect">
              <a:avLst/>
            </a:prstGeom>
          </p:spPr>
        </p:pic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39201F0E-6C01-6B5D-E992-13A77D407DE7}"/>
                </a:ext>
              </a:extLst>
            </p:cNvPr>
            <p:cNvSpPr/>
            <p:nvPr/>
          </p:nvSpPr>
          <p:spPr>
            <a:xfrm>
              <a:off x="4526280" y="109728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ED0BF4D0-ABF8-14EE-0C08-919AAD1E7D7D}"/>
                </a:ext>
              </a:extLst>
            </p:cNvPr>
            <p:cNvSpPr/>
            <p:nvPr/>
          </p:nvSpPr>
          <p:spPr>
            <a:xfrm>
              <a:off x="4937760" y="105156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Unified lifetime health record: </a:t>
              </a:r>
              <a:r>
                <a:rPr lang="en-US" sz="1600" dirty="0">
                  <a:solidFill>
                    <a:srgbClr val="1E293B"/>
                  </a:solidFill>
                </a:rPr>
                <a:t>from birth to golden years</a:t>
              </a:r>
              <a:endParaRPr lang="en-US" sz="1600" dirty="0"/>
            </a:p>
          </p:txBody>
        </p:sp>
        <p:pic>
          <p:nvPicPr>
            <p:cNvPr id="9" name="Image 2" descr="preencoded.png">
              <a:extLst>
                <a:ext uri="{FF2B5EF4-FFF2-40B4-BE49-F238E27FC236}">
                  <a16:creationId xmlns:a16="http://schemas.microsoft.com/office/drawing/2014/main" id="{9387D9E6-5983-EAA3-9267-530DBB186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1783080"/>
              <a:ext cx="228600" cy="228600"/>
            </a:xfrm>
            <a:prstGeom prst="rect">
              <a:avLst/>
            </a:prstGeom>
          </p:spPr>
        </p:pic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6DEFE2B3-282D-9B9A-0A24-29A6F9079351}"/>
                </a:ext>
              </a:extLst>
            </p:cNvPr>
            <p:cNvSpPr/>
            <p:nvPr/>
          </p:nvSpPr>
          <p:spPr>
            <a:xfrm>
              <a:off x="4526280" y="173736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04E3F363-9CA7-01BE-9D36-9C8AD88F29F2}"/>
                </a:ext>
              </a:extLst>
            </p:cNvPr>
            <p:cNvSpPr/>
            <p:nvPr/>
          </p:nvSpPr>
          <p:spPr>
            <a:xfrm>
              <a:off x="4937760" y="169164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Global UUID: </a:t>
              </a:r>
              <a:r>
                <a:rPr lang="en-US" sz="1600" dirty="0">
                  <a:solidFill>
                    <a:srgbClr val="1E293B"/>
                  </a:solidFill>
                </a:rPr>
                <a:t>every patient, hospital, doctor uniquely identified</a:t>
              </a:r>
              <a:endParaRPr lang="en-US" sz="1600" dirty="0"/>
            </a:p>
          </p:txBody>
        </p:sp>
        <p:pic>
          <p:nvPicPr>
            <p:cNvPr id="12" name="Image 3" descr="preencoded.png">
              <a:extLst>
                <a:ext uri="{FF2B5EF4-FFF2-40B4-BE49-F238E27FC236}">
                  <a16:creationId xmlns:a16="http://schemas.microsoft.com/office/drawing/2014/main" id="{550CB1B5-3CF7-47AB-6F8D-D90989FFA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2423160"/>
              <a:ext cx="228600" cy="228600"/>
            </a:xfrm>
            <a:prstGeom prst="rect">
              <a:avLst/>
            </a:prstGeom>
          </p:spPr>
        </p:pic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92157E33-4073-CDE2-D80B-98058047F8B4}"/>
                </a:ext>
              </a:extLst>
            </p:cNvPr>
            <p:cNvSpPr/>
            <p:nvPr/>
          </p:nvSpPr>
          <p:spPr>
            <a:xfrm>
              <a:off x="4526280" y="237744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13C61FC0-C4E9-9E68-49F4-D5B21EDA71D3}"/>
                </a:ext>
              </a:extLst>
            </p:cNvPr>
            <p:cNvSpPr/>
            <p:nvPr/>
          </p:nvSpPr>
          <p:spPr>
            <a:xfrm>
              <a:off x="4937760" y="233172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Consent-first architecture: </a:t>
              </a:r>
              <a:r>
                <a:rPr lang="en-US" sz="1600" dirty="0">
                  <a:solidFill>
                    <a:srgbClr val="1E293B"/>
                  </a:solidFill>
                </a:rPr>
                <a:t>patient controls who sees what</a:t>
              </a:r>
              <a:endParaRPr lang="en-US" sz="1600" dirty="0"/>
            </a:p>
          </p:txBody>
        </p:sp>
        <p:pic>
          <p:nvPicPr>
            <p:cNvPr id="15" name="Image 4" descr="preencoded.png">
              <a:extLst>
                <a:ext uri="{FF2B5EF4-FFF2-40B4-BE49-F238E27FC236}">
                  <a16:creationId xmlns:a16="http://schemas.microsoft.com/office/drawing/2014/main" id="{BBDC8015-16DA-27D2-1098-2FC158F01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3063240"/>
              <a:ext cx="228600" cy="228600"/>
            </a:xfrm>
            <a:prstGeom prst="rect">
              <a:avLst/>
            </a:prstGeom>
          </p:spPr>
        </p:pic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E0BDFF49-4F19-8D78-6883-A8B49E39DD16}"/>
                </a:ext>
              </a:extLst>
            </p:cNvPr>
            <p:cNvSpPr/>
            <p:nvPr/>
          </p:nvSpPr>
          <p:spPr>
            <a:xfrm>
              <a:off x="4526280" y="301752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805CC89E-80A7-CAEE-F163-1844C070411F}"/>
                </a:ext>
              </a:extLst>
            </p:cNvPr>
            <p:cNvSpPr/>
            <p:nvPr/>
          </p:nvSpPr>
          <p:spPr>
            <a:xfrm>
              <a:off x="4937760" y="297180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Break‑glass emergency override: </a:t>
              </a:r>
              <a:r>
                <a:rPr lang="en-US" sz="1600" dirty="0">
                  <a:solidFill>
                    <a:srgbClr val="1E293B"/>
                  </a:solidFill>
                </a:rPr>
                <a:t>seconds matter, audit trails protect</a:t>
              </a:r>
              <a:endParaRPr lang="en-US" sz="1600" dirty="0"/>
            </a:p>
          </p:txBody>
        </p:sp>
        <p:pic>
          <p:nvPicPr>
            <p:cNvPr id="18" name="Image 5" descr="preencoded.png">
              <a:extLst>
                <a:ext uri="{FF2B5EF4-FFF2-40B4-BE49-F238E27FC236}">
                  <a16:creationId xmlns:a16="http://schemas.microsoft.com/office/drawing/2014/main" id="{90AFF7C6-6F1A-4635-18A4-DD966E3AC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3703320"/>
              <a:ext cx="228600" cy="228600"/>
            </a:xfrm>
            <a:prstGeom prst="rect">
              <a:avLst/>
            </a:prstGeom>
          </p:spPr>
        </p:pic>
        <p:sp>
          <p:nvSpPr>
            <p:cNvPr id="26" name="Shape 9">
              <a:extLst>
                <a:ext uri="{FF2B5EF4-FFF2-40B4-BE49-F238E27FC236}">
                  <a16:creationId xmlns:a16="http://schemas.microsoft.com/office/drawing/2014/main" id="{BBA06D5C-CCBE-0231-CF23-50DB2B855710}"/>
                </a:ext>
              </a:extLst>
            </p:cNvPr>
            <p:cNvSpPr/>
            <p:nvPr/>
          </p:nvSpPr>
          <p:spPr>
            <a:xfrm>
              <a:off x="4522005" y="3740085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4F45CB7C-1797-B1AF-20AE-26A606519392}"/>
                </a:ext>
              </a:extLst>
            </p:cNvPr>
            <p:cNvSpPr/>
            <p:nvPr/>
          </p:nvSpPr>
          <p:spPr>
            <a:xfrm>
              <a:off x="4933484" y="3694360"/>
              <a:ext cx="3840480" cy="4572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Break‑glass emergency override: </a:t>
              </a:r>
              <a:r>
                <a:rPr lang="en-US" sz="1600" dirty="0">
                  <a:solidFill>
                    <a:srgbClr val="1E293B"/>
                  </a:solidFill>
                </a:rPr>
                <a:t>seconds matter, audit trails protect</a:t>
              </a:r>
              <a:endParaRPr lang="en-US" sz="1600" dirty="0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48D1893D-17A6-2DC0-4DAC-436C0EAFDE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73686" y="171889"/>
            <a:ext cx="4147772" cy="2765181"/>
          </a:xfrm>
          <a:prstGeom prst="rect">
            <a:avLst/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73E77C08-EFFA-3DD3-840B-C0696513C713}"/>
              </a:ext>
            </a:extLst>
          </p:cNvPr>
          <p:cNvGrpSpPr/>
          <p:nvPr/>
        </p:nvGrpSpPr>
        <p:grpSpPr>
          <a:xfrm>
            <a:off x="3206217" y="3862717"/>
            <a:ext cx="6137306" cy="1271430"/>
            <a:chOff x="3206217" y="3875785"/>
            <a:chExt cx="6137306" cy="127143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912F4F4-728F-BDE8-DEAA-70C5A2F5AFA7}"/>
                </a:ext>
              </a:extLst>
            </p:cNvPr>
            <p:cNvGrpSpPr/>
            <p:nvPr/>
          </p:nvGrpSpPr>
          <p:grpSpPr>
            <a:xfrm>
              <a:off x="3206217" y="3875785"/>
              <a:ext cx="5943599" cy="1271430"/>
              <a:chOff x="3206217" y="3875785"/>
              <a:chExt cx="5943599" cy="127143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11A271B-5F59-A7DE-9CAF-4AAF527159D6}"/>
                  </a:ext>
                </a:extLst>
              </p:cNvPr>
              <p:cNvSpPr/>
              <p:nvPr/>
            </p:nvSpPr>
            <p:spPr>
              <a:xfrm>
                <a:off x="3206217" y="3896723"/>
                <a:ext cx="5943599" cy="1250492"/>
              </a:xfrm>
              <a:prstGeom prst="rect">
                <a:avLst/>
              </a:prstGeom>
              <a:solidFill>
                <a:srgbClr val="1F4E79"/>
              </a:solidFill>
              <a:ln w="25400">
                <a:solidFill>
                  <a:srgbClr val="1F4E7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2EC91E-1034-1CF1-9945-C2F2F8E31431}"/>
                  </a:ext>
                </a:extLst>
              </p:cNvPr>
              <p:cNvSpPr txBox="1"/>
              <p:nvPr/>
            </p:nvSpPr>
            <p:spPr>
              <a:xfrm>
                <a:off x="3798459" y="3875785"/>
                <a:ext cx="28896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rPr dirty="0"/>
                  <a:t>✨  Our Platform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E409653-9037-37A2-BDED-47A3A285B06A}"/>
                </a:ext>
              </a:extLst>
            </p:cNvPr>
            <p:cNvSpPr txBox="1"/>
            <p:nvPr/>
          </p:nvSpPr>
          <p:spPr>
            <a:xfrm>
              <a:off x="3812613" y="4272255"/>
              <a:ext cx="5530910" cy="846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300" b="1">
                  <a:solidFill>
                    <a:srgbClr val="1F4E79"/>
                  </a:solidFill>
                </a:defRPr>
              </a:pPr>
              <a:r>
                <a:rPr dirty="0">
                  <a:solidFill>
                    <a:schemeClr val="bg1"/>
                  </a:solidFill>
                </a:rPr>
                <a:t>🌐 </a:t>
              </a:r>
              <a:r>
                <a:rPr lang="en-US" b="1" i="0" dirty="0">
                  <a:solidFill>
                    <a:srgbClr val="F9FAFB"/>
                  </a:solidFill>
                  <a:effectLst/>
                  <a:latin typeface="quote-cjk-patch"/>
                </a:rPr>
                <a:t>One platform. One lifetime record. Everywhere.</a:t>
              </a:r>
            </a:p>
            <a:p>
              <a:pPr>
                <a:spcAft>
                  <a:spcPts val="600"/>
                </a:spcAft>
                <a:defRPr sz="1300" b="1">
                  <a:solidFill>
                    <a:srgbClr val="1F4E79"/>
                  </a:solidFill>
                </a:defRPr>
              </a:pPr>
              <a:r>
                <a:rPr dirty="0">
                  <a:solidFill>
                    <a:schemeClr val="bg1"/>
                  </a:solidFill>
                </a:rPr>
                <a:t>📶 </a:t>
              </a:r>
              <a:r>
                <a:rPr lang="en-US" dirty="0">
                  <a:solidFill>
                    <a:schemeClr val="bg1"/>
                  </a:solidFill>
                </a:rPr>
                <a:t>User device first design &amp; encrypted cloud storage.</a:t>
              </a:r>
              <a:endParaRPr dirty="0">
                <a:solidFill>
                  <a:schemeClr val="bg1"/>
                </a:solidFill>
              </a:endParaRPr>
            </a:p>
            <a:p>
              <a:pPr>
                <a:spcAft>
                  <a:spcPts val="600"/>
                </a:spcAft>
                <a:defRPr sz="1300" b="1">
                  <a:solidFill>
                    <a:srgbClr val="1F4E79"/>
                  </a:solidFill>
                </a:defRPr>
              </a:pPr>
              <a:r>
                <a:rPr dirty="0">
                  <a:solidFill>
                    <a:schemeClr val="bg1"/>
                  </a:solidFill>
                </a:rPr>
                <a:t>🚨 Emergency-</a:t>
              </a:r>
              <a:r>
                <a:rPr lang="en-US" dirty="0">
                  <a:solidFill>
                    <a:schemeClr val="bg1"/>
                  </a:solidFill>
                </a:rPr>
                <a:t>ready</a:t>
              </a:r>
              <a:r>
                <a:rPr dirty="0">
                  <a:solidFill>
                    <a:schemeClr val="bg1"/>
                  </a:solidFill>
                </a:rPr>
                <a:t> architecture with instant override protocols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70F6C4B-009D-13AA-AD4B-1214F190187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85" t="20761" r="51771" b="53090"/>
          <a:stretch>
            <a:fillRect/>
          </a:stretch>
        </p:blipFill>
        <p:spPr>
          <a:xfrm>
            <a:off x="232148" y="2627163"/>
            <a:ext cx="2675138" cy="230886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0C0F682-3A0F-B0B1-D064-DC7A74DBE0EE}"/>
              </a:ext>
            </a:extLst>
          </p:cNvPr>
          <p:cNvSpPr/>
          <p:nvPr/>
        </p:nvSpPr>
        <p:spPr>
          <a:xfrm>
            <a:off x="232148" y="4474029"/>
            <a:ext cx="2675138" cy="4975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"Centralized. Intelligent. Connected Healthcare.”</a:t>
            </a:r>
            <a:endParaRPr lang="en-US" sz="1400" dirty="0"/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988612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A760E9-960C-4DCC-0FAA-1F01C78A8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D8A2D3-91C0-C788-84E1-F6A264644905}"/>
              </a:ext>
            </a:extLst>
          </p:cNvPr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39FCC84-B4BE-D847-9FD8-0EF94504A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1371600" cy="13716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6CB9133-635E-9C9C-91BC-449B01449436}"/>
              </a:ext>
            </a:extLst>
          </p:cNvPr>
          <p:cNvSpPr/>
          <p:nvPr/>
        </p:nvSpPr>
        <p:spPr>
          <a:xfrm>
            <a:off x="0" y="286659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C3FB78E-7486-AA0B-3B59-A78AFD3304C0}"/>
              </a:ext>
            </a:extLst>
          </p:cNvPr>
          <p:cNvGrpSpPr/>
          <p:nvPr/>
        </p:nvGrpSpPr>
        <p:grpSpPr>
          <a:xfrm>
            <a:off x="3402880" y="515973"/>
            <a:ext cx="5219617" cy="3229381"/>
            <a:chOff x="4522005" y="1051560"/>
            <a:chExt cx="4256235" cy="3100001"/>
          </a:xfrm>
        </p:grpSpPr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6F9AD938-3E2D-DCBD-1CAC-D4B7AB231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1143000"/>
              <a:ext cx="228600" cy="228600"/>
            </a:xfrm>
            <a:prstGeom prst="rect">
              <a:avLst/>
            </a:prstGeom>
          </p:spPr>
        </p:pic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624ECA8E-1C8D-9EAC-D2BD-4AFA0EA2BC6E}"/>
                </a:ext>
              </a:extLst>
            </p:cNvPr>
            <p:cNvSpPr/>
            <p:nvPr/>
          </p:nvSpPr>
          <p:spPr>
            <a:xfrm>
              <a:off x="4526280" y="109728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E55CBC56-334C-8EEB-1A6B-43A0EF6C046B}"/>
                </a:ext>
              </a:extLst>
            </p:cNvPr>
            <p:cNvSpPr/>
            <p:nvPr/>
          </p:nvSpPr>
          <p:spPr>
            <a:xfrm>
              <a:off x="4937760" y="105156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Unified lifetime health record: </a:t>
              </a:r>
              <a:r>
                <a:rPr lang="en-US" sz="1600" dirty="0">
                  <a:solidFill>
                    <a:srgbClr val="1E293B"/>
                  </a:solidFill>
                </a:rPr>
                <a:t>from birth to golden years</a:t>
              </a:r>
              <a:endParaRPr lang="en-US" sz="1600" dirty="0"/>
            </a:p>
          </p:txBody>
        </p:sp>
        <p:pic>
          <p:nvPicPr>
            <p:cNvPr id="9" name="Image 2" descr="preencoded.png">
              <a:extLst>
                <a:ext uri="{FF2B5EF4-FFF2-40B4-BE49-F238E27FC236}">
                  <a16:creationId xmlns:a16="http://schemas.microsoft.com/office/drawing/2014/main" id="{8DAC001B-A550-3C31-FDC4-C1F9A5B49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1783080"/>
              <a:ext cx="228600" cy="228600"/>
            </a:xfrm>
            <a:prstGeom prst="rect">
              <a:avLst/>
            </a:prstGeom>
          </p:spPr>
        </p:pic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CCA5BFDA-BEF0-6A0A-EA59-58B792D177B2}"/>
                </a:ext>
              </a:extLst>
            </p:cNvPr>
            <p:cNvSpPr/>
            <p:nvPr/>
          </p:nvSpPr>
          <p:spPr>
            <a:xfrm>
              <a:off x="4526280" y="173736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BDC61F91-D49B-729C-C346-364B3AD8B2F2}"/>
                </a:ext>
              </a:extLst>
            </p:cNvPr>
            <p:cNvSpPr/>
            <p:nvPr/>
          </p:nvSpPr>
          <p:spPr>
            <a:xfrm>
              <a:off x="4937760" y="169164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Global UUID: </a:t>
              </a:r>
              <a:r>
                <a:rPr lang="en-US" sz="1600" dirty="0">
                  <a:solidFill>
                    <a:srgbClr val="1E293B"/>
                  </a:solidFill>
                </a:rPr>
                <a:t>every patient, hospital, doctor uniquely identified</a:t>
              </a:r>
              <a:endParaRPr lang="en-US" sz="1600" dirty="0"/>
            </a:p>
          </p:txBody>
        </p:sp>
        <p:pic>
          <p:nvPicPr>
            <p:cNvPr id="12" name="Image 3" descr="preencoded.png">
              <a:extLst>
                <a:ext uri="{FF2B5EF4-FFF2-40B4-BE49-F238E27FC236}">
                  <a16:creationId xmlns:a16="http://schemas.microsoft.com/office/drawing/2014/main" id="{F8CCB0C2-DB16-7BE7-3268-A89F83430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2423160"/>
              <a:ext cx="228600" cy="228600"/>
            </a:xfrm>
            <a:prstGeom prst="rect">
              <a:avLst/>
            </a:prstGeom>
          </p:spPr>
        </p:pic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330C5DFA-B6A0-06EF-875F-72B6FE5E4941}"/>
                </a:ext>
              </a:extLst>
            </p:cNvPr>
            <p:cNvSpPr/>
            <p:nvPr/>
          </p:nvSpPr>
          <p:spPr>
            <a:xfrm>
              <a:off x="4526280" y="237744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09D7618B-F42B-4050-E471-CB880B1F0DE9}"/>
                </a:ext>
              </a:extLst>
            </p:cNvPr>
            <p:cNvSpPr/>
            <p:nvPr/>
          </p:nvSpPr>
          <p:spPr>
            <a:xfrm>
              <a:off x="4937760" y="233172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Consent-first architecture: </a:t>
              </a:r>
              <a:r>
                <a:rPr lang="en-US" sz="1600" dirty="0">
                  <a:solidFill>
                    <a:srgbClr val="1E293B"/>
                  </a:solidFill>
                </a:rPr>
                <a:t>patient controls who sees what</a:t>
              </a:r>
              <a:endParaRPr lang="en-US" sz="1600" dirty="0"/>
            </a:p>
          </p:txBody>
        </p:sp>
        <p:pic>
          <p:nvPicPr>
            <p:cNvPr id="15" name="Image 4" descr="preencoded.png">
              <a:extLst>
                <a:ext uri="{FF2B5EF4-FFF2-40B4-BE49-F238E27FC236}">
                  <a16:creationId xmlns:a16="http://schemas.microsoft.com/office/drawing/2014/main" id="{F3D625CD-DACF-D990-AD0D-511B21C99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3063240"/>
              <a:ext cx="228600" cy="228600"/>
            </a:xfrm>
            <a:prstGeom prst="rect">
              <a:avLst/>
            </a:prstGeom>
          </p:spPr>
        </p:pic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6A4A02CC-6557-E456-5D27-106593E99013}"/>
                </a:ext>
              </a:extLst>
            </p:cNvPr>
            <p:cNvSpPr/>
            <p:nvPr/>
          </p:nvSpPr>
          <p:spPr>
            <a:xfrm>
              <a:off x="4526280" y="3017520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D6944EBA-8752-37F4-40A6-E9EF4597CBBB}"/>
                </a:ext>
              </a:extLst>
            </p:cNvPr>
            <p:cNvSpPr/>
            <p:nvPr/>
          </p:nvSpPr>
          <p:spPr>
            <a:xfrm>
              <a:off x="4937760" y="297180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Break‑glass emergency override: </a:t>
              </a:r>
              <a:r>
                <a:rPr lang="en-US" sz="1600" dirty="0">
                  <a:solidFill>
                    <a:srgbClr val="1E293B"/>
                  </a:solidFill>
                </a:rPr>
                <a:t>seconds matter, audit trails protect</a:t>
              </a:r>
              <a:endParaRPr lang="en-US" sz="1600" dirty="0"/>
            </a:p>
          </p:txBody>
        </p:sp>
        <p:pic>
          <p:nvPicPr>
            <p:cNvPr id="18" name="Image 5" descr="preencoded.png">
              <a:extLst>
                <a:ext uri="{FF2B5EF4-FFF2-40B4-BE49-F238E27FC236}">
                  <a16:creationId xmlns:a16="http://schemas.microsoft.com/office/drawing/2014/main" id="{417BB62B-1A8B-8594-972D-C8FE45B9C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3703320"/>
              <a:ext cx="228600" cy="228600"/>
            </a:xfrm>
            <a:prstGeom prst="rect">
              <a:avLst/>
            </a:prstGeom>
          </p:spPr>
        </p:pic>
        <p:sp>
          <p:nvSpPr>
            <p:cNvPr id="26" name="Shape 9">
              <a:extLst>
                <a:ext uri="{FF2B5EF4-FFF2-40B4-BE49-F238E27FC236}">
                  <a16:creationId xmlns:a16="http://schemas.microsoft.com/office/drawing/2014/main" id="{ED14DBBD-4AA2-CD16-6C27-EAC10384D7B6}"/>
                </a:ext>
              </a:extLst>
            </p:cNvPr>
            <p:cNvSpPr/>
            <p:nvPr/>
          </p:nvSpPr>
          <p:spPr>
            <a:xfrm>
              <a:off x="4522005" y="3740085"/>
              <a:ext cx="320040" cy="320040"/>
            </a:xfrm>
            <a:prstGeom prst="ellipse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306BB41B-EDBF-4148-6444-DC14478C2CFC}"/>
                </a:ext>
              </a:extLst>
            </p:cNvPr>
            <p:cNvSpPr/>
            <p:nvPr/>
          </p:nvSpPr>
          <p:spPr>
            <a:xfrm>
              <a:off x="4933484" y="3694360"/>
              <a:ext cx="3840480" cy="4572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just">
                <a:buNone/>
              </a:pPr>
              <a:r>
                <a:rPr lang="en-US" sz="1600" b="1" dirty="0">
                  <a:solidFill>
                    <a:srgbClr val="1E293B"/>
                  </a:solidFill>
                </a:rPr>
                <a:t>Break‑glass emergency override: </a:t>
              </a:r>
              <a:r>
                <a:rPr lang="en-US" sz="1600" dirty="0">
                  <a:solidFill>
                    <a:srgbClr val="1E293B"/>
                  </a:solidFill>
                </a:rPr>
                <a:t>seconds matter, audit trails protect</a:t>
              </a:r>
              <a:endParaRPr lang="en-US" sz="1600" dirty="0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8600DA50-B521-3B74-D3A7-65EBBDD538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73686" y="171889"/>
            <a:ext cx="4147772" cy="2765181"/>
          </a:xfrm>
          <a:prstGeom prst="rect">
            <a:avLst/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7DE6E10-78D5-A6A7-C98B-48E558EC27F0}"/>
              </a:ext>
            </a:extLst>
          </p:cNvPr>
          <p:cNvGrpSpPr/>
          <p:nvPr/>
        </p:nvGrpSpPr>
        <p:grpSpPr>
          <a:xfrm>
            <a:off x="3206217" y="3862717"/>
            <a:ext cx="6137306" cy="1271430"/>
            <a:chOff x="3206217" y="3875785"/>
            <a:chExt cx="6137306" cy="127143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BA180C0-5EEE-3841-2D98-FD45E6BB9D11}"/>
                </a:ext>
              </a:extLst>
            </p:cNvPr>
            <p:cNvGrpSpPr/>
            <p:nvPr/>
          </p:nvGrpSpPr>
          <p:grpSpPr>
            <a:xfrm>
              <a:off x="3206217" y="3875785"/>
              <a:ext cx="5943599" cy="1271430"/>
              <a:chOff x="3206217" y="3875785"/>
              <a:chExt cx="5943599" cy="127143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8557D1E-2C44-89D0-6853-8C139A1DBCFE}"/>
                  </a:ext>
                </a:extLst>
              </p:cNvPr>
              <p:cNvSpPr/>
              <p:nvPr/>
            </p:nvSpPr>
            <p:spPr>
              <a:xfrm>
                <a:off x="3206217" y="3896723"/>
                <a:ext cx="5943599" cy="1250492"/>
              </a:xfrm>
              <a:prstGeom prst="rect">
                <a:avLst/>
              </a:prstGeom>
              <a:solidFill>
                <a:srgbClr val="1F4E79"/>
              </a:solidFill>
              <a:ln w="25400">
                <a:solidFill>
                  <a:srgbClr val="1F4E7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81A745-C6B3-18EE-8DC6-3C0D5B06CFF5}"/>
                  </a:ext>
                </a:extLst>
              </p:cNvPr>
              <p:cNvSpPr txBox="1"/>
              <p:nvPr/>
            </p:nvSpPr>
            <p:spPr>
              <a:xfrm>
                <a:off x="3798459" y="3875785"/>
                <a:ext cx="28896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rPr dirty="0"/>
                  <a:t>✨  Our Platform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76340B4-7B57-0644-55EE-44E5E23E874D}"/>
                </a:ext>
              </a:extLst>
            </p:cNvPr>
            <p:cNvSpPr txBox="1"/>
            <p:nvPr/>
          </p:nvSpPr>
          <p:spPr>
            <a:xfrm>
              <a:off x="3812613" y="4272255"/>
              <a:ext cx="5530910" cy="846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300" b="1">
                  <a:solidFill>
                    <a:srgbClr val="1F4E79"/>
                  </a:solidFill>
                </a:defRPr>
              </a:pPr>
              <a:r>
                <a:rPr dirty="0">
                  <a:solidFill>
                    <a:schemeClr val="bg1"/>
                  </a:solidFill>
                </a:rPr>
                <a:t>🌐 </a:t>
              </a:r>
              <a:r>
                <a:rPr lang="en-US" b="1" i="0" dirty="0">
                  <a:solidFill>
                    <a:srgbClr val="F9FAFB"/>
                  </a:solidFill>
                  <a:effectLst/>
                  <a:latin typeface="quote-cjk-patch"/>
                </a:rPr>
                <a:t>One platform. One lifetime record. Everywhere.</a:t>
              </a:r>
            </a:p>
            <a:p>
              <a:pPr>
                <a:spcAft>
                  <a:spcPts val="600"/>
                </a:spcAft>
                <a:defRPr sz="1300" b="1">
                  <a:solidFill>
                    <a:srgbClr val="1F4E79"/>
                  </a:solidFill>
                </a:defRPr>
              </a:pPr>
              <a:r>
                <a:rPr dirty="0">
                  <a:solidFill>
                    <a:schemeClr val="bg1"/>
                  </a:solidFill>
                </a:rPr>
                <a:t>📶 </a:t>
              </a:r>
              <a:r>
                <a:rPr lang="en-US" dirty="0">
                  <a:solidFill>
                    <a:schemeClr val="bg1"/>
                  </a:solidFill>
                </a:rPr>
                <a:t>User device first design &amp; encrypted cloud storage.</a:t>
              </a:r>
              <a:endParaRPr dirty="0">
                <a:solidFill>
                  <a:schemeClr val="bg1"/>
                </a:solidFill>
              </a:endParaRPr>
            </a:p>
            <a:p>
              <a:pPr>
                <a:spcAft>
                  <a:spcPts val="600"/>
                </a:spcAft>
                <a:defRPr sz="1300" b="1">
                  <a:solidFill>
                    <a:srgbClr val="1F4E79"/>
                  </a:solidFill>
                </a:defRPr>
              </a:pPr>
              <a:r>
                <a:rPr dirty="0">
                  <a:solidFill>
                    <a:schemeClr val="bg1"/>
                  </a:solidFill>
                </a:rPr>
                <a:t>🚨 Emergency-</a:t>
              </a:r>
              <a:r>
                <a:rPr lang="en-US" dirty="0">
                  <a:solidFill>
                    <a:schemeClr val="bg1"/>
                  </a:solidFill>
                </a:rPr>
                <a:t>ready</a:t>
              </a:r>
              <a:r>
                <a:rPr dirty="0">
                  <a:solidFill>
                    <a:schemeClr val="bg1"/>
                  </a:solidFill>
                </a:rPr>
                <a:t> architecture with instant override protocols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6E7A9D3-C876-DBD0-63A5-8530304F7A8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85" t="20761" r="51771" b="53090"/>
          <a:stretch>
            <a:fillRect/>
          </a:stretch>
        </p:blipFill>
        <p:spPr>
          <a:xfrm>
            <a:off x="232148" y="2627163"/>
            <a:ext cx="2675138" cy="230886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E6B00DA-BE91-1A1D-DEB6-95612CF3E426}"/>
              </a:ext>
            </a:extLst>
          </p:cNvPr>
          <p:cNvSpPr/>
          <p:nvPr/>
        </p:nvSpPr>
        <p:spPr>
          <a:xfrm>
            <a:off x="232148" y="4474029"/>
            <a:ext cx="2675138" cy="4975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"Centralized. Intelligent. Connected Healthcare.”</a:t>
            </a:r>
            <a:endParaRPr lang="en-US" sz="1400" dirty="0"/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01167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TRACTION &amp; VALIDATION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199" y="868680"/>
            <a:ext cx="5584371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D885BE-50DE-DBAE-5094-989620B2CEBD}"/>
              </a:ext>
            </a:extLst>
          </p:cNvPr>
          <p:cNvGrpSpPr/>
          <p:nvPr/>
        </p:nvGrpSpPr>
        <p:grpSpPr>
          <a:xfrm>
            <a:off x="457200" y="1607723"/>
            <a:ext cx="5138928" cy="2542032"/>
            <a:chOff x="457200" y="1607723"/>
            <a:chExt cx="5138928" cy="2542032"/>
          </a:xfrm>
        </p:grpSpPr>
        <p:sp>
          <p:nvSpPr>
            <p:cNvPr id="36" name="Text 2">
              <a:extLst>
                <a:ext uri="{FF2B5EF4-FFF2-40B4-BE49-F238E27FC236}">
                  <a16:creationId xmlns:a16="http://schemas.microsoft.com/office/drawing/2014/main" id="{787EEE7A-3FDA-2068-6CAD-E2DAEE99CB36}"/>
                </a:ext>
              </a:extLst>
            </p:cNvPr>
            <p:cNvSpPr/>
            <p:nvPr/>
          </p:nvSpPr>
          <p:spPr>
            <a:xfrm>
              <a:off x="457200" y="1607723"/>
              <a:ext cx="3886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Problem Validation</a:t>
              </a:r>
              <a:endParaRPr lang="en-US" sz="1800" dirty="0"/>
            </a:p>
          </p:txBody>
        </p:sp>
        <p:sp>
          <p:nvSpPr>
            <p:cNvPr id="37" name="Text 3">
              <a:extLst>
                <a:ext uri="{FF2B5EF4-FFF2-40B4-BE49-F238E27FC236}">
                  <a16:creationId xmlns:a16="http://schemas.microsoft.com/office/drawing/2014/main" id="{26C51347-A962-6CBD-8592-24EE0E79BE5A}"/>
                </a:ext>
              </a:extLst>
            </p:cNvPr>
            <p:cNvSpPr/>
            <p:nvPr/>
          </p:nvSpPr>
          <p:spPr>
            <a:xfrm>
              <a:off x="457200" y="2320955"/>
              <a:ext cx="434340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Majority have lost prescriptions or medical report at least once</a:t>
              </a:r>
              <a:endParaRPr lang="en-US" sz="1200" dirty="0"/>
            </a:p>
            <a:p>
              <a:pPr marL="0" indent="0">
                <a:lnSpc>
                  <a:spcPts val="1800"/>
                </a:lnSpc>
                <a:buNone/>
              </a:pPr>
              <a:endParaRPr lang="en-US" sz="1200" dirty="0"/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90% + face difficulty accessing medical history when visiting new 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  hospital</a:t>
              </a:r>
            </a:p>
            <a:p>
              <a:pPr marL="0" indent="0">
                <a:lnSpc>
                  <a:spcPts val="1800"/>
                </a:lnSpc>
                <a:buNone/>
              </a:pPr>
              <a:endPara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Overall satisfaction with current medical record keeping system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  is low to very low</a:t>
              </a:r>
              <a:endParaRPr lang="en-US" sz="1200" dirty="0"/>
            </a:p>
          </p:txBody>
        </p:sp>
        <p:sp>
          <p:nvSpPr>
            <p:cNvPr id="41" name="Text 12">
              <a:extLst>
                <a:ext uri="{FF2B5EF4-FFF2-40B4-BE49-F238E27FC236}">
                  <a16:creationId xmlns:a16="http://schemas.microsoft.com/office/drawing/2014/main" id="{6942CA33-F4C3-13DD-6FED-B4A225A212A4}"/>
                </a:ext>
              </a:extLst>
            </p:cNvPr>
            <p:cNvSpPr/>
            <p:nvPr/>
          </p:nvSpPr>
          <p:spPr>
            <a:xfrm>
              <a:off x="457200" y="1987199"/>
              <a:ext cx="5138928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Conducted a Google form survey</a:t>
              </a:r>
              <a:endParaRPr lang="en-US" sz="1400" b="1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EA60CB8-76EB-5114-3519-C857E7F49993}"/>
              </a:ext>
            </a:extLst>
          </p:cNvPr>
          <p:cNvGrpSpPr/>
          <p:nvPr/>
        </p:nvGrpSpPr>
        <p:grpSpPr>
          <a:xfrm>
            <a:off x="4800600" y="1607723"/>
            <a:ext cx="5138928" cy="2793914"/>
            <a:chOff x="4800600" y="1607723"/>
            <a:chExt cx="5138928" cy="2793914"/>
          </a:xfrm>
        </p:grpSpPr>
        <p:sp>
          <p:nvSpPr>
            <p:cNvPr id="38" name="Text 4">
              <a:extLst>
                <a:ext uri="{FF2B5EF4-FFF2-40B4-BE49-F238E27FC236}">
                  <a16:creationId xmlns:a16="http://schemas.microsoft.com/office/drawing/2014/main" id="{94702798-36AC-94FE-CB72-D79CF45A148D}"/>
                </a:ext>
              </a:extLst>
            </p:cNvPr>
            <p:cNvSpPr/>
            <p:nvPr/>
          </p:nvSpPr>
          <p:spPr>
            <a:xfrm>
              <a:off x="4800600" y="1607723"/>
              <a:ext cx="3886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 Validation</a:t>
              </a:r>
              <a:endParaRPr lang="en-US" sz="1800" dirty="0"/>
            </a:p>
          </p:txBody>
        </p:sp>
        <p:sp>
          <p:nvSpPr>
            <p:cNvPr id="39" name="Text 5">
              <a:extLst>
                <a:ext uri="{FF2B5EF4-FFF2-40B4-BE49-F238E27FC236}">
                  <a16:creationId xmlns:a16="http://schemas.microsoft.com/office/drawing/2014/main" id="{B44559C4-CEFB-524E-A0FC-61D4316E74F8}"/>
                </a:ext>
              </a:extLst>
            </p:cNvPr>
            <p:cNvSpPr/>
            <p:nvPr/>
          </p:nvSpPr>
          <p:spPr>
            <a:xfrm>
              <a:off x="4800600" y="2168167"/>
              <a:ext cx="3685032" cy="9465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Centralized digital medical records</a:t>
              </a:r>
              <a:endParaRPr lang="en-US" sz="1200" dirty="0"/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Easy access to medical history across hospitals</a:t>
              </a:r>
              <a:endParaRPr lang="en-US" sz="1200" dirty="0"/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1A77EBBC-0A7B-8A07-CF13-90EEB2039B10}"/>
                </a:ext>
              </a:extLst>
            </p:cNvPr>
            <p:cNvSpPr/>
            <p:nvPr/>
          </p:nvSpPr>
          <p:spPr>
            <a:xfrm>
              <a:off x="4800600" y="1981006"/>
              <a:ext cx="5138928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Survey responses indicate strong demand for:</a:t>
              </a:r>
              <a:endParaRPr lang="en-US" sz="1400" b="1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92471BE6-84B0-6DCF-9051-5A293B09BC1D}"/>
                </a:ext>
              </a:extLst>
            </p:cNvPr>
            <p:cNvSpPr/>
            <p:nvPr/>
          </p:nvSpPr>
          <p:spPr>
            <a:xfrm>
              <a:off x="4800600" y="3075238"/>
              <a:ext cx="4050792" cy="37989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Informal discussions with peers and healthcare worker confirm:</a:t>
              </a:r>
              <a:endParaRPr lang="en-US" sz="1400" b="1" dirty="0"/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0E04CFB6-DF6D-DAE0-397D-9E8958D083A0}"/>
                </a:ext>
              </a:extLst>
            </p:cNvPr>
            <p:cNvSpPr/>
            <p:nvPr/>
          </p:nvSpPr>
          <p:spPr>
            <a:xfrm>
              <a:off x="4800600" y="3455136"/>
              <a:ext cx="3685032" cy="9465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Repeated diagnostics are common due to missing   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  records</a:t>
              </a:r>
              <a:endParaRPr lang="en-US" sz="1200" dirty="0"/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Digital access would save time, money, and effort</a:t>
              </a:r>
              <a:endParaRPr lang="en-US" sz="1200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625" y="5323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SOLUTION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45624" y="556155"/>
            <a:ext cx="5726575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-4087164" y="67942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Core Components</a:t>
            </a:r>
            <a:endParaRPr lang="en-US" sz="2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98F4EE2-473B-046B-20FF-6C3368EEE312}"/>
              </a:ext>
            </a:extLst>
          </p:cNvPr>
          <p:cNvGrpSpPr/>
          <p:nvPr/>
        </p:nvGrpSpPr>
        <p:grpSpPr>
          <a:xfrm>
            <a:off x="-3989776" y="1064524"/>
            <a:ext cx="3840480" cy="502920"/>
            <a:chOff x="490765" y="894713"/>
            <a:chExt cx="3840480" cy="502920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Patient are global</a:t>
              </a:r>
              <a:endParaRPr lang="en-US" sz="14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One UUID, One record</a:t>
              </a:r>
              <a:endParaRPr lang="en-US" sz="1100" dirty="0"/>
            </a:p>
          </p:txBody>
        </p:sp>
      </p:grpSp>
      <p:sp>
        <p:nvSpPr>
          <p:cNvPr id="25" name="Shape 18"/>
          <p:cNvSpPr/>
          <p:nvPr/>
        </p:nvSpPr>
        <p:spPr>
          <a:xfrm>
            <a:off x="4834745" y="876195"/>
            <a:ext cx="3840480" cy="203019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/>
          <a:lstStyle/>
          <a:p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3F8AF18-7F85-8822-6261-03391BFF9EAA}"/>
              </a:ext>
            </a:extLst>
          </p:cNvPr>
          <p:cNvGrpSpPr/>
          <p:nvPr/>
        </p:nvGrpSpPr>
        <p:grpSpPr>
          <a:xfrm>
            <a:off x="4834744" y="3004276"/>
            <a:ext cx="3695299" cy="2014148"/>
            <a:chOff x="1582106" y="1595193"/>
            <a:chExt cx="3474720" cy="2344242"/>
          </a:xfrm>
        </p:grpSpPr>
        <p:pic>
          <p:nvPicPr>
            <p:cNvPr id="26" name="Image 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51226" y="1595193"/>
              <a:ext cx="677774" cy="677774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9E8FF62-082B-0F2D-0D43-ECFF3DD3561A}"/>
                </a:ext>
              </a:extLst>
            </p:cNvPr>
            <p:cNvGrpSpPr/>
            <p:nvPr/>
          </p:nvGrpSpPr>
          <p:grpSpPr>
            <a:xfrm>
              <a:off x="1582106" y="2247795"/>
              <a:ext cx="3474720" cy="1691640"/>
              <a:chOff x="5017625" y="2247795"/>
              <a:chExt cx="3474720" cy="1691640"/>
            </a:xfrm>
          </p:grpSpPr>
          <p:sp>
            <p:nvSpPr>
              <p:cNvPr id="28" name="Shape 20"/>
              <p:cNvSpPr/>
              <p:nvPr/>
            </p:nvSpPr>
            <p:spPr>
              <a:xfrm>
                <a:off x="5200505" y="27964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Shape 22"/>
              <p:cNvSpPr/>
              <p:nvPr/>
            </p:nvSpPr>
            <p:spPr>
              <a:xfrm>
                <a:off x="5200505" y="32536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Shape 24"/>
              <p:cNvSpPr/>
              <p:nvPr/>
            </p:nvSpPr>
            <p:spPr>
              <a:xfrm>
                <a:off x="5200505" y="37108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0FC5B2B-43FC-2627-F10D-CBAE14450A9C}"/>
                  </a:ext>
                </a:extLst>
              </p:cNvPr>
              <p:cNvGrpSpPr/>
              <p:nvPr/>
            </p:nvGrpSpPr>
            <p:grpSpPr>
              <a:xfrm>
                <a:off x="5017625" y="2247795"/>
                <a:ext cx="3474720" cy="1691640"/>
                <a:chOff x="5017625" y="2247795"/>
                <a:chExt cx="3474720" cy="1691640"/>
              </a:xfrm>
            </p:grpSpPr>
            <p:sp>
              <p:nvSpPr>
                <p:cNvPr id="27" name="Text 19"/>
                <p:cNvSpPr/>
                <p:nvPr/>
              </p:nvSpPr>
              <p:spPr>
                <a:xfrm>
                  <a:off x="5017625" y="2247795"/>
                  <a:ext cx="347472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b="1" dirty="0">
                      <a:solidFill>
                        <a:schemeClr val="accent6"/>
                      </a:solidFill>
                    </a:rPr>
                    <a:t>Security Foundation</a:t>
                  </a:r>
                  <a:endParaRPr lang="en-US" sz="2200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29" name="Text 21"/>
                <p:cNvSpPr/>
                <p:nvPr/>
              </p:nvSpPr>
              <p:spPr>
                <a:xfrm>
                  <a:off x="5566265" y="27507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End-to-end encryption</a:t>
                  </a:r>
                </a:p>
              </p:txBody>
            </p:sp>
            <p:sp>
              <p:nvSpPr>
                <p:cNvPr id="31" name="Text 23"/>
                <p:cNvSpPr/>
                <p:nvPr/>
              </p:nvSpPr>
              <p:spPr>
                <a:xfrm>
                  <a:off x="5566265" y="32079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Role-based access control</a:t>
                  </a:r>
                </a:p>
              </p:txBody>
            </p:sp>
            <p:sp>
              <p:nvSpPr>
                <p:cNvPr id="33" name="Text 25"/>
                <p:cNvSpPr/>
                <p:nvPr/>
              </p:nvSpPr>
              <p:spPr>
                <a:xfrm>
                  <a:off x="5566265" y="36651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Patient-controlled permissions</a:t>
                  </a:r>
                </a:p>
              </p:txBody>
            </p:sp>
          </p:grp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C39FC50-41CC-6C21-5F3D-5F757C41A545}"/>
              </a:ext>
            </a:extLst>
          </p:cNvPr>
          <p:cNvGrpSpPr/>
          <p:nvPr/>
        </p:nvGrpSpPr>
        <p:grpSpPr>
          <a:xfrm>
            <a:off x="-3989776" y="1824346"/>
            <a:ext cx="3840480" cy="502920"/>
            <a:chOff x="490765" y="894713"/>
            <a:chExt cx="3840480" cy="502920"/>
          </a:xfrm>
        </p:grpSpPr>
        <p:pic>
          <p:nvPicPr>
            <p:cNvPr id="40" name="Image 0" descr="preencoded.png">
              <a:extLst>
                <a:ext uri="{FF2B5EF4-FFF2-40B4-BE49-F238E27FC236}">
                  <a16:creationId xmlns:a16="http://schemas.microsoft.com/office/drawing/2014/main" id="{5005509D-460A-6EE0-2AFF-6FDE84EFF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1" name="Text 3">
              <a:extLst>
                <a:ext uri="{FF2B5EF4-FFF2-40B4-BE49-F238E27FC236}">
                  <a16:creationId xmlns:a16="http://schemas.microsoft.com/office/drawing/2014/main" id="{4803FCE0-0B03-AD79-3283-47D8EE34DF46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Doctors, Nurses, Labs are local</a:t>
              </a:r>
              <a:endParaRPr lang="en-US" sz="1400" dirty="0"/>
            </a:p>
          </p:txBody>
        </p:sp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D26BD0A2-DE55-036F-FF79-A646F33DEAE5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Must belong to a verified hospital/organization</a:t>
              </a:r>
              <a:endParaRPr lang="en-US" sz="11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373CA06-6D14-6C5E-0EBD-915769FD6642}"/>
              </a:ext>
            </a:extLst>
          </p:cNvPr>
          <p:cNvGrpSpPr/>
          <p:nvPr/>
        </p:nvGrpSpPr>
        <p:grpSpPr>
          <a:xfrm>
            <a:off x="-3989776" y="2584168"/>
            <a:ext cx="3944078" cy="502920"/>
            <a:chOff x="490765" y="894713"/>
            <a:chExt cx="3840480" cy="502920"/>
          </a:xfrm>
        </p:grpSpPr>
        <p:pic>
          <p:nvPicPr>
            <p:cNvPr id="44" name="Image 0" descr="preencoded.png">
              <a:extLst>
                <a:ext uri="{FF2B5EF4-FFF2-40B4-BE49-F238E27FC236}">
                  <a16:creationId xmlns:a16="http://schemas.microsoft.com/office/drawing/2014/main" id="{4B99899C-E8B6-2A28-71E9-B98DD0EA7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5" name="Text 3">
              <a:extLst>
                <a:ext uri="{FF2B5EF4-FFF2-40B4-BE49-F238E27FC236}">
                  <a16:creationId xmlns:a16="http://schemas.microsoft.com/office/drawing/2014/main" id="{F4E3DB50-0998-0D25-1FA0-F8142D3BEC25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9D26EB47-AB60-9A78-7F48-4E276C88E2C0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Approves every non-patient user (zero trust onboarding)</a:t>
              </a:r>
              <a:endParaRPr lang="en-US" sz="11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6EB888C-5E21-E13D-EF72-0146A00CCD7F}"/>
              </a:ext>
            </a:extLst>
          </p:cNvPr>
          <p:cNvGrpSpPr/>
          <p:nvPr/>
        </p:nvGrpSpPr>
        <p:grpSpPr>
          <a:xfrm>
            <a:off x="-3989776" y="3343990"/>
            <a:ext cx="3840480" cy="502920"/>
            <a:chOff x="490765" y="894713"/>
            <a:chExt cx="3840480" cy="502920"/>
          </a:xfrm>
        </p:grpSpPr>
        <p:pic>
          <p:nvPicPr>
            <p:cNvPr id="48" name="Image 0" descr="preencoded.png">
              <a:extLst>
                <a:ext uri="{FF2B5EF4-FFF2-40B4-BE49-F238E27FC236}">
                  <a16:creationId xmlns:a16="http://schemas.microsoft.com/office/drawing/2014/main" id="{F97BE3A9-50E3-5A8B-D50A-6398B31B1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9" name="Text 3">
              <a:extLst>
                <a:ext uri="{FF2B5EF4-FFF2-40B4-BE49-F238E27FC236}">
                  <a16:creationId xmlns:a16="http://schemas.microsoft.com/office/drawing/2014/main" id="{E98642A8-4498-B6BE-CC09-D215DBA877F9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All Access Audited</a:t>
              </a:r>
              <a:endParaRPr lang="en-US" sz="1400" dirty="0"/>
            </a:p>
          </p:txBody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BA9C8647-FB4C-F8AD-D767-5E2C9939BD70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Who? What? When? Why? Immutable logs.</a:t>
              </a:r>
              <a:endParaRPr lang="en-US" sz="1100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61471-11C8-3429-2479-FF28A23F9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D65969-B6D3-7BBD-A16D-60D3F159EB69}"/>
              </a:ext>
            </a:extLst>
          </p:cNvPr>
          <p:cNvSpPr/>
          <p:nvPr/>
        </p:nvSpPr>
        <p:spPr>
          <a:xfrm>
            <a:off x="445625" y="5323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SOLUTION ARCHITECTURE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5E5101-29F5-BB77-59D1-D128907EB16E}"/>
              </a:ext>
            </a:extLst>
          </p:cNvPr>
          <p:cNvSpPr/>
          <p:nvPr/>
        </p:nvSpPr>
        <p:spPr>
          <a:xfrm>
            <a:off x="445624" y="556155"/>
            <a:ext cx="5726575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3AAFD3-B007-AD79-7D09-3A834AE9B696}"/>
              </a:ext>
            </a:extLst>
          </p:cNvPr>
          <p:cNvSpPr/>
          <p:nvPr/>
        </p:nvSpPr>
        <p:spPr>
          <a:xfrm>
            <a:off x="439104" y="67942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Core Components</a:t>
            </a:r>
            <a:endParaRPr lang="en-US" sz="2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5017D-6CD2-FAA6-5BDC-F226F70B73F1}"/>
              </a:ext>
            </a:extLst>
          </p:cNvPr>
          <p:cNvGrpSpPr/>
          <p:nvPr/>
        </p:nvGrpSpPr>
        <p:grpSpPr>
          <a:xfrm>
            <a:off x="-3989776" y="1064524"/>
            <a:ext cx="3840480" cy="502920"/>
            <a:chOff x="490765" y="894713"/>
            <a:chExt cx="3840480" cy="502920"/>
          </a:xfrm>
        </p:grpSpPr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58524318-53D1-8975-186D-FE3CCDA4B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830B676C-5BC7-0B8D-8319-BCBC35533442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Patient are global</a:t>
              </a:r>
              <a:endParaRPr lang="en-US" sz="1400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03F841D1-8647-FD61-D692-E417828CE699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One UUID, One record</a:t>
              </a:r>
              <a:endParaRPr lang="en-US" sz="1100" dirty="0"/>
            </a:p>
          </p:txBody>
        </p:sp>
      </p:grpSp>
      <p:sp>
        <p:nvSpPr>
          <p:cNvPr id="25" name="Shape 18">
            <a:extLst>
              <a:ext uri="{FF2B5EF4-FFF2-40B4-BE49-F238E27FC236}">
                <a16:creationId xmlns:a16="http://schemas.microsoft.com/office/drawing/2014/main" id="{E0AEA923-57F0-902F-665B-0E7D1D764DCF}"/>
              </a:ext>
            </a:extLst>
          </p:cNvPr>
          <p:cNvSpPr/>
          <p:nvPr/>
        </p:nvSpPr>
        <p:spPr>
          <a:xfrm>
            <a:off x="4834745" y="876195"/>
            <a:ext cx="3840480" cy="203019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/>
          <a:lstStyle/>
          <a:p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305CCF4-773A-A294-273E-E1F0574149C2}"/>
              </a:ext>
            </a:extLst>
          </p:cNvPr>
          <p:cNvGrpSpPr/>
          <p:nvPr/>
        </p:nvGrpSpPr>
        <p:grpSpPr>
          <a:xfrm>
            <a:off x="4834744" y="3004276"/>
            <a:ext cx="3695299" cy="2014148"/>
            <a:chOff x="1582106" y="1595193"/>
            <a:chExt cx="3474720" cy="2344242"/>
          </a:xfrm>
        </p:grpSpPr>
        <p:pic>
          <p:nvPicPr>
            <p:cNvPr id="26" name="Image 5" descr="preencoded.png">
              <a:extLst>
                <a:ext uri="{FF2B5EF4-FFF2-40B4-BE49-F238E27FC236}">
                  <a16:creationId xmlns:a16="http://schemas.microsoft.com/office/drawing/2014/main" id="{BFA5F7A5-FE1F-0009-8419-ED887AD3E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51226" y="1595193"/>
              <a:ext cx="677774" cy="677774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60BB89A-5DC3-6217-80B7-F0EC2E474DC8}"/>
                </a:ext>
              </a:extLst>
            </p:cNvPr>
            <p:cNvGrpSpPr/>
            <p:nvPr/>
          </p:nvGrpSpPr>
          <p:grpSpPr>
            <a:xfrm>
              <a:off x="1582106" y="2247795"/>
              <a:ext cx="3474720" cy="1691640"/>
              <a:chOff x="5017625" y="2247795"/>
              <a:chExt cx="3474720" cy="1691640"/>
            </a:xfrm>
          </p:grpSpPr>
          <p:sp>
            <p:nvSpPr>
              <p:cNvPr id="28" name="Shape 20">
                <a:extLst>
                  <a:ext uri="{FF2B5EF4-FFF2-40B4-BE49-F238E27FC236}">
                    <a16:creationId xmlns:a16="http://schemas.microsoft.com/office/drawing/2014/main" id="{AA195B1D-5EE0-AB7B-14DD-55571B6CB72D}"/>
                  </a:ext>
                </a:extLst>
              </p:cNvPr>
              <p:cNvSpPr/>
              <p:nvPr/>
            </p:nvSpPr>
            <p:spPr>
              <a:xfrm>
                <a:off x="5200505" y="27964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Shape 22">
                <a:extLst>
                  <a:ext uri="{FF2B5EF4-FFF2-40B4-BE49-F238E27FC236}">
                    <a16:creationId xmlns:a16="http://schemas.microsoft.com/office/drawing/2014/main" id="{ECDF0E84-7B8D-C6E3-2B61-E061CBB1AD16}"/>
                  </a:ext>
                </a:extLst>
              </p:cNvPr>
              <p:cNvSpPr/>
              <p:nvPr/>
            </p:nvSpPr>
            <p:spPr>
              <a:xfrm>
                <a:off x="5200505" y="32536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Shape 24">
                <a:extLst>
                  <a:ext uri="{FF2B5EF4-FFF2-40B4-BE49-F238E27FC236}">
                    <a16:creationId xmlns:a16="http://schemas.microsoft.com/office/drawing/2014/main" id="{F1A15A0E-5C93-32C8-4EBC-85D69E4DB0A2}"/>
                  </a:ext>
                </a:extLst>
              </p:cNvPr>
              <p:cNvSpPr/>
              <p:nvPr/>
            </p:nvSpPr>
            <p:spPr>
              <a:xfrm>
                <a:off x="5200505" y="37108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3DBEE72-2EAC-6380-B27A-9C33788C9719}"/>
                  </a:ext>
                </a:extLst>
              </p:cNvPr>
              <p:cNvGrpSpPr/>
              <p:nvPr/>
            </p:nvGrpSpPr>
            <p:grpSpPr>
              <a:xfrm>
                <a:off x="5017625" y="2247795"/>
                <a:ext cx="3474720" cy="1691640"/>
                <a:chOff x="5017625" y="2247795"/>
                <a:chExt cx="3474720" cy="1691640"/>
              </a:xfrm>
            </p:grpSpPr>
            <p:sp>
              <p:nvSpPr>
                <p:cNvPr id="27" name="Text 19">
                  <a:extLst>
                    <a:ext uri="{FF2B5EF4-FFF2-40B4-BE49-F238E27FC236}">
                      <a16:creationId xmlns:a16="http://schemas.microsoft.com/office/drawing/2014/main" id="{5101387A-239A-5795-CF43-8D719C1D9348}"/>
                    </a:ext>
                  </a:extLst>
                </p:cNvPr>
                <p:cNvSpPr/>
                <p:nvPr/>
              </p:nvSpPr>
              <p:spPr>
                <a:xfrm>
                  <a:off x="5017625" y="2247795"/>
                  <a:ext cx="347472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b="1" dirty="0">
                      <a:solidFill>
                        <a:schemeClr val="accent6"/>
                      </a:solidFill>
                    </a:rPr>
                    <a:t>Security Foundation</a:t>
                  </a:r>
                  <a:endParaRPr lang="en-US" sz="2200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29" name="Text 21">
                  <a:extLst>
                    <a:ext uri="{FF2B5EF4-FFF2-40B4-BE49-F238E27FC236}">
                      <a16:creationId xmlns:a16="http://schemas.microsoft.com/office/drawing/2014/main" id="{05247FC4-6547-A2B0-E578-D783C8E58728}"/>
                    </a:ext>
                  </a:extLst>
                </p:cNvPr>
                <p:cNvSpPr/>
                <p:nvPr/>
              </p:nvSpPr>
              <p:spPr>
                <a:xfrm>
                  <a:off x="5566265" y="27507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End-to-end encryption</a:t>
                  </a:r>
                </a:p>
              </p:txBody>
            </p:sp>
            <p:sp>
              <p:nvSpPr>
                <p:cNvPr id="31" name="Text 23">
                  <a:extLst>
                    <a:ext uri="{FF2B5EF4-FFF2-40B4-BE49-F238E27FC236}">
                      <a16:creationId xmlns:a16="http://schemas.microsoft.com/office/drawing/2014/main" id="{9AFC8798-C34C-75EC-312F-805569F3119B}"/>
                    </a:ext>
                  </a:extLst>
                </p:cNvPr>
                <p:cNvSpPr/>
                <p:nvPr/>
              </p:nvSpPr>
              <p:spPr>
                <a:xfrm>
                  <a:off x="5566265" y="32079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Role-based access control</a:t>
                  </a:r>
                </a:p>
              </p:txBody>
            </p:sp>
            <p:sp>
              <p:nvSpPr>
                <p:cNvPr id="33" name="Text 25">
                  <a:extLst>
                    <a:ext uri="{FF2B5EF4-FFF2-40B4-BE49-F238E27FC236}">
                      <a16:creationId xmlns:a16="http://schemas.microsoft.com/office/drawing/2014/main" id="{EF56114D-9630-AB24-29C8-D9988F50CCD5}"/>
                    </a:ext>
                  </a:extLst>
                </p:cNvPr>
                <p:cNvSpPr/>
                <p:nvPr/>
              </p:nvSpPr>
              <p:spPr>
                <a:xfrm>
                  <a:off x="5566265" y="36651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Patient-controlled permissions</a:t>
                  </a:r>
                </a:p>
              </p:txBody>
            </p:sp>
          </p:grp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2116F5C-755C-1CB1-F180-91CD4941AEEC}"/>
              </a:ext>
            </a:extLst>
          </p:cNvPr>
          <p:cNvGrpSpPr/>
          <p:nvPr/>
        </p:nvGrpSpPr>
        <p:grpSpPr>
          <a:xfrm>
            <a:off x="-3989776" y="1824346"/>
            <a:ext cx="3840480" cy="502920"/>
            <a:chOff x="490765" y="894713"/>
            <a:chExt cx="3840480" cy="502920"/>
          </a:xfrm>
        </p:grpSpPr>
        <p:pic>
          <p:nvPicPr>
            <p:cNvPr id="40" name="Image 0" descr="preencoded.png">
              <a:extLst>
                <a:ext uri="{FF2B5EF4-FFF2-40B4-BE49-F238E27FC236}">
                  <a16:creationId xmlns:a16="http://schemas.microsoft.com/office/drawing/2014/main" id="{4B47EC09-9823-5245-F41A-60FBFDBDD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1" name="Text 3">
              <a:extLst>
                <a:ext uri="{FF2B5EF4-FFF2-40B4-BE49-F238E27FC236}">
                  <a16:creationId xmlns:a16="http://schemas.microsoft.com/office/drawing/2014/main" id="{96BE2CE5-7681-7D94-9CB3-6FE52C10F55F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Doctors, Nurses, Labs are local</a:t>
              </a:r>
              <a:endParaRPr lang="en-US" sz="1400" dirty="0"/>
            </a:p>
          </p:txBody>
        </p:sp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30990C2C-985A-CB8A-7C88-EAA27F17DCD9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Must belong to a verified hospital/organization</a:t>
              </a:r>
              <a:endParaRPr lang="en-US" sz="11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FF22B7-8DBA-EE57-7688-A8366F0A5913}"/>
              </a:ext>
            </a:extLst>
          </p:cNvPr>
          <p:cNvGrpSpPr/>
          <p:nvPr/>
        </p:nvGrpSpPr>
        <p:grpSpPr>
          <a:xfrm>
            <a:off x="-3989776" y="2584168"/>
            <a:ext cx="3944078" cy="502920"/>
            <a:chOff x="490765" y="894713"/>
            <a:chExt cx="3840480" cy="502920"/>
          </a:xfrm>
        </p:grpSpPr>
        <p:pic>
          <p:nvPicPr>
            <p:cNvPr id="44" name="Image 0" descr="preencoded.png">
              <a:extLst>
                <a:ext uri="{FF2B5EF4-FFF2-40B4-BE49-F238E27FC236}">
                  <a16:creationId xmlns:a16="http://schemas.microsoft.com/office/drawing/2014/main" id="{8102646F-65CC-9533-15CF-ABD8A4B9B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5" name="Text 3">
              <a:extLst>
                <a:ext uri="{FF2B5EF4-FFF2-40B4-BE49-F238E27FC236}">
                  <a16:creationId xmlns:a16="http://schemas.microsoft.com/office/drawing/2014/main" id="{16679490-71DF-545B-5B4D-2A17E62A8074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DB2C1483-18E3-ACB8-7C7D-E1A6E8053806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Approves every non-patient user (zero trust onboarding)</a:t>
              </a:r>
              <a:endParaRPr lang="en-US" sz="11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C814EED-C7A4-510C-AB4E-DCA5323F8472}"/>
              </a:ext>
            </a:extLst>
          </p:cNvPr>
          <p:cNvGrpSpPr/>
          <p:nvPr/>
        </p:nvGrpSpPr>
        <p:grpSpPr>
          <a:xfrm>
            <a:off x="-3989776" y="3343990"/>
            <a:ext cx="3840480" cy="502920"/>
            <a:chOff x="490765" y="894713"/>
            <a:chExt cx="3840480" cy="502920"/>
          </a:xfrm>
        </p:grpSpPr>
        <p:pic>
          <p:nvPicPr>
            <p:cNvPr id="48" name="Image 0" descr="preencoded.png">
              <a:extLst>
                <a:ext uri="{FF2B5EF4-FFF2-40B4-BE49-F238E27FC236}">
                  <a16:creationId xmlns:a16="http://schemas.microsoft.com/office/drawing/2014/main" id="{F8CE83AC-7577-B5F2-6FC0-03161AE9C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9" name="Text 3">
              <a:extLst>
                <a:ext uri="{FF2B5EF4-FFF2-40B4-BE49-F238E27FC236}">
                  <a16:creationId xmlns:a16="http://schemas.microsoft.com/office/drawing/2014/main" id="{6B6E7394-5438-31F3-A822-2643F921A715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All Access Audited</a:t>
              </a:r>
              <a:endParaRPr lang="en-US" sz="1400" dirty="0"/>
            </a:p>
          </p:txBody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93BEB190-9859-CEEE-6B96-03C7D04D27B2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Who? What? When? Why? Immutable logs.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54890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D6F89-C476-8AE8-485C-16D23FE2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14BBB0-5087-0E1C-2AC6-29D8B34AAE53}"/>
              </a:ext>
            </a:extLst>
          </p:cNvPr>
          <p:cNvSpPr/>
          <p:nvPr/>
        </p:nvSpPr>
        <p:spPr>
          <a:xfrm>
            <a:off x="445625" y="5323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SOLUTION ARCHITECTURE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EC7679-5088-30D8-F0BF-0178E6D86D94}"/>
              </a:ext>
            </a:extLst>
          </p:cNvPr>
          <p:cNvSpPr/>
          <p:nvPr/>
        </p:nvSpPr>
        <p:spPr>
          <a:xfrm>
            <a:off x="445624" y="556155"/>
            <a:ext cx="5726575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19900C-D212-15C4-FF8F-8092B32CFB86}"/>
              </a:ext>
            </a:extLst>
          </p:cNvPr>
          <p:cNvSpPr/>
          <p:nvPr/>
        </p:nvSpPr>
        <p:spPr>
          <a:xfrm>
            <a:off x="439104" y="67942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Core Components</a:t>
            </a:r>
            <a:endParaRPr lang="en-US" sz="2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8C27F3-593D-55A6-9E94-2F9A6F0E132C}"/>
              </a:ext>
            </a:extLst>
          </p:cNvPr>
          <p:cNvGrpSpPr/>
          <p:nvPr/>
        </p:nvGrpSpPr>
        <p:grpSpPr>
          <a:xfrm>
            <a:off x="569139" y="1064524"/>
            <a:ext cx="3840480" cy="502920"/>
            <a:chOff x="490765" y="894713"/>
            <a:chExt cx="3840480" cy="502920"/>
          </a:xfrm>
        </p:grpSpPr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BF2F1263-ACB1-B4C4-CAB1-427259224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1BE5D1DD-AD21-B9C8-6E74-7D31F3371B9C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Patient are global</a:t>
              </a:r>
              <a:endParaRPr lang="en-US" sz="1400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1209B513-97C1-231B-9ED6-76C257EDFB42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One UUID, One record</a:t>
              </a:r>
              <a:endParaRPr lang="en-US" sz="1100" dirty="0"/>
            </a:p>
          </p:txBody>
        </p:sp>
      </p:grpSp>
      <p:sp>
        <p:nvSpPr>
          <p:cNvPr id="25" name="Shape 18">
            <a:extLst>
              <a:ext uri="{FF2B5EF4-FFF2-40B4-BE49-F238E27FC236}">
                <a16:creationId xmlns:a16="http://schemas.microsoft.com/office/drawing/2014/main" id="{EA766E49-0F5B-724C-8B9B-0030F41BC907}"/>
              </a:ext>
            </a:extLst>
          </p:cNvPr>
          <p:cNvSpPr/>
          <p:nvPr/>
        </p:nvSpPr>
        <p:spPr>
          <a:xfrm>
            <a:off x="4834745" y="876195"/>
            <a:ext cx="3840480" cy="203019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/>
          <a:lstStyle/>
          <a:p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DBE4388-7F60-0A8C-0C0E-A2EB7EDF0984}"/>
              </a:ext>
            </a:extLst>
          </p:cNvPr>
          <p:cNvGrpSpPr/>
          <p:nvPr/>
        </p:nvGrpSpPr>
        <p:grpSpPr>
          <a:xfrm>
            <a:off x="4834744" y="3004276"/>
            <a:ext cx="3695299" cy="2014148"/>
            <a:chOff x="1582106" y="1595193"/>
            <a:chExt cx="3474720" cy="2344242"/>
          </a:xfrm>
        </p:grpSpPr>
        <p:pic>
          <p:nvPicPr>
            <p:cNvPr id="26" name="Image 5" descr="preencoded.png">
              <a:extLst>
                <a:ext uri="{FF2B5EF4-FFF2-40B4-BE49-F238E27FC236}">
                  <a16:creationId xmlns:a16="http://schemas.microsoft.com/office/drawing/2014/main" id="{AE3EC4B1-E8C4-5EF2-EDBB-7588469AF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51226" y="1595193"/>
              <a:ext cx="677774" cy="677774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C649886-F7D4-2330-179A-D2A842B09C73}"/>
                </a:ext>
              </a:extLst>
            </p:cNvPr>
            <p:cNvGrpSpPr/>
            <p:nvPr/>
          </p:nvGrpSpPr>
          <p:grpSpPr>
            <a:xfrm>
              <a:off x="1582106" y="2247795"/>
              <a:ext cx="3474720" cy="1691640"/>
              <a:chOff x="5017625" y="2247795"/>
              <a:chExt cx="3474720" cy="1691640"/>
            </a:xfrm>
          </p:grpSpPr>
          <p:sp>
            <p:nvSpPr>
              <p:cNvPr id="28" name="Shape 20">
                <a:extLst>
                  <a:ext uri="{FF2B5EF4-FFF2-40B4-BE49-F238E27FC236}">
                    <a16:creationId xmlns:a16="http://schemas.microsoft.com/office/drawing/2014/main" id="{BB72F76A-19C6-FE39-3B3A-9C784B06BD98}"/>
                  </a:ext>
                </a:extLst>
              </p:cNvPr>
              <p:cNvSpPr/>
              <p:nvPr/>
            </p:nvSpPr>
            <p:spPr>
              <a:xfrm>
                <a:off x="5200505" y="27964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Shape 22">
                <a:extLst>
                  <a:ext uri="{FF2B5EF4-FFF2-40B4-BE49-F238E27FC236}">
                    <a16:creationId xmlns:a16="http://schemas.microsoft.com/office/drawing/2014/main" id="{9898050E-A055-085F-25F9-282CFEFE0FDF}"/>
                  </a:ext>
                </a:extLst>
              </p:cNvPr>
              <p:cNvSpPr/>
              <p:nvPr/>
            </p:nvSpPr>
            <p:spPr>
              <a:xfrm>
                <a:off x="5200505" y="32536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Shape 24">
                <a:extLst>
                  <a:ext uri="{FF2B5EF4-FFF2-40B4-BE49-F238E27FC236}">
                    <a16:creationId xmlns:a16="http://schemas.microsoft.com/office/drawing/2014/main" id="{082E108F-5E2F-209B-D779-0F7481D1CD92}"/>
                  </a:ext>
                </a:extLst>
              </p:cNvPr>
              <p:cNvSpPr/>
              <p:nvPr/>
            </p:nvSpPr>
            <p:spPr>
              <a:xfrm>
                <a:off x="5200505" y="37108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4947432-5F36-8CD7-4F72-A302C103E8EA}"/>
                  </a:ext>
                </a:extLst>
              </p:cNvPr>
              <p:cNvGrpSpPr/>
              <p:nvPr/>
            </p:nvGrpSpPr>
            <p:grpSpPr>
              <a:xfrm>
                <a:off x="5017625" y="2247795"/>
                <a:ext cx="3474720" cy="1691640"/>
                <a:chOff x="5017625" y="2247795"/>
                <a:chExt cx="3474720" cy="1691640"/>
              </a:xfrm>
            </p:grpSpPr>
            <p:sp>
              <p:nvSpPr>
                <p:cNvPr id="27" name="Text 19">
                  <a:extLst>
                    <a:ext uri="{FF2B5EF4-FFF2-40B4-BE49-F238E27FC236}">
                      <a16:creationId xmlns:a16="http://schemas.microsoft.com/office/drawing/2014/main" id="{B6C6CC63-9F63-2007-A0D3-1A37C1C7D1FF}"/>
                    </a:ext>
                  </a:extLst>
                </p:cNvPr>
                <p:cNvSpPr/>
                <p:nvPr/>
              </p:nvSpPr>
              <p:spPr>
                <a:xfrm>
                  <a:off x="5017625" y="2247795"/>
                  <a:ext cx="347472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b="1" dirty="0">
                      <a:solidFill>
                        <a:schemeClr val="accent6"/>
                      </a:solidFill>
                    </a:rPr>
                    <a:t>Security Foundation</a:t>
                  </a:r>
                  <a:endParaRPr lang="en-US" sz="2200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29" name="Text 21">
                  <a:extLst>
                    <a:ext uri="{FF2B5EF4-FFF2-40B4-BE49-F238E27FC236}">
                      <a16:creationId xmlns:a16="http://schemas.microsoft.com/office/drawing/2014/main" id="{4FE93B14-5C26-1ABD-F9BA-9B13C8A4CA01}"/>
                    </a:ext>
                  </a:extLst>
                </p:cNvPr>
                <p:cNvSpPr/>
                <p:nvPr/>
              </p:nvSpPr>
              <p:spPr>
                <a:xfrm>
                  <a:off x="5566265" y="27507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End-to-end encryption</a:t>
                  </a:r>
                </a:p>
              </p:txBody>
            </p:sp>
            <p:sp>
              <p:nvSpPr>
                <p:cNvPr id="31" name="Text 23">
                  <a:extLst>
                    <a:ext uri="{FF2B5EF4-FFF2-40B4-BE49-F238E27FC236}">
                      <a16:creationId xmlns:a16="http://schemas.microsoft.com/office/drawing/2014/main" id="{5368607A-1195-3C99-894D-FC166D7010CB}"/>
                    </a:ext>
                  </a:extLst>
                </p:cNvPr>
                <p:cNvSpPr/>
                <p:nvPr/>
              </p:nvSpPr>
              <p:spPr>
                <a:xfrm>
                  <a:off x="5566265" y="32079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Role-based access control</a:t>
                  </a:r>
                </a:p>
              </p:txBody>
            </p:sp>
            <p:sp>
              <p:nvSpPr>
                <p:cNvPr id="33" name="Text 25">
                  <a:extLst>
                    <a:ext uri="{FF2B5EF4-FFF2-40B4-BE49-F238E27FC236}">
                      <a16:creationId xmlns:a16="http://schemas.microsoft.com/office/drawing/2014/main" id="{2FE96097-C216-8BF1-E8A7-24067DFE6E12}"/>
                    </a:ext>
                  </a:extLst>
                </p:cNvPr>
                <p:cNvSpPr/>
                <p:nvPr/>
              </p:nvSpPr>
              <p:spPr>
                <a:xfrm>
                  <a:off x="5566265" y="36651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Patient-controlled permissions</a:t>
                  </a:r>
                </a:p>
              </p:txBody>
            </p:sp>
          </p:grp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7D2DC25-8950-83F1-923D-19BDEC8664A1}"/>
              </a:ext>
            </a:extLst>
          </p:cNvPr>
          <p:cNvGrpSpPr/>
          <p:nvPr/>
        </p:nvGrpSpPr>
        <p:grpSpPr>
          <a:xfrm>
            <a:off x="-3989776" y="1824346"/>
            <a:ext cx="3840480" cy="502920"/>
            <a:chOff x="490765" y="894713"/>
            <a:chExt cx="3840480" cy="502920"/>
          </a:xfrm>
        </p:grpSpPr>
        <p:pic>
          <p:nvPicPr>
            <p:cNvPr id="40" name="Image 0" descr="preencoded.png">
              <a:extLst>
                <a:ext uri="{FF2B5EF4-FFF2-40B4-BE49-F238E27FC236}">
                  <a16:creationId xmlns:a16="http://schemas.microsoft.com/office/drawing/2014/main" id="{A6B5C065-7F1B-8EAD-FD7D-337979CC3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1" name="Text 3">
              <a:extLst>
                <a:ext uri="{FF2B5EF4-FFF2-40B4-BE49-F238E27FC236}">
                  <a16:creationId xmlns:a16="http://schemas.microsoft.com/office/drawing/2014/main" id="{2AFF6C61-D05B-8BFC-6F81-30EFF02A81DE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Doctors, Nurses, Labs are local</a:t>
              </a:r>
              <a:endParaRPr lang="en-US" sz="1400" dirty="0"/>
            </a:p>
          </p:txBody>
        </p:sp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775177C9-9F39-E84B-DD10-93C34225586C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Must belong to a verified hospital/organization</a:t>
              </a:r>
              <a:endParaRPr lang="en-US" sz="11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42F1A59-72A1-6F4E-D0F0-5E9DCE4F1BE0}"/>
              </a:ext>
            </a:extLst>
          </p:cNvPr>
          <p:cNvGrpSpPr/>
          <p:nvPr/>
        </p:nvGrpSpPr>
        <p:grpSpPr>
          <a:xfrm>
            <a:off x="-3989776" y="2584168"/>
            <a:ext cx="3944078" cy="502920"/>
            <a:chOff x="490765" y="894713"/>
            <a:chExt cx="3840480" cy="502920"/>
          </a:xfrm>
        </p:grpSpPr>
        <p:pic>
          <p:nvPicPr>
            <p:cNvPr id="44" name="Image 0" descr="preencoded.png">
              <a:extLst>
                <a:ext uri="{FF2B5EF4-FFF2-40B4-BE49-F238E27FC236}">
                  <a16:creationId xmlns:a16="http://schemas.microsoft.com/office/drawing/2014/main" id="{56CD0F67-1ED6-867E-FC3B-533AEF562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5" name="Text 3">
              <a:extLst>
                <a:ext uri="{FF2B5EF4-FFF2-40B4-BE49-F238E27FC236}">
                  <a16:creationId xmlns:a16="http://schemas.microsoft.com/office/drawing/2014/main" id="{C60C6969-9080-7C8E-03C5-C01401C402CC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01AE3A74-E79F-FBAE-856E-B186BC2A9921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Approves every non-patient user (zero trust onboarding)</a:t>
              </a:r>
              <a:endParaRPr lang="en-US" sz="11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E48B37-9079-8D86-562B-D7972DA763C2}"/>
              </a:ext>
            </a:extLst>
          </p:cNvPr>
          <p:cNvGrpSpPr/>
          <p:nvPr/>
        </p:nvGrpSpPr>
        <p:grpSpPr>
          <a:xfrm>
            <a:off x="-3989776" y="3343990"/>
            <a:ext cx="3840480" cy="502920"/>
            <a:chOff x="490765" y="894713"/>
            <a:chExt cx="3840480" cy="502920"/>
          </a:xfrm>
        </p:grpSpPr>
        <p:pic>
          <p:nvPicPr>
            <p:cNvPr id="48" name="Image 0" descr="preencoded.png">
              <a:extLst>
                <a:ext uri="{FF2B5EF4-FFF2-40B4-BE49-F238E27FC236}">
                  <a16:creationId xmlns:a16="http://schemas.microsoft.com/office/drawing/2014/main" id="{3240AFF7-B6C5-9F4F-3957-07DBB2BF4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9" name="Text 3">
              <a:extLst>
                <a:ext uri="{FF2B5EF4-FFF2-40B4-BE49-F238E27FC236}">
                  <a16:creationId xmlns:a16="http://schemas.microsoft.com/office/drawing/2014/main" id="{99E97685-8269-2039-4C50-97BD2C61EB7F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All Access Audited</a:t>
              </a:r>
              <a:endParaRPr lang="en-US" sz="1400" dirty="0"/>
            </a:p>
          </p:txBody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F4E3CC5B-2CD2-8CFB-0A51-75E3A08BDEEE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Who? What? When? Why? Immutable logs.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6575938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010DD-C903-A89A-6589-822679137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DD5CB4-5CEF-543F-EFA1-AD6F766FF6D6}"/>
              </a:ext>
            </a:extLst>
          </p:cNvPr>
          <p:cNvSpPr/>
          <p:nvPr/>
        </p:nvSpPr>
        <p:spPr>
          <a:xfrm>
            <a:off x="445625" y="5323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SOLUTION ARCHITECTURE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9C847F4-C451-1F2D-4776-07ED70C1B870}"/>
              </a:ext>
            </a:extLst>
          </p:cNvPr>
          <p:cNvSpPr/>
          <p:nvPr/>
        </p:nvSpPr>
        <p:spPr>
          <a:xfrm>
            <a:off x="445624" y="556155"/>
            <a:ext cx="5726575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F4E5F5-752A-AF33-BCA5-086494655862}"/>
              </a:ext>
            </a:extLst>
          </p:cNvPr>
          <p:cNvSpPr/>
          <p:nvPr/>
        </p:nvSpPr>
        <p:spPr>
          <a:xfrm>
            <a:off x="439104" y="67942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Core Components</a:t>
            </a:r>
            <a:endParaRPr lang="en-US" sz="2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5477803-A4B4-DF00-5F14-0EAF47C11031}"/>
              </a:ext>
            </a:extLst>
          </p:cNvPr>
          <p:cNvGrpSpPr/>
          <p:nvPr/>
        </p:nvGrpSpPr>
        <p:grpSpPr>
          <a:xfrm>
            <a:off x="569139" y="1064524"/>
            <a:ext cx="3840480" cy="502920"/>
            <a:chOff x="490765" y="894713"/>
            <a:chExt cx="3840480" cy="502920"/>
          </a:xfrm>
        </p:grpSpPr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EAC7BB5E-97CF-646B-D390-8530CEE04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EC22F5C2-D4EC-1F38-BE0F-F1C579CF8A0D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Patient are global</a:t>
              </a:r>
              <a:endParaRPr lang="en-US" sz="1400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56128096-8FFC-0DF2-B652-0FE5D1C992D5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One UUID, One record</a:t>
              </a:r>
              <a:endParaRPr lang="en-US" sz="1100" dirty="0"/>
            </a:p>
          </p:txBody>
        </p:sp>
      </p:grpSp>
      <p:sp>
        <p:nvSpPr>
          <p:cNvPr id="25" name="Shape 18">
            <a:extLst>
              <a:ext uri="{FF2B5EF4-FFF2-40B4-BE49-F238E27FC236}">
                <a16:creationId xmlns:a16="http://schemas.microsoft.com/office/drawing/2014/main" id="{C34AE39C-0691-E7E9-A381-89432F6AC7B3}"/>
              </a:ext>
            </a:extLst>
          </p:cNvPr>
          <p:cNvSpPr/>
          <p:nvPr/>
        </p:nvSpPr>
        <p:spPr>
          <a:xfrm>
            <a:off x="4834745" y="876195"/>
            <a:ext cx="3840480" cy="203019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/>
          <a:lstStyle/>
          <a:p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7B698F1-3892-FFF5-5E4D-D368B5FB3D6E}"/>
              </a:ext>
            </a:extLst>
          </p:cNvPr>
          <p:cNvGrpSpPr/>
          <p:nvPr/>
        </p:nvGrpSpPr>
        <p:grpSpPr>
          <a:xfrm>
            <a:off x="4834744" y="3004276"/>
            <a:ext cx="3695299" cy="2014148"/>
            <a:chOff x="1582106" y="1595193"/>
            <a:chExt cx="3474720" cy="2344242"/>
          </a:xfrm>
        </p:grpSpPr>
        <p:pic>
          <p:nvPicPr>
            <p:cNvPr id="26" name="Image 5" descr="preencoded.png">
              <a:extLst>
                <a:ext uri="{FF2B5EF4-FFF2-40B4-BE49-F238E27FC236}">
                  <a16:creationId xmlns:a16="http://schemas.microsoft.com/office/drawing/2014/main" id="{913D497D-F50C-BBC5-F72F-AE38AA93C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51226" y="1595193"/>
              <a:ext cx="677774" cy="677774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CD73676-3139-ABD5-F59C-1995A5E68BB3}"/>
                </a:ext>
              </a:extLst>
            </p:cNvPr>
            <p:cNvGrpSpPr/>
            <p:nvPr/>
          </p:nvGrpSpPr>
          <p:grpSpPr>
            <a:xfrm>
              <a:off x="1582106" y="2247795"/>
              <a:ext cx="3474720" cy="1691640"/>
              <a:chOff x="5017625" y="2247795"/>
              <a:chExt cx="3474720" cy="1691640"/>
            </a:xfrm>
          </p:grpSpPr>
          <p:sp>
            <p:nvSpPr>
              <p:cNvPr id="28" name="Shape 20">
                <a:extLst>
                  <a:ext uri="{FF2B5EF4-FFF2-40B4-BE49-F238E27FC236}">
                    <a16:creationId xmlns:a16="http://schemas.microsoft.com/office/drawing/2014/main" id="{067276ED-338C-84E5-0C0B-6A59F6CE510A}"/>
                  </a:ext>
                </a:extLst>
              </p:cNvPr>
              <p:cNvSpPr/>
              <p:nvPr/>
            </p:nvSpPr>
            <p:spPr>
              <a:xfrm>
                <a:off x="5200505" y="27964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Shape 22">
                <a:extLst>
                  <a:ext uri="{FF2B5EF4-FFF2-40B4-BE49-F238E27FC236}">
                    <a16:creationId xmlns:a16="http://schemas.microsoft.com/office/drawing/2014/main" id="{BCB0E278-2EFB-E36F-B3F9-86FF065DEDD0}"/>
                  </a:ext>
                </a:extLst>
              </p:cNvPr>
              <p:cNvSpPr/>
              <p:nvPr/>
            </p:nvSpPr>
            <p:spPr>
              <a:xfrm>
                <a:off x="5200505" y="32536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Shape 24">
                <a:extLst>
                  <a:ext uri="{FF2B5EF4-FFF2-40B4-BE49-F238E27FC236}">
                    <a16:creationId xmlns:a16="http://schemas.microsoft.com/office/drawing/2014/main" id="{D668AF15-43B4-9D19-4AE6-7BD05A917A91}"/>
                  </a:ext>
                </a:extLst>
              </p:cNvPr>
              <p:cNvSpPr/>
              <p:nvPr/>
            </p:nvSpPr>
            <p:spPr>
              <a:xfrm>
                <a:off x="5200505" y="37108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2275AEA-BE63-A46B-B05D-8D94ADBDF0A0}"/>
                  </a:ext>
                </a:extLst>
              </p:cNvPr>
              <p:cNvGrpSpPr/>
              <p:nvPr/>
            </p:nvGrpSpPr>
            <p:grpSpPr>
              <a:xfrm>
                <a:off x="5017625" y="2247795"/>
                <a:ext cx="3474720" cy="1691640"/>
                <a:chOff x="5017625" y="2247795"/>
                <a:chExt cx="3474720" cy="1691640"/>
              </a:xfrm>
            </p:grpSpPr>
            <p:sp>
              <p:nvSpPr>
                <p:cNvPr id="27" name="Text 19">
                  <a:extLst>
                    <a:ext uri="{FF2B5EF4-FFF2-40B4-BE49-F238E27FC236}">
                      <a16:creationId xmlns:a16="http://schemas.microsoft.com/office/drawing/2014/main" id="{F615AE94-628B-93B7-4202-32FA34399E40}"/>
                    </a:ext>
                  </a:extLst>
                </p:cNvPr>
                <p:cNvSpPr/>
                <p:nvPr/>
              </p:nvSpPr>
              <p:spPr>
                <a:xfrm>
                  <a:off x="5017625" y="2247795"/>
                  <a:ext cx="347472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b="1" dirty="0">
                      <a:solidFill>
                        <a:schemeClr val="accent6"/>
                      </a:solidFill>
                    </a:rPr>
                    <a:t>Security Foundation</a:t>
                  </a:r>
                  <a:endParaRPr lang="en-US" sz="2200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29" name="Text 21">
                  <a:extLst>
                    <a:ext uri="{FF2B5EF4-FFF2-40B4-BE49-F238E27FC236}">
                      <a16:creationId xmlns:a16="http://schemas.microsoft.com/office/drawing/2014/main" id="{11094D88-BA8B-56B7-B239-E162E6D8F00E}"/>
                    </a:ext>
                  </a:extLst>
                </p:cNvPr>
                <p:cNvSpPr/>
                <p:nvPr/>
              </p:nvSpPr>
              <p:spPr>
                <a:xfrm>
                  <a:off x="5566265" y="27507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End-to-end encryption</a:t>
                  </a:r>
                </a:p>
              </p:txBody>
            </p:sp>
            <p:sp>
              <p:nvSpPr>
                <p:cNvPr id="31" name="Text 23">
                  <a:extLst>
                    <a:ext uri="{FF2B5EF4-FFF2-40B4-BE49-F238E27FC236}">
                      <a16:creationId xmlns:a16="http://schemas.microsoft.com/office/drawing/2014/main" id="{A099AA0B-563B-A30B-8E0B-9A3C289DBA92}"/>
                    </a:ext>
                  </a:extLst>
                </p:cNvPr>
                <p:cNvSpPr/>
                <p:nvPr/>
              </p:nvSpPr>
              <p:spPr>
                <a:xfrm>
                  <a:off x="5566265" y="32079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Role-based access control</a:t>
                  </a:r>
                </a:p>
              </p:txBody>
            </p:sp>
            <p:sp>
              <p:nvSpPr>
                <p:cNvPr id="33" name="Text 25">
                  <a:extLst>
                    <a:ext uri="{FF2B5EF4-FFF2-40B4-BE49-F238E27FC236}">
                      <a16:creationId xmlns:a16="http://schemas.microsoft.com/office/drawing/2014/main" id="{82538ED1-4671-E4C2-60D3-F05A25F00090}"/>
                    </a:ext>
                  </a:extLst>
                </p:cNvPr>
                <p:cNvSpPr/>
                <p:nvPr/>
              </p:nvSpPr>
              <p:spPr>
                <a:xfrm>
                  <a:off x="5566265" y="36651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Patient-controlled permissions</a:t>
                  </a:r>
                </a:p>
              </p:txBody>
            </p:sp>
          </p:grp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86F85B8-0B7B-9F71-7EB0-897DE4BBE5C2}"/>
              </a:ext>
            </a:extLst>
          </p:cNvPr>
          <p:cNvGrpSpPr/>
          <p:nvPr/>
        </p:nvGrpSpPr>
        <p:grpSpPr>
          <a:xfrm>
            <a:off x="575672" y="1824346"/>
            <a:ext cx="3840480" cy="502920"/>
            <a:chOff x="490765" y="894713"/>
            <a:chExt cx="3840480" cy="502920"/>
          </a:xfrm>
        </p:grpSpPr>
        <p:pic>
          <p:nvPicPr>
            <p:cNvPr id="40" name="Image 0" descr="preencoded.png">
              <a:extLst>
                <a:ext uri="{FF2B5EF4-FFF2-40B4-BE49-F238E27FC236}">
                  <a16:creationId xmlns:a16="http://schemas.microsoft.com/office/drawing/2014/main" id="{F3A30243-D3DE-33F7-353A-FCA079DE8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1" name="Text 3">
              <a:extLst>
                <a:ext uri="{FF2B5EF4-FFF2-40B4-BE49-F238E27FC236}">
                  <a16:creationId xmlns:a16="http://schemas.microsoft.com/office/drawing/2014/main" id="{CBA9B345-60EB-0303-A2C6-74BDC51458DC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Doctors, Nurses, Labs are local</a:t>
              </a:r>
              <a:endParaRPr lang="en-US" sz="1400" dirty="0"/>
            </a:p>
          </p:txBody>
        </p:sp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A19402D5-A9EF-E716-3516-849E9C4795DB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Must belong to a verified hospital/organization</a:t>
              </a:r>
              <a:endParaRPr lang="en-US" sz="11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495A190-D2E3-35A9-1EBE-83FCD936B18F}"/>
              </a:ext>
            </a:extLst>
          </p:cNvPr>
          <p:cNvGrpSpPr/>
          <p:nvPr/>
        </p:nvGrpSpPr>
        <p:grpSpPr>
          <a:xfrm>
            <a:off x="-3989776" y="2584168"/>
            <a:ext cx="3944078" cy="502920"/>
            <a:chOff x="490765" y="894713"/>
            <a:chExt cx="3840480" cy="502920"/>
          </a:xfrm>
        </p:grpSpPr>
        <p:pic>
          <p:nvPicPr>
            <p:cNvPr id="44" name="Image 0" descr="preencoded.png">
              <a:extLst>
                <a:ext uri="{FF2B5EF4-FFF2-40B4-BE49-F238E27FC236}">
                  <a16:creationId xmlns:a16="http://schemas.microsoft.com/office/drawing/2014/main" id="{EB6DE70A-5B67-21AA-7BF9-B25C4E1D9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5" name="Text 3">
              <a:extLst>
                <a:ext uri="{FF2B5EF4-FFF2-40B4-BE49-F238E27FC236}">
                  <a16:creationId xmlns:a16="http://schemas.microsoft.com/office/drawing/2014/main" id="{1C83C3B7-3133-952C-5222-C980D8F56B2D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FBEF6B16-292B-882C-ED30-05A08F26835D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Approves every non-patient user (zero trust onboarding)</a:t>
              </a:r>
              <a:endParaRPr lang="en-US" sz="11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6D8BB4B-D2E5-D541-B13A-6BE64CA0D0A4}"/>
              </a:ext>
            </a:extLst>
          </p:cNvPr>
          <p:cNvGrpSpPr/>
          <p:nvPr/>
        </p:nvGrpSpPr>
        <p:grpSpPr>
          <a:xfrm>
            <a:off x="-3989776" y="3343990"/>
            <a:ext cx="3840480" cy="502920"/>
            <a:chOff x="490765" y="894713"/>
            <a:chExt cx="3840480" cy="502920"/>
          </a:xfrm>
        </p:grpSpPr>
        <p:pic>
          <p:nvPicPr>
            <p:cNvPr id="48" name="Image 0" descr="preencoded.png">
              <a:extLst>
                <a:ext uri="{FF2B5EF4-FFF2-40B4-BE49-F238E27FC236}">
                  <a16:creationId xmlns:a16="http://schemas.microsoft.com/office/drawing/2014/main" id="{707E48F1-65B9-9ABD-4CF4-6082B1F86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9" name="Text 3">
              <a:extLst>
                <a:ext uri="{FF2B5EF4-FFF2-40B4-BE49-F238E27FC236}">
                  <a16:creationId xmlns:a16="http://schemas.microsoft.com/office/drawing/2014/main" id="{9A369815-5CEF-3278-D68F-D58983CA64BA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All Access Audited</a:t>
              </a:r>
              <a:endParaRPr lang="en-US" sz="1400" dirty="0"/>
            </a:p>
          </p:txBody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B3A9DAE8-04DD-82C2-289E-D95D42133994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Who? What? When? Why? Immutable logs.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209649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260AF-A13F-5808-CEFE-0C808AB3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497407-E47A-759B-5D01-37BC8F9BBCE0}"/>
              </a:ext>
            </a:extLst>
          </p:cNvPr>
          <p:cNvSpPr/>
          <p:nvPr/>
        </p:nvSpPr>
        <p:spPr>
          <a:xfrm>
            <a:off x="445625" y="5323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SOLUTION ARCHITECTURE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BDD900-6064-7739-CBAD-0529163D386D}"/>
              </a:ext>
            </a:extLst>
          </p:cNvPr>
          <p:cNvSpPr/>
          <p:nvPr/>
        </p:nvSpPr>
        <p:spPr>
          <a:xfrm>
            <a:off x="445624" y="556155"/>
            <a:ext cx="5726575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C0A28F-A323-CC84-C758-15D37A1FA19C}"/>
              </a:ext>
            </a:extLst>
          </p:cNvPr>
          <p:cNvSpPr/>
          <p:nvPr/>
        </p:nvSpPr>
        <p:spPr>
          <a:xfrm>
            <a:off x="439104" y="67942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Core Components</a:t>
            </a:r>
            <a:endParaRPr lang="en-US" sz="2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8990C7B-1890-8A04-7EFA-7B21F0953E5A}"/>
              </a:ext>
            </a:extLst>
          </p:cNvPr>
          <p:cNvGrpSpPr/>
          <p:nvPr/>
        </p:nvGrpSpPr>
        <p:grpSpPr>
          <a:xfrm>
            <a:off x="569139" y="1064524"/>
            <a:ext cx="3840480" cy="502920"/>
            <a:chOff x="490765" y="894713"/>
            <a:chExt cx="3840480" cy="502920"/>
          </a:xfrm>
        </p:grpSpPr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03B3607A-1940-C422-B6F6-16AED3CF9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CF5F2CC7-1279-799A-87B6-F4A55A1AB582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Patient are global</a:t>
              </a:r>
              <a:endParaRPr lang="en-US" sz="1400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FFB539F0-DAE8-D320-D6A3-2ED2F1BC5A38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One UUID, One record</a:t>
              </a:r>
              <a:endParaRPr lang="en-US" sz="1100" dirty="0"/>
            </a:p>
          </p:txBody>
        </p:sp>
      </p:grpSp>
      <p:sp>
        <p:nvSpPr>
          <p:cNvPr id="25" name="Shape 18">
            <a:extLst>
              <a:ext uri="{FF2B5EF4-FFF2-40B4-BE49-F238E27FC236}">
                <a16:creationId xmlns:a16="http://schemas.microsoft.com/office/drawing/2014/main" id="{0A6EB70F-33FF-09D6-EC15-EFE32309C078}"/>
              </a:ext>
            </a:extLst>
          </p:cNvPr>
          <p:cNvSpPr/>
          <p:nvPr/>
        </p:nvSpPr>
        <p:spPr>
          <a:xfrm>
            <a:off x="4834745" y="876195"/>
            <a:ext cx="3840480" cy="203019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/>
          <a:lstStyle/>
          <a:p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26ECE1F-F526-DE39-199D-7525EB28BFAC}"/>
              </a:ext>
            </a:extLst>
          </p:cNvPr>
          <p:cNvGrpSpPr/>
          <p:nvPr/>
        </p:nvGrpSpPr>
        <p:grpSpPr>
          <a:xfrm>
            <a:off x="4834744" y="3004276"/>
            <a:ext cx="3695299" cy="2014148"/>
            <a:chOff x="1582106" y="1595193"/>
            <a:chExt cx="3474720" cy="2344242"/>
          </a:xfrm>
        </p:grpSpPr>
        <p:pic>
          <p:nvPicPr>
            <p:cNvPr id="26" name="Image 5" descr="preencoded.png">
              <a:extLst>
                <a:ext uri="{FF2B5EF4-FFF2-40B4-BE49-F238E27FC236}">
                  <a16:creationId xmlns:a16="http://schemas.microsoft.com/office/drawing/2014/main" id="{F581328F-A19E-5E8C-5451-46BAA4446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51226" y="1595193"/>
              <a:ext cx="677774" cy="677774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06C2289-2F1D-87F5-13D4-A0BEC3B900C3}"/>
                </a:ext>
              </a:extLst>
            </p:cNvPr>
            <p:cNvGrpSpPr/>
            <p:nvPr/>
          </p:nvGrpSpPr>
          <p:grpSpPr>
            <a:xfrm>
              <a:off x="1582106" y="2247795"/>
              <a:ext cx="3474720" cy="1691640"/>
              <a:chOff x="5017625" y="2247795"/>
              <a:chExt cx="3474720" cy="1691640"/>
            </a:xfrm>
          </p:grpSpPr>
          <p:sp>
            <p:nvSpPr>
              <p:cNvPr id="28" name="Shape 20">
                <a:extLst>
                  <a:ext uri="{FF2B5EF4-FFF2-40B4-BE49-F238E27FC236}">
                    <a16:creationId xmlns:a16="http://schemas.microsoft.com/office/drawing/2014/main" id="{D2ECF984-1225-077D-991D-A782C593E2CC}"/>
                  </a:ext>
                </a:extLst>
              </p:cNvPr>
              <p:cNvSpPr/>
              <p:nvPr/>
            </p:nvSpPr>
            <p:spPr>
              <a:xfrm>
                <a:off x="5200505" y="27964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Shape 22">
                <a:extLst>
                  <a:ext uri="{FF2B5EF4-FFF2-40B4-BE49-F238E27FC236}">
                    <a16:creationId xmlns:a16="http://schemas.microsoft.com/office/drawing/2014/main" id="{FC549E15-28CC-6F5D-4591-DAA8340A9018}"/>
                  </a:ext>
                </a:extLst>
              </p:cNvPr>
              <p:cNvSpPr/>
              <p:nvPr/>
            </p:nvSpPr>
            <p:spPr>
              <a:xfrm>
                <a:off x="5200505" y="32536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Shape 24">
                <a:extLst>
                  <a:ext uri="{FF2B5EF4-FFF2-40B4-BE49-F238E27FC236}">
                    <a16:creationId xmlns:a16="http://schemas.microsoft.com/office/drawing/2014/main" id="{C515772C-B25C-43EF-F935-0CD8149A32C1}"/>
                  </a:ext>
                </a:extLst>
              </p:cNvPr>
              <p:cNvSpPr/>
              <p:nvPr/>
            </p:nvSpPr>
            <p:spPr>
              <a:xfrm>
                <a:off x="5200505" y="37108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E2D1D90-0678-4F4F-1D83-134D6E3103A1}"/>
                  </a:ext>
                </a:extLst>
              </p:cNvPr>
              <p:cNvGrpSpPr/>
              <p:nvPr/>
            </p:nvGrpSpPr>
            <p:grpSpPr>
              <a:xfrm>
                <a:off x="5017625" y="2247795"/>
                <a:ext cx="3474720" cy="1691640"/>
                <a:chOff x="5017625" y="2247795"/>
                <a:chExt cx="3474720" cy="1691640"/>
              </a:xfrm>
            </p:grpSpPr>
            <p:sp>
              <p:nvSpPr>
                <p:cNvPr id="27" name="Text 19">
                  <a:extLst>
                    <a:ext uri="{FF2B5EF4-FFF2-40B4-BE49-F238E27FC236}">
                      <a16:creationId xmlns:a16="http://schemas.microsoft.com/office/drawing/2014/main" id="{0D30FEE5-8AF6-9AE2-2D06-E5C6805A3A17}"/>
                    </a:ext>
                  </a:extLst>
                </p:cNvPr>
                <p:cNvSpPr/>
                <p:nvPr/>
              </p:nvSpPr>
              <p:spPr>
                <a:xfrm>
                  <a:off x="5017625" y="2247795"/>
                  <a:ext cx="347472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b="1" dirty="0">
                      <a:solidFill>
                        <a:schemeClr val="accent6"/>
                      </a:solidFill>
                    </a:rPr>
                    <a:t>Security Foundation</a:t>
                  </a:r>
                  <a:endParaRPr lang="en-US" sz="2200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29" name="Text 21">
                  <a:extLst>
                    <a:ext uri="{FF2B5EF4-FFF2-40B4-BE49-F238E27FC236}">
                      <a16:creationId xmlns:a16="http://schemas.microsoft.com/office/drawing/2014/main" id="{28A47B56-BBFB-1527-C7DC-7C7C1BD05FB6}"/>
                    </a:ext>
                  </a:extLst>
                </p:cNvPr>
                <p:cNvSpPr/>
                <p:nvPr/>
              </p:nvSpPr>
              <p:spPr>
                <a:xfrm>
                  <a:off x="5566265" y="27507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End-to-end encryption</a:t>
                  </a:r>
                </a:p>
              </p:txBody>
            </p:sp>
            <p:sp>
              <p:nvSpPr>
                <p:cNvPr id="31" name="Text 23">
                  <a:extLst>
                    <a:ext uri="{FF2B5EF4-FFF2-40B4-BE49-F238E27FC236}">
                      <a16:creationId xmlns:a16="http://schemas.microsoft.com/office/drawing/2014/main" id="{69399EA6-DD3A-A9CE-8144-FEE06E8C919A}"/>
                    </a:ext>
                  </a:extLst>
                </p:cNvPr>
                <p:cNvSpPr/>
                <p:nvPr/>
              </p:nvSpPr>
              <p:spPr>
                <a:xfrm>
                  <a:off x="5566265" y="32079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Role-based access control</a:t>
                  </a:r>
                </a:p>
              </p:txBody>
            </p:sp>
            <p:sp>
              <p:nvSpPr>
                <p:cNvPr id="33" name="Text 25">
                  <a:extLst>
                    <a:ext uri="{FF2B5EF4-FFF2-40B4-BE49-F238E27FC236}">
                      <a16:creationId xmlns:a16="http://schemas.microsoft.com/office/drawing/2014/main" id="{6E6E324D-9CBA-F599-CC4F-5BB6F34CB905}"/>
                    </a:ext>
                  </a:extLst>
                </p:cNvPr>
                <p:cNvSpPr/>
                <p:nvPr/>
              </p:nvSpPr>
              <p:spPr>
                <a:xfrm>
                  <a:off x="5566265" y="36651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Patient-controlled permissions</a:t>
                  </a:r>
                </a:p>
              </p:txBody>
            </p:sp>
          </p:grp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1C9D576-887F-2A8A-1E0A-C0DD0911D186}"/>
              </a:ext>
            </a:extLst>
          </p:cNvPr>
          <p:cNvGrpSpPr/>
          <p:nvPr/>
        </p:nvGrpSpPr>
        <p:grpSpPr>
          <a:xfrm>
            <a:off x="575672" y="1824346"/>
            <a:ext cx="3840480" cy="502920"/>
            <a:chOff x="490765" y="894713"/>
            <a:chExt cx="3840480" cy="502920"/>
          </a:xfrm>
        </p:grpSpPr>
        <p:pic>
          <p:nvPicPr>
            <p:cNvPr id="40" name="Image 0" descr="preencoded.png">
              <a:extLst>
                <a:ext uri="{FF2B5EF4-FFF2-40B4-BE49-F238E27FC236}">
                  <a16:creationId xmlns:a16="http://schemas.microsoft.com/office/drawing/2014/main" id="{0FD58389-8070-ACF2-6E4D-63B63EB34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1" name="Text 3">
              <a:extLst>
                <a:ext uri="{FF2B5EF4-FFF2-40B4-BE49-F238E27FC236}">
                  <a16:creationId xmlns:a16="http://schemas.microsoft.com/office/drawing/2014/main" id="{D9E8F97E-BBE4-0F69-5493-3BCC3BC4D559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Doctors, Nurses, Labs are local</a:t>
              </a:r>
              <a:endParaRPr lang="en-US" sz="1400" dirty="0"/>
            </a:p>
          </p:txBody>
        </p:sp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91B42CA6-6727-B4D8-9ADC-CE6856FDA778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Must belong to a verified hospital/organization</a:t>
              </a:r>
              <a:endParaRPr lang="en-US" sz="11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B61EBAB-CD7B-01B0-7784-5D8D38E228AA}"/>
              </a:ext>
            </a:extLst>
          </p:cNvPr>
          <p:cNvGrpSpPr/>
          <p:nvPr/>
        </p:nvGrpSpPr>
        <p:grpSpPr>
          <a:xfrm>
            <a:off x="582209" y="2584168"/>
            <a:ext cx="3944078" cy="502920"/>
            <a:chOff x="490765" y="894713"/>
            <a:chExt cx="3840480" cy="502920"/>
          </a:xfrm>
        </p:grpSpPr>
        <p:pic>
          <p:nvPicPr>
            <p:cNvPr id="44" name="Image 0" descr="preencoded.png">
              <a:extLst>
                <a:ext uri="{FF2B5EF4-FFF2-40B4-BE49-F238E27FC236}">
                  <a16:creationId xmlns:a16="http://schemas.microsoft.com/office/drawing/2014/main" id="{BE575869-94F4-B34D-12B3-9EAE832A6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5" name="Text 3">
              <a:extLst>
                <a:ext uri="{FF2B5EF4-FFF2-40B4-BE49-F238E27FC236}">
                  <a16:creationId xmlns:a16="http://schemas.microsoft.com/office/drawing/2014/main" id="{15C9FC93-8500-6C43-F4D8-5BB7FBB6BA7F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0710DD1D-E37E-CC06-790E-52D9090D1937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Approves every non-patient user (zero trust onboarding)</a:t>
              </a:r>
              <a:endParaRPr lang="en-US" sz="11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7F61E0F-78EA-5AB6-F597-78C3CE369A47}"/>
              </a:ext>
            </a:extLst>
          </p:cNvPr>
          <p:cNvGrpSpPr/>
          <p:nvPr/>
        </p:nvGrpSpPr>
        <p:grpSpPr>
          <a:xfrm>
            <a:off x="-3989776" y="3343990"/>
            <a:ext cx="3840480" cy="502920"/>
            <a:chOff x="490765" y="894713"/>
            <a:chExt cx="3840480" cy="502920"/>
          </a:xfrm>
        </p:grpSpPr>
        <p:pic>
          <p:nvPicPr>
            <p:cNvPr id="48" name="Image 0" descr="preencoded.png">
              <a:extLst>
                <a:ext uri="{FF2B5EF4-FFF2-40B4-BE49-F238E27FC236}">
                  <a16:creationId xmlns:a16="http://schemas.microsoft.com/office/drawing/2014/main" id="{D4B68AE4-B53C-B3AC-57F2-2EFA08083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9" name="Text 3">
              <a:extLst>
                <a:ext uri="{FF2B5EF4-FFF2-40B4-BE49-F238E27FC236}">
                  <a16:creationId xmlns:a16="http://schemas.microsoft.com/office/drawing/2014/main" id="{14406F83-B062-3D8B-33F8-D729C2A4E915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All Access Audited</a:t>
              </a:r>
              <a:endParaRPr lang="en-US" sz="1400" dirty="0"/>
            </a:p>
          </p:txBody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8C98C1A7-BF36-E067-1DAF-8D4C9B3F1E4E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Who? What? When? Why? Immutable logs.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62162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CD085-DF8B-8431-D7D7-04002F21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36E711-1552-C09E-3A70-6404B0A27EFF}"/>
              </a:ext>
            </a:extLst>
          </p:cNvPr>
          <p:cNvSpPr/>
          <p:nvPr/>
        </p:nvSpPr>
        <p:spPr>
          <a:xfrm>
            <a:off x="445625" y="5323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SOLUTION ARCHITECTURE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B32D64-1907-EFDA-9465-7D1AC5A04473}"/>
              </a:ext>
            </a:extLst>
          </p:cNvPr>
          <p:cNvSpPr/>
          <p:nvPr/>
        </p:nvSpPr>
        <p:spPr>
          <a:xfrm>
            <a:off x="445624" y="556155"/>
            <a:ext cx="5726575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0BBBF5-0C04-799C-3D58-A2D94591170F}"/>
              </a:ext>
            </a:extLst>
          </p:cNvPr>
          <p:cNvSpPr/>
          <p:nvPr/>
        </p:nvSpPr>
        <p:spPr>
          <a:xfrm>
            <a:off x="439104" y="67942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Core Components</a:t>
            </a:r>
            <a:endParaRPr lang="en-US" sz="2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F09D088-8C4B-A60A-DE40-8FF5CCE11890}"/>
              </a:ext>
            </a:extLst>
          </p:cNvPr>
          <p:cNvGrpSpPr/>
          <p:nvPr/>
        </p:nvGrpSpPr>
        <p:grpSpPr>
          <a:xfrm>
            <a:off x="569139" y="1064524"/>
            <a:ext cx="3840480" cy="502920"/>
            <a:chOff x="490765" y="894713"/>
            <a:chExt cx="3840480" cy="502920"/>
          </a:xfrm>
        </p:grpSpPr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97A46F2C-8316-70E5-A8DC-BE0559A29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7F571DDB-C52A-EDF9-2C57-7F83454805BB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Patient are global</a:t>
              </a:r>
              <a:endParaRPr lang="en-US" sz="1400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160E23B4-3F46-3246-D2B5-EF331F05EE75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One UUID, One record</a:t>
              </a:r>
              <a:endParaRPr lang="en-US" sz="1100" dirty="0"/>
            </a:p>
          </p:txBody>
        </p:sp>
      </p:grpSp>
      <p:sp>
        <p:nvSpPr>
          <p:cNvPr id="25" name="Shape 18">
            <a:extLst>
              <a:ext uri="{FF2B5EF4-FFF2-40B4-BE49-F238E27FC236}">
                <a16:creationId xmlns:a16="http://schemas.microsoft.com/office/drawing/2014/main" id="{84BA9388-A9A2-4101-4377-DC1FEA73BBC2}"/>
              </a:ext>
            </a:extLst>
          </p:cNvPr>
          <p:cNvSpPr/>
          <p:nvPr/>
        </p:nvSpPr>
        <p:spPr>
          <a:xfrm>
            <a:off x="4834745" y="876195"/>
            <a:ext cx="3840480" cy="203019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/>
          <a:lstStyle/>
          <a:p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756CEF9-7233-F5FD-5317-43E125CEBCBB}"/>
              </a:ext>
            </a:extLst>
          </p:cNvPr>
          <p:cNvGrpSpPr/>
          <p:nvPr/>
        </p:nvGrpSpPr>
        <p:grpSpPr>
          <a:xfrm>
            <a:off x="4834744" y="3004276"/>
            <a:ext cx="3695299" cy="2014148"/>
            <a:chOff x="1582106" y="1595193"/>
            <a:chExt cx="3474720" cy="2344242"/>
          </a:xfrm>
        </p:grpSpPr>
        <p:pic>
          <p:nvPicPr>
            <p:cNvPr id="26" name="Image 5" descr="preencoded.png">
              <a:extLst>
                <a:ext uri="{FF2B5EF4-FFF2-40B4-BE49-F238E27FC236}">
                  <a16:creationId xmlns:a16="http://schemas.microsoft.com/office/drawing/2014/main" id="{AA88D5DF-768E-1163-C373-710E6A59F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51226" y="1595193"/>
              <a:ext cx="677774" cy="677774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8F54F02-3B3A-8AA0-9DC2-8923606D248B}"/>
                </a:ext>
              </a:extLst>
            </p:cNvPr>
            <p:cNvGrpSpPr/>
            <p:nvPr/>
          </p:nvGrpSpPr>
          <p:grpSpPr>
            <a:xfrm>
              <a:off x="1582106" y="2247795"/>
              <a:ext cx="3474720" cy="1691640"/>
              <a:chOff x="5017625" y="2247795"/>
              <a:chExt cx="3474720" cy="1691640"/>
            </a:xfrm>
          </p:grpSpPr>
          <p:sp>
            <p:nvSpPr>
              <p:cNvPr id="28" name="Shape 20">
                <a:extLst>
                  <a:ext uri="{FF2B5EF4-FFF2-40B4-BE49-F238E27FC236}">
                    <a16:creationId xmlns:a16="http://schemas.microsoft.com/office/drawing/2014/main" id="{65EDFB31-D8CF-146D-89A3-70B3CBF2F03E}"/>
                  </a:ext>
                </a:extLst>
              </p:cNvPr>
              <p:cNvSpPr/>
              <p:nvPr/>
            </p:nvSpPr>
            <p:spPr>
              <a:xfrm>
                <a:off x="5200505" y="27964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Shape 22">
                <a:extLst>
                  <a:ext uri="{FF2B5EF4-FFF2-40B4-BE49-F238E27FC236}">
                    <a16:creationId xmlns:a16="http://schemas.microsoft.com/office/drawing/2014/main" id="{1C39E484-D1EA-E869-122F-60D4C07363C2}"/>
                  </a:ext>
                </a:extLst>
              </p:cNvPr>
              <p:cNvSpPr/>
              <p:nvPr/>
            </p:nvSpPr>
            <p:spPr>
              <a:xfrm>
                <a:off x="5200505" y="32536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Shape 24">
                <a:extLst>
                  <a:ext uri="{FF2B5EF4-FFF2-40B4-BE49-F238E27FC236}">
                    <a16:creationId xmlns:a16="http://schemas.microsoft.com/office/drawing/2014/main" id="{2AA81882-D7C9-4B57-80CC-7FE81627EEBA}"/>
                  </a:ext>
                </a:extLst>
              </p:cNvPr>
              <p:cNvSpPr/>
              <p:nvPr/>
            </p:nvSpPr>
            <p:spPr>
              <a:xfrm>
                <a:off x="5200505" y="3710835"/>
                <a:ext cx="228600" cy="228600"/>
              </a:xfrm>
              <a:prstGeom prst="ellipse">
                <a:avLst/>
              </a:prstGeom>
              <a:solidFill>
                <a:srgbClr val="02C39A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089D33C-75E0-5C94-CFF8-78E7A593F8FD}"/>
                  </a:ext>
                </a:extLst>
              </p:cNvPr>
              <p:cNvGrpSpPr/>
              <p:nvPr/>
            </p:nvGrpSpPr>
            <p:grpSpPr>
              <a:xfrm>
                <a:off x="5017625" y="2247795"/>
                <a:ext cx="3474720" cy="1691640"/>
                <a:chOff x="5017625" y="2247795"/>
                <a:chExt cx="3474720" cy="1691640"/>
              </a:xfrm>
            </p:grpSpPr>
            <p:sp>
              <p:nvSpPr>
                <p:cNvPr id="27" name="Text 19">
                  <a:extLst>
                    <a:ext uri="{FF2B5EF4-FFF2-40B4-BE49-F238E27FC236}">
                      <a16:creationId xmlns:a16="http://schemas.microsoft.com/office/drawing/2014/main" id="{1417F942-15C2-C849-ECBE-49C9FA93E864}"/>
                    </a:ext>
                  </a:extLst>
                </p:cNvPr>
                <p:cNvSpPr/>
                <p:nvPr/>
              </p:nvSpPr>
              <p:spPr>
                <a:xfrm>
                  <a:off x="5017625" y="2247795"/>
                  <a:ext cx="347472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200" b="1" dirty="0">
                      <a:solidFill>
                        <a:schemeClr val="accent6"/>
                      </a:solidFill>
                    </a:rPr>
                    <a:t>Security Foundation</a:t>
                  </a:r>
                  <a:endParaRPr lang="en-US" sz="2200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29" name="Text 21">
                  <a:extLst>
                    <a:ext uri="{FF2B5EF4-FFF2-40B4-BE49-F238E27FC236}">
                      <a16:creationId xmlns:a16="http://schemas.microsoft.com/office/drawing/2014/main" id="{D5025AD8-3312-A062-7B3A-C4AF58D7D999}"/>
                    </a:ext>
                  </a:extLst>
                </p:cNvPr>
                <p:cNvSpPr/>
                <p:nvPr/>
              </p:nvSpPr>
              <p:spPr>
                <a:xfrm>
                  <a:off x="5566265" y="27507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End-to-end encryption</a:t>
                  </a:r>
                </a:p>
              </p:txBody>
            </p:sp>
            <p:sp>
              <p:nvSpPr>
                <p:cNvPr id="31" name="Text 23">
                  <a:extLst>
                    <a:ext uri="{FF2B5EF4-FFF2-40B4-BE49-F238E27FC236}">
                      <a16:creationId xmlns:a16="http://schemas.microsoft.com/office/drawing/2014/main" id="{1449B1E9-1978-28FD-C772-CA32E39DAA4A}"/>
                    </a:ext>
                  </a:extLst>
                </p:cNvPr>
                <p:cNvSpPr/>
                <p:nvPr/>
              </p:nvSpPr>
              <p:spPr>
                <a:xfrm>
                  <a:off x="5566265" y="32079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Role-based access control</a:t>
                  </a:r>
                </a:p>
              </p:txBody>
            </p:sp>
            <p:sp>
              <p:nvSpPr>
                <p:cNvPr id="33" name="Text 25">
                  <a:extLst>
                    <a:ext uri="{FF2B5EF4-FFF2-40B4-BE49-F238E27FC236}">
                      <a16:creationId xmlns:a16="http://schemas.microsoft.com/office/drawing/2014/main" id="{4362DF4D-5B0F-F3AC-A524-939913FCE4E9}"/>
                    </a:ext>
                  </a:extLst>
                </p:cNvPr>
                <p:cNvSpPr/>
                <p:nvPr/>
              </p:nvSpPr>
              <p:spPr>
                <a:xfrm>
                  <a:off x="5566265" y="3665115"/>
                  <a:ext cx="27432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400" dirty="0">
                      <a:solidFill>
                        <a:schemeClr val="accent6"/>
                      </a:solidFill>
                    </a:rPr>
                    <a:t>Patient-controlled permissions</a:t>
                  </a:r>
                </a:p>
              </p:txBody>
            </p:sp>
          </p:grp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BAAD8AB-F895-EBE9-576D-83D3EA1BF554}"/>
              </a:ext>
            </a:extLst>
          </p:cNvPr>
          <p:cNvGrpSpPr/>
          <p:nvPr/>
        </p:nvGrpSpPr>
        <p:grpSpPr>
          <a:xfrm>
            <a:off x="575672" y="1824346"/>
            <a:ext cx="3840480" cy="502920"/>
            <a:chOff x="490765" y="894713"/>
            <a:chExt cx="3840480" cy="502920"/>
          </a:xfrm>
        </p:grpSpPr>
        <p:pic>
          <p:nvPicPr>
            <p:cNvPr id="40" name="Image 0" descr="preencoded.png">
              <a:extLst>
                <a:ext uri="{FF2B5EF4-FFF2-40B4-BE49-F238E27FC236}">
                  <a16:creationId xmlns:a16="http://schemas.microsoft.com/office/drawing/2014/main" id="{B8C5DCC5-E8DA-D8CC-7B85-17964423F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1" name="Text 3">
              <a:extLst>
                <a:ext uri="{FF2B5EF4-FFF2-40B4-BE49-F238E27FC236}">
                  <a16:creationId xmlns:a16="http://schemas.microsoft.com/office/drawing/2014/main" id="{8C48228A-4B19-374B-22F1-3BD0269750EE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Doctors, Nurses, Labs are local</a:t>
              </a:r>
              <a:endParaRPr lang="en-US" sz="1400" dirty="0"/>
            </a:p>
          </p:txBody>
        </p:sp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2DD46C26-996C-1181-8689-BB2356061A1F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Must belong to a verified hospital/organization</a:t>
              </a:r>
              <a:endParaRPr lang="en-US" sz="11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DEDE625-6D1D-7272-3108-7D13AEECF245}"/>
              </a:ext>
            </a:extLst>
          </p:cNvPr>
          <p:cNvGrpSpPr/>
          <p:nvPr/>
        </p:nvGrpSpPr>
        <p:grpSpPr>
          <a:xfrm>
            <a:off x="582209" y="2584168"/>
            <a:ext cx="3944078" cy="502920"/>
            <a:chOff x="490765" y="894713"/>
            <a:chExt cx="3840480" cy="502920"/>
          </a:xfrm>
        </p:grpSpPr>
        <p:pic>
          <p:nvPicPr>
            <p:cNvPr id="44" name="Image 0" descr="preencoded.png">
              <a:extLst>
                <a:ext uri="{FF2B5EF4-FFF2-40B4-BE49-F238E27FC236}">
                  <a16:creationId xmlns:a16="http://schemas.microsoft.com/office/drawing/2014/main" id="{3D525844-3433-B945-FA89-75CBFC375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5" name="Text 3">
              <a:extLst>
                <a:ext uri="{FF2B5EF4-FFF2-40B4-BE49-F238E27FC236}">
                  <a16:creationId xmlns:a16="http://schemas.microsoft.com/office/drawing/2014/main" id="{FA495EEC-5040-5971-ECEE-5DA79B7E1AE0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E2557014-61B9-BB6E-1C18-D884CB902A14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Approves every non-patient user (zero trust onboarding)</a:t>
              </a:r>
              <a:endParaRPr lang="en-US" sz="11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83F09A-09A0-D836-220D-63DBF15F4338}"/>
              </a:ext>
            </a:extLst>
          </p:cNvPr>
          <p:cNvGrpSpPr/>
          <p:nvPr/>
        </p:nvGrpSpPr>
        <p:grpSpPr>
          <a:xfrm>
            <a:off x="608336" y="3343990"/>
            <a:ext cx="3840480" cy="502920"/>
            <a:chOff x="490765" y="894713"/>
            <a:chExt cx="3840480" cy="502920"/>
          </a:xfrm>
        </p:grpSpPr>
        <p:pic>
          <p:nvPicPr>
            <p:cNvPr id="48" name="Image 0" descr="preencoded.png">
              <a:extLst>
                <a:ext uri="{FF2B5EF4-FFF2-40B4-BE49-F238E27FC236}">
                  <a16:creationId xmlns:a16="http://schemas.microsoft.com/office/drawing/2014/main" id="{705F2048-7FDB-4A5A-FA7D-DB00417F1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765" y="894713"/>
              <a:ext cx="274320" cy="274320"/>
            </a:xfrm>
            <a:prstGeom prst="rect">
              <a:avLst/>
            </a:prstGeom>
          </p:spPr>
        </p:pic>
        <p:sp>
          <p:nvSpPr>
            <p:cNvPr id="49" name="Text 3">
              <a:extLst>
                <a:ext uri="{FF2B5EF4-FFF2-40B4-BE49-F238E27FC236}">
                  <a16:creationId xmlns:a16="http://schemas.microsoft.com/office/drawing/2014/main" id="{22339930-77E9-0ED2-95F2-1477EF69C736}"/>
                </a:ext>
              </a:extLst>
            </p:cNvPr>
            <p:cNvSpPr/>
            <p:nvPr/>
          </p:nvSpPr>
          <p:spPr>
            <a:xfrm>
              <a:off x="856525" y="894713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All Access Audited</a:t>
              </a:r>
              <a:endParaRPr lang="en-US" sz="1400" dirty="0"/>
            </a:p>
          </p:txBody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C9FFB58F-3AEE-657F-E2C1-730D52061989}"/>
                </a:ext>
              </a:extLst>
            </p:cNvPr>
            <p:cNvSpPr/>
            <p:nvPr/>
          </p:nvSpPr>
          <p:spPr>
            <a:xfrm>
              <a:off x="856525" y="1169033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• Who? What? When? Why? Immutable logs.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612783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PLATFORM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238206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E715453-EC2C-A556-3FD6-47EBE6D021DD}"/>
              </a:ext>
            </a:extLst>
          </p:cNvPr>
          <p:cNvGrpSpPr/>
          <p:nvPr/>
        </p:nvGrpSpPr>
        <p:grpSpPr>
          <a:xfrm>
            <a:off x="-4150705" y="984129"/>
            <a:ext cx="4141700" cy="481024"/>
            <a:chOff x="-4150705" y="984129"/>
            <a:chExt cx="4141700" cy="481024"/>
          </a:xfrm>
        </p:grpSpPr>
        <p:sp>
          <p:nvSpPr>
            <p:cNvPr id="4" name="Shape 2"/>
            <p:cNvSpPr/>
            <p:nvPr/>
          </p:nvSpPr>
          <p:spPr>
            <a:xfrm>
              <a:off x="-4150705" y="1029852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12719A8-AF41-254E-98AE-AC08ACE2099A}"/>
                </a:ext>
              </a:extLst>
            </p:cNvPr>
            <p:cNvGrpSpPr/>
            <p:nvPr/>
          </p:nvGrpSpPr>
          <p:grpSpPr>
            <a:xfrm>
              <a:off x="-4150705" y="984129"/>
              <a:ext cx="4141700" cy="435301"/>
              <a:chOff x="342900" y="984129"/>
              <a:chExt cx="4141700" cy="435301"/>
            </a:xfrm>
          </p:grpSpPr>
          <p:sp>
            <p:nvSpPr>
              <p:cNvPr id="5" name="Text 3"/>
              <p:cNvSpPr/>
              <p:nvPr/>
            </p:nvSpPr>
            <p:spPr>
              <a:xfrm>
                <a:off x="342900" y="984129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1</a:t>
                </a:r>
                <a:endParaRPr lang="en-US" sz="2200" dirty="0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883122" y="98412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Registration Once</a:t>
                </a:r>
                <a:endParaRPr lang="en-US" sz="1400" dirty="0"/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883122" y="120177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Gets QR ready UUID</a:t>
                </a:r>
                <a:endParaRPr lang="en-US" sz="1100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7A840AD-1D72-D57A-CDFB-51E49D347541}"/>
              </a:ext>
            </a:extLst>
          </p:cNvPr>
          <p:cNvGrpSpPr/>
          <p:nvPr/>
        </p:nvGrpSpPr>
        <p:grpSpPr>
          <a:xfrm>
            <a:off x="-4150705" y="1610962"/>
            <a:ext cx="4141700" cy="435301"/>
            <a:chOff x="4709692" y="984129"/>
            <a:chExt cx="4141700" cy="435301"/>
          </a:xfrm>
        </p:grpSpPr>
        <p:sp>
          <p:nvSpPr>
            <p:cNvPr id="8" name="Shape 6"/>
            <p:cNvSpPr/>
            <p:nvPr/>
          </p:nvSpPr>
          <p:spPr>
            <a:xfrm>
              <a:off x="4709692" y="984129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4709692" y="984129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2</a:t>
              </a:r>
              <a:endParaRPr lang="en-US" sz="2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249914" y="98412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 logs in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249914" y="120177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Searches patient by ID/QR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9964FB-3FA2-95E3-E3FA-CC2B290075BA}"/>
              </a:ext>
            </a:extLst>
          </p:cNvPr>
          <p:cNvGrpSpPr/>
          <p:nvPr/>
        </p:nvGrpSpPr>
        <p:grpSpPr>
          <a:xfrm>
            <a:off x="-4168341" y="2209400"/>
            <a:ext cx="4141700" cy="435301"/>
            <a:chOff x="342900" y="1828613"/>
            <a:chExt cx="4141700" cy="435301"/>
          </a:xfrm>
        </p:grpSpPr>
        <p:sp>
          <p:nvSpPr>
            <p:cNvPr id="12" name="Shape 10"/>
            <p:cNvSpPr/>
            <p:nvPr/>
          </p:nvSpPr>
          <p:spPr>
            <a:xfrm>
              <a:off x="342900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B8D8E17-36EE-DA40-3A98-BA27F8E132F0}"/>
                </a:ext>
              </a:extLst>
            </p:cNvPr>
            <p:cNvGrpSpPr/>
            <p:nvPr/>
          </p:nvGrpSpPr>
          <p:grpSpPr>
            <a:xfrm>
              <a:off x="342900" y="1828613"/>
              <a:ext cx="4141700" cy="435301"/>
              <a:chOff x="342900" y="1828613"/>
              <a:chExt cx="4141700" cy="435301"/>
            </a:xfrm>
          </p:grpSpPr>
          <p:sp>
            <p:nvSpPr>
              <p:cNvPr id="13" name="Text 11"/>
              <p:cNvSpPr/>
              <p:nvPr/>
            </p:nvSpPr>
            <p:spPr>
              <a:xfrm>
                <a:off x="342900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3</a:t>
                </a:r>
                <a:endParaRPr lang="en-US" sz="22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883122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Consequent Requested</a:t>
                </a:r>
                <a:endParaRPr lang="en-US" sz="14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883122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OTP sent to patient (mock SMS)</a:t>
                </a:r>
                <a:endParaRPr lang="en-US" sz="1100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45E7AD-C67A-BD25-9394-508DB65A1373}"/>
              </a:ext>
            </a:extLst>
          </p:cNvPr>
          <p:cNvGrpSpPr/>
          <p:nvPr/>
        </p:nvGrpSpPr>
        <p:grpSpPr>
          <a:xfrm>
            <a:off x="-4181403" y="2869104"/>
            <a:ext cx="4141700" cy="435301"/>
            <a:chOff x="4709692" y="1828613"/>
            <a:chExt cx="4141700" cy="435301"/>
          </a:xfrm>
        </p:grpSpPr>
        <p:sp>
          <p:nvSpPr>
            <p:cNvPr id="16" name="Shape 14"/>
            <p:cNvSpPr/>
            <p:nvPr/>
          </p:nvSpPr>
          <p:spPr>
            <a:xfrm>
              <a:off x="4709692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BD5B31E-34E9-2576-CD9D-7971804C6E42}"/>
                </a:ext>
              </a:extLst>
            </p:cNvPr>
            <p:cNvGrpSpPr/>
            <p:nvPr/>
          </p:nvGrpSpPr>
          <p:grpSpPr>
            <a:xfrm>
              <a:off x="4709692" y="1828613"/>
              <a:ext cx="4141700" cy="435301"/>
              <a:chOff x="4709692" y="1828613"/>
              <a:chExt cx="4141700" cy="435301"/>
            </a:xfrm>
          </p:grpSpPr>
          <p:sp>
            <p:nvSpPr>
              <p:cNvPr id="17" name="Text 15"/>
              <p:cNvSpPr/>
              <p:nvPr/>
            </p:nvSpPr>
            <p:spPr>
              <a:xfrm>
                <a:off x="4709692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4</a:t>
                </a:r>
                <a:endParaRPr lang="en-US" sz="22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5249914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shares OTP</a:t>
                </a:r>
                <a:endParaRPr lang="en-US" sz="14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249914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Access granted to view records</a:t>
                </a:r>
                <a:endParaRPr lang="en-US" sz="1100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513F3C4-54C4-0D74-BC44-FDB396F26F3C}"/>
              </a:ext>
            </a:extLst>
          </p:cNvPr>
          <p:cNvGrpSpPr/>
          <p:nvPr/>
        </p:nvGrpSpPr>
        <p:grpSpPr>
          <a:xfrm>
            <a:off x="-4200996" y="3504400"/>
            <a:ext cx="4141700" cy="435301"/>
            <a:chOff x="342900" y="2673096"/>
            <a:chExt cx="4141700" cy="435301"/>
          </a:xfrm>
        </p:grpSpPr>
        <p:sp>
          <p:nvSpPr>
            <p:cNvPr id="20" name="Shape 18"/>
            <p:cNvSpPr/>
            <p:nvPr/>
          </p:nvSpPr>
          <p:spPr>
            <a:xfrm>
              <a:off x="342900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353FD7E-A635-ADC9-B70D-615D35849681}"/>
                </a:ext>
              </a:extLst>
            </p:cNvPr>
            <p:cNvGrpSpPr/>
            <p:nvPr/>
          </p:nvGrpSpPr>
          <p:grpSpPr>
            <a:xfrm>
              <a:off x="342900" y="2673096"/>
              <a:ext cx="4141700" cy="435301"/>
              <a:chOff x="342900" y="2673096"/>
              <a:chExt cx="4141700" cy="435301"/>
            </a:xfrm>
          </p:grpSpPr>
          <p:sp>
            <p:nvSpPr>
              <p:cNvPr id="21" name="Text 19"/>
              <p:cNvSpPr/>
              <p:nvPr/>
            </p:nvSpPr>
            <p:spPr>
              <a:xfrm>
                <a:off x="342900" y="2673096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5</a:t>
                </a:r>
                <a:endParaRPr lang="en-US" sz="2200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883122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Medical Record Update</a:t>
                </a:r>
                <a:endParaRPr lang="en-US" sz="14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883122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Doctor uploads diagnosis &amp; prescription; labs upload verified reports</a:t>
                </a:r>
                <a:endParaRPr lang="en-US" sz="1100" dirty="0"/>
              </a:p>
            </p:txBody>
          </p:sp>
        </p:grpSp>
      </p:grpSp>
      <p:sp>
        <p:nvSpPr>
          <p:cNvPr id="29" name="Text 27"/>
          <p:cNvSpPr/>
          <p:nvPr/>
        </p:nvSpPr>
        <p:spPr>
          <a:xfrm>
            <a:off x="342900" y="3517580"/>
            <a:ext cx="450185" cy="435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4657B21-12D9-D3EF-CBF4-082907088C8F}"/>
              </a:ext>
            </a:extLst>
          </p:cNvPr>
          <p:cNvGrpSpPr/>
          <p:nvPr/>
        </p:nvGrpSpPr>
        <p:grpSpPr>
          <a:xfrm>
            <a:off x="-4200996" y="4233566"/>
            <a:ext cx="4141700" cy="435302"/>
            <a:chOff x="351912" y="3516681"/>
            <a:chExt cx="4141700" cy="43530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DA35509-6E2A-C22C-5D59-BAC9929DB09F}"/>
                </a:ext>
              </a:extLst>
            </p:cNvPr>
            <p:cNvGrpSpPr/>
            <p:nvPr/>
          </p:nvGrpSpPr>
          <p:grpSpPr>
            <a:xfrm>
              <a:off x="351912" y="3516681"/>
              <a:ext cx="4141700" cy="435301"/>
              <a:chOff x="4709692" y="2673096"/>
              <a:chExt cx="4141700" cy="435301"/>
            </a:xfrm>
          </p:grpSpPr>
          <p:sp>
            <p:nvSpPr>
              <p:cNvPr id="24" name="Shape 22"/>
              <p:cNvSpPr/>
              <p:nvPr/>
            </p:nvSpPr>
            <p:spPr>
              <a:xfrm>
                <a:off x="4709692" y="2673096"/>
                <a:ext cx="450185" cy="435301"/>
              </a:xfrm>
              <a:prstGeom prst="ellipse">
                <a:avLst/>
              </a:prstGeom>
              <a:solidFill>
                <a:srgbClr val="02809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5249914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Emergency?</a:t>
                </a:r>
                <a:endParaRPr lang="en-US" sz="1400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5249914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Break-glass with justification by authorized users</a:t>
                </a:r>
                <a:endParaRPr lang="en-US" sz="1100" dirty="0"/>
              </a:p>
            </p:txBody>
          </p:sp>
        </p:grpSp>
        <p:sp>
          <p:nvSpPr>
            <p:cNvPr id="25" name="Text 23"/>
            <p:cNvSpPr/>
            <p:nvPr/>
          </p:nvSpPr>
          <p:spPr>
            <a:xfrm>
              <a:off x="351912" y="3516682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6</a:t>
              </a:r>
              <a:endParaRPr lang="en-US" sz="2200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58775EAE-9710-0B5D-8202-0F799D2D35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17" t="14652" r="2784" b="53600"/>
          <a:stretch>
            <a:fillRect/>
          </a:stretch>
        </p:blipFill>
        <p:spPr>
          <a:xfrm>
            <a:off x="5695406" y="2246251"/>
            <a:ext cx="2407920" cy="25426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859D009A-A234-24D7-1E77-9A6B0CC316B9}"/>
              </a:ext>
            </a:extLst>
          </p:cNvPr>
          <p:cNvGrpSpPr/>
          <p:nvPr/>
        </p:nvGrpSpPr>
        <p:grpSpPr>
          <a:xfrm>
            <a:off x="9205815" y="1284486"/>
            <a:ext cx="4141700" cy="435301"/>
            <a:chOff x="4709692" y="2673096"/>
            <a:chExt cx="4141700" cy="435301"/>
          </a:xfrm>
        </p:grpSpPr>
        <p:sp>
          <p:nvSpPr>
            <p:cNvPr id="41" name="Shape 22">
              <a:extLst>
                <a:ext uri="{FF2B5EF4-FFF2-40B4-BE49-F238E27FC236}">
                  <a16:creationId xmlns:a16="http://schemas.microsoft.com/office/drawing/2014/main" id="{4F8C8E77-279A-CC60-F7B1-4FFB86226DE2}"/>
                </a:ext>
              </a:extLst>
            </p:cNvPr>
            <p:cNvSpPr/>
            <p:nvPr/>
          </p:nvSpPr>
          <p:spPr>
            <a:xfrm>
              <a:off x="4709692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r>
                <a:rPr lang="en-US" b="1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42" name="Text 24">
              <a:extLst>
                <a:ext uri="{FF2B5EF4-FFF2-40B4-BE49-F238E27FC236}">
                  <a16:creationId xmlns:a16="http://schemas.microsoft.com/office/drawing/2014/main" id="{CD0A8644-8E05-5B98-69E7-2B2786C01E1C}"/>
                </a:ext>
              </a:extLst>
            </p:cNvPr>
            <p:cNvSpPr/>
            <p:nvPr/>
          </p:nvSpPr>
          <p:spPr>
            <a:xfrm>
              <a:off x="5249914" y="2673096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3" name="Text 25">
              <a:extLst>
                <a:ext uri="{FF2B5EF4-FFF2-40B4-BE49-F238E27FC236}">
                  <a16:creationId xmlns:a16="http://schemas.microsoft.com/office/drawing/2014/main" id="{2EE3DBDE-6396-FDD2-CFE0-C1AAFCF20F0A}"/>
                </a:ext>
              </a:extLst>
            </p:cNvPr>
            <p:cNvSpPr/>
            <p:nvPr/>
          </p:nvSpPr>
          <p:spPr>
            <a:xfrm>
              <a:off x="5249914" y="2890747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See full audit trail</a:t>
              </a:r>
              <a:endParaRPr lang="en-US" sz="1100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FEEF4-A8EB-00B6-78FC-1660986A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0B48B9-4136-3EAD-CE41-9ECC2B77E44E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PLATFORM WORKFLOW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1B0FE6-981F-CF72-4FFC-CCCE1E376AF2}"/>
              </a:ext>
            </a:extLst>
          </p:cNvPr>
          <p:cNvSpPr/>
          <p:nvPr/>
        </p:nvSpPr>
        <p:spPr>
          <a:xfrm>
            <a:off x="457200" y="868680"/>
            <a:ext cx="5238206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236F82-7B76-317E-8E6C-2BCFF06D956F}"/>
              </a:ext>
            </a:extLst>
          </p:cNvPr>
          <p:cNvGrpSpPr/>
          <p:nvPr/>
        </p:nvGrpSpPr>
        <p:grpSpPr>
          <a:xfrm>
            <a:off x="480061" y="984129"/>
            <a:ext cx="4141700" cy="481024"/>
            <a:chOff x="-4150705" y="984129"/>
            <a:chExt cx="4141700" cy="48102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04145DB4-C300-9A39-C7A9-0D96F827D148}"/>
                </a:ext>
              </a:extLst>
            </p:cNvPr>
            <p:cNvSpPr/>
            <p:nvPr/>
          </p:nvSpPr>
          <p:spPr>
            <a:xfrm>
              <a:off x="-4150705" y="1029852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9744944-3968-F9E1-6863-8D41480F39AD}"/>
                </a:ext>
              </a:extLst>
            </p:cNvPr>
            <p:cNvGrpSpPr/>
            <p:nvPr/>
          </p:nvGrpSpPr>
          <p:grpSpPr>
            <a:xfrm>
              <a:off x="-4150705" y="984129"/>
              <a:ext cx="4141700" cy="435301"/>
              <a:chOff x="342900" y="984129"/>
              <a:chExt cx="4141700" cy="435301"/>
            </a:xfrm>
          </p:grpSpPr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2FED6D77-4829-597B-6D65-8C68504D2BF1}"/>
                  </a:ext>
                </a:extLst>
              </p:cNvPr>
              <p:cNvSpPr/>
              <p:nvPr/>
            </p:nvSpPr>
            <p:spPr>
              <a:xfrm>
                <a:off x="342900" y="984129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1</a:t>
                </a:r>
                <a:endParaRPr lang="en-US" sz="2200" dirty="0"/>
              </a:p>
            </p:txBody>
          </p:sp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2D0B57F7-F950-08DB-3BAD-FDB3AB601381}"/>
                  </a:ext>
                </a:extLst>
              </p:cNvPr>
              <p:cNvSpPr/>
              <p:nvPr/>
            </p:nvSpPr>
            <p:spPr>
              <a:xfrm>
                <a:off x="883122" y="98412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Registration Once</a:t>
                </a:r>
                <a:endParaRPr lang="en-US" sz="1400" dirty="0"/>
              </a:p>
            </p:txBody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7E43FD8D-FC92-C295-6683-4F50CECBB270}"/>
                  </a:ext>
                </a:extLst>
              </p:cNvPr>
              <p:cNvSpPr/>
              <p:nvPr/>
            </p:nvSpPr>
            <p:spPr>
              <a:xfrm>
                <a:off x="883122" y="120177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Gets QR ready UUID</a:t>
                </a:r>
                <a:endParaRPr lang="en-US" sz="1100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7E5D3B-E20D-E54D-80DC-F94D299CE5D0}"/>
              </a:ext>
            </a:extLst>
          </p:cNvPr>
          <p:cNvGrpSpPr/>
          <p:nvPr/>
        </p:nvGrpSpPr>
        <p:grpSpPr>
          <a:xfrm>
            <a:off x="-4150705" y="1610962"/>
            <a:ext cx="4141700" cy="435301"/>
            <a:chOff x="4709692" y="984129"/>
            <a:chExt cx="4141700" cy="435301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8774E9B4-6EAE-BAA2-F37A-46B55BDB508A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A76041F4-FC66-B12C-332F-B8C27CE86FE7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2</a:t>
              </a:r>
              <a:endParaRPr lang="en-US" sz="22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178BE0F9-61FF-EF09-A3E4-0169F0B5EC90}"/>
                </a:ext>
              </a:extLst>
            </p:cNvPr>
            <p:cNvSpPr/>
            <p:nvPr/>
          </p:nvSpPr>
          <p:spPr>
            <a:xfrm>
              <a:off x="5249914" y="98412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 logs in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6B0CC014-7E66-06F3-C89C-07577936C456}"/>
                </a:ext>
              </a:extLst>
            </p:cNvPr>
            <p:cNvSpPr/>
            <p:nvPr/>
          </p:nvSpPr>
          <p:spPr>
            <a:xfrm>
              <a:off x="5249914" y="120177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Searches patient by ID/QR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C13A69B-299E-7B6C-7076-9C330C4A8358}"/>
              </a:ext>
            </a:extLst>
          </p:cNvPr>
          <p:cNvGrpSpPr/>
          <p:nvPr/>
        </p:nvGrpSpPr>
        <p:grpSpPr>
          <a:xfrm>
            <a:off x="-4168341" y="2209400"/>
            <a:ext cx="4141700" cy="435301"/>
            <a:chOff x="342900" y="1828613"/>
            <a:chExt cx="4141700" cy="435301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35128772-CAFD-6EE0-94C3-023879D0760F}"/>
                </a:ext>
              </a:extLst>
            </p:cNvPr>
            <p:cNvSpPr/>
            <p:nvPr/>
          </p:nvSpPr>
          <p:spPr>
            <a:xfrm>
              <a:off x="342900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3939769-1D76-D544-B1A6-AEBACBF15BBA}"/>
                </a:ext>
              </a:extLst>
            </p:cNvPr>
            <p:cNvGrpSpPr/>
            <p:nvPr/>
          </p:nvGrpSpPr>
          <p:grpSpPr>
            <a:xfrm>
              <a:off x="342900" y="1828613"/>
              <a:ext cx="4141700" cy="435301"/>
              <a:chOff x="342900" y="1828613"/>
              <a:chExt cx="4141700" cy="435301"/>
            </a:xfrm>
          </p:grpSpPr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13434AD3-9F32-9452-8E26-1B41CB6026E7}"/>
                  </a:ext>
                </a:extLst>
              </p:cNvPr>
              <p:cNvSpPr/>
              <p:nvPr/>
            </p:nvSpPr>
            <p:spPr>
              <a:xfrm>
                <a:off x="342900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3</a:t>
                </a:r>
                <a:endParaRPr lang="en-US" sz="2200" dirty="0"/>
              </a:p>
            </p:txBody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EC759FF1-151D-1450-6826-E1C102D8A350}"/>
                  </a:ext>
                </a:extLst>
              </p:cNvPr>
              <p:cNvSpPr/>
              <p:nvPr/>
            </p:nvSpPr>
            <p:spPr>
              <a:xfrm>
                <a:off x="883122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Consequent Requested</a:t>
                </a:r>
                <a:endParaRPr lang="en-US" sz="1400" dirty="0"/>
              </a:p>
            </p:txBody>
          </p:sp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7E2C46E7-2574-31C8-3633-86506BBE6D9E}"/>
                  </a:ext>
                </a:extLst>
              </p:cNvPr>
              <p:cNvSpPr/>
              <p:nvPr/>
            </p:nvSpPr>
            <p:spPr>
              <a:xfrm>
                <a:off x="883122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OTP sent to patient (mock SMS)</a:t>
                </a:r>
                <a:endParaRPr lang="en-US" sz="1100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FEDF37A-D2B0-F3B9-8DFE-289A00E4C5E4}"/>
              </a:ext>
            </a:extLst>
          </p:cNvPr>
          <p:cNvGrpSpPr/>
          <p:nvPr/>
        </p:nvGrpSpPr>
        <p:grpSpPr>
          <a:xfrm>
            <a:off x="-4181403" y="2869104"/>
            <a:ext cx="4141700" cy="435301"/>
            <a:chOff x="4709692" y="1828613"/>
            <a:chExt cx="4141700" cy="435301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E8F13322-7C98-9F01-73C0-EBB168316E2C}"/>
                </a:ext>
              </a:extLst>
            </p:cNvPr>
            <p:cNvSpPr/>
            <p:nvPr/>
          </p:nvSpPr>
          <p:spPr>
            <a:xfrm>
              <a:off x="4709692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633C899-36D0-B1AE-1FD1-8F450EDA3F81}"/>
                </a:ext>
              </a:extLst>
            </p:cNvPr>
            <p:cNvGrpSpPr/>
            <p:nvPr/>
          </p:nvGrpSpPr>
          <p:grpSpPr>
            <a:xfrm>
              <a:off x="4709692" y="1828613"/>
              <a:ext cx="4141700" cy="435301"/>
              <a:chOff x="4709692" y="1828613"/>
              <a:chExt cx="4141700" cy="435301"/>
            </a:xfrm>
          </p:grpSpPr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A595BC9E-94D0-0B96-69E0-6FD668641A0A}"/>
                  </a:ext>
                </a:extLst>
              </p:cNvPr>
              <p:cNvSpPr/>
              <p:nvPr/>
            </p:nvSpPr>
            <p:spPr>
              <a:xfrm>
                <a:off x="4709692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4</a:t>
                </a:r>
                <a:endParaRPr lang="en-US" sz="2200" dirty="0"/>
              </a:p>
            </p:txBody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CABA3D75-BAE3-2006-A1CB-6E5A52B2E9D6}"/>
                  </a:ext>
                </a:extLst>
              </p:cNvPr>
              <p:cNvSpPr/>
              <p:nvPr/>
            </p:nvSpPr>
            <p:spPr>
              <a:xfrm>
                <a:off x="5249914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shares OTP</a:t>
                </a:r>
                <a:endParaRPr lang="en-US" sz="1400" dirty="0"/>
              </a:p>
            </p:txBody>
          </p:sp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ABDC8F04-D9AA-AF70-0DC4-A499E7ECB3C9}"/>
                  </a:ext>
                </a:extLst>
              </p:cNvPr>
              <p:cNvSpPr/>
              <p:nvPr/>
            </p:nvSpPr>
            <p:spPr>
              <a:xfrm>
                <a:off x="5249914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Access granted to view records</a:t>
                </a:r>
                <a:endParaRPr lang="en-US" sz="1100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186EE7B-3B7C-3CF2-009B-DB42CCAB9397}"/>
              </a:ext>
            </a:extLst>
          </p:cNvPr>
          <p:cNvGrpSpPr/>
          <p:nvPr/>
        </p:nvGrpSpPr>
        <p:grpSpPr>
          <a:xfrm>
            <a:off x="-4200996" y="3504400"/>
            <a:ext cx="4141700" cy="435301"/>
            <a:chOff x="342900" y="2673096"/>
            <a:chExt cx="4141700" cy="435301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4DAE683E-0E4E-D89C-CBDE-1084C1097D5A}"/>
                </a:ext>
              </a:extLst>
            </p:cNvPr>
            <p:cNvSpPr/>
            <p:nvPr/>
          </p:nvSpPr>
          <p:spPr>
            <a:xfrm>
              <a:off x="342900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A6EF40D-7FD4-BE1C-6347-E24E54F81EAE}"/>
                </a:ext>
              </a:extLst>
            </p:cNvPr>
            <p:cNvGrpSpPr/>
            <p:nvPr/>
          </p:nvGrpSpPr>
          <p:grpSpPr>
            <a:xfrm>
              <a:off x="342900" y="2673096"/>
              <a:ext cx="4141700" cy="435301"/>
              <a:chOff x="342900" y="2673096"/>
              <a:chExt cx="4141700" cy="435301"/>
            </a:xfrm>
          </p:grpSpPr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5B335718-948C-79F3-C97B-88096710B915}"/>
                  </a:ext>
                </a:extLst>
              </p:cNvPr>
              <p:cNvSpPr/>
              <p:nvPr/>
            </p:nvSpPr>
            <p:spPr>
              <a:xfrm>
                <a:off x="342900" y="2673096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5</a:t>
                </a:r>
                <a:endParaRPr lang="en-US" sz="2200" dirty="0"/>
              </a:p>
            </p:txBody>
          </p:sp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F2CA6E20-B283-4EF3-D1E4-CC41F0D5819F}"/>
                  </a:ext>
                </a:extLst>
              </p:cNvPr>
              <p:cNvSpPr/>
              <p:nvPr/>
            </p:nvSpPr>
            <p:spPr>
              <a:xfrm>
                <a:off x="883122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Medical Record Update</a:t>
                </a:r>
                <a:endParaRPr lang="en-US" sz="1400" dirty="0"/>
              </a:p>
            </p:txBody>
          </p:sp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28E184DC-C796-4AFE-48C6-03F880A6D4E4}"/>
                  </a:ext>
                </a:extLst>
              </p:cNvPr>
              <p:cNvSpPr/>
              <p:nvPr/>
            </p:nvSpPr>
            <p:spPr>
              <a:xfrm>
                <a:off x="883122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Doctor uploads diagnosis &amp; prescription; labs upload verified reports</a:t>
                </a:r>
                <a:endParaRPr lang="en-US" sz="1100" dirty="0"/>
              </a:p>
            </p:txBody>
          </p:sp>
        </p:grpSp>
      </p:grpSp>
      <p:sp>
        <p:nvSpPr>
          <p:cNvPr id="29" name="Text 27">
            <a:extLst>
              <a:ext uri="{FF2B5EF4-FFF2-40B4-BE49-F238E27FC236}">
                <a16:creationId xmlns:a16="http://schemas.microsoft.com/office/drawing/2014/main" id="{B7346AD3-DA7D-18F5-9655-FCD5B6A52BC1}"/>
              </a:ext>
            </a:extLst>
          </p:cNvPr>
          <p:cNvSpPr/>
          <p:nvPr/>
        </p:nvSpPr>
        <p:spPr>
          <a:xfrm>
            <a:off x="342900" y="3517580"/>
            <a:ext cx="450185" cy="435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4C9922C-0C97-2561-1503-917A5FB257F7}"/>
              </a:ext>
            </a:extLst>
          </p:cNvPr>
          <p:cNvGrpSpPr/>
          <p:nvPr/>
        </p:nvGrpSpPr>
        <p:grpSpPr>
          <a:xfrm>
            <a:off x="-4200996" y="4233566"/>
            <a:ext cx="4141700" cy="435302"/>
            <a:chOff x="351912" y="3516681"/>
            <a:chExt cx="4141700" cy="43530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B61DF55-493A-F949-6BA0-AE1C0F0A9F1E}"/>
                </a:ext>
              </a:extLst>
            </p:cNvPr>
            <p:cNvGrpSpPr/>
            <p:nvPr/>
          </p:nvGrpSpPr>
          <p:grpSpPr>
            <a:xfrm>
              <a:off x="351912" y="3516681"/>
              <a:ext cx="4141700" cy="435301"/>
              <a:chOff x="4709692" y="2673096"/>
              <a:chExt cx="4141700" cy="435301"/>
            </a:xfrm>
          </p:grpSpPr>
          <p:sp>
            <p:nvSpPr>
              <p:cNvPr id="24" name="Shape 22">
                <a:extLst>
                  <a:ext uri="{FF2B5EF4-FFF2-40B4-BE49-F238E27FC236}">
                    <a16:creationId xmlns:a16="http://schemas.microsoft.com/office/drawing/2014/main" id="{0564BD69-E373-166E-32F9-6A80FD739DAB}"/>
                  </a:ext>
                </a:extLst>
              </p:cNvPr>
              <p:cNvSpPr/>
              <p:nvPr/>
            </p:nvSpPr>
            <p:spPr>
              <a:xfrm>
                <a:off x="4709692" y="2673096"/>
                <a:ext cx="450185" cy="435301"/>
              </a:xfrm>
              <a:prstGeom prst="ellipse">
                <a:avLst/>
              </a:prstGeom>
              <a:solidFill>
                <a:srgbClr val="02809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24">
                <a:extLst>
                  <a:ext uri="{FF2B5EF4-FFF2-40B4-BE49-F238E27FC236}">
                    <a16:creationId xmlns:a16="http://schemas.microsoft.com/office/drawing/2014/main" id="{CFAF2E0E-73B8-44E8-5715-B4BA4FCCAF1A}"/>
                  </a:ext>
                </a:extLst>
              </p:cNvPr>
              <p:cNvSpPr/>
              <p:nvPr/>
            </p:nvSpPr>
            <p:spPr>
              <a:xfrm>
                <a:off x="5249914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Emergency?</a:t>
                </a:r>
                <a:endParaRPr lang="en-US" sz="1400" dirty="0"/>
              </a:p>
            </p:txBody>
          </p:sp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D7D93B52-60E5-6B70-1117-ADA383DC9A8A}"/>
                  </a:ext>
                </a:extLst>
              </p:cNvPr>
              <p:cNvSpPr/>
              <p:nvPr/>
            </p:nvSpPr>
            <p:spPr>
              <a:xfrm>
                <a:off x="5249914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Break-glass with justification by authorized users</a:t>
                </a:r>
                <a:endParaRPr lang="en-US" sz="1100" dirty="0"/>
              </a:p>
            </p:txBody>
          </p:sp>
        </p:grp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ADF482F5-01B9-85B2-5E07-8E125AFB8D29}"/>
                </a:ext>
              </a:extLst>
            </p:cNvPr>
            <p:cNvSpPr/>
            <p:nvPr/>
          </p:nvSpPr>
          <p:spPr>
            <a:xfrm>
              <a:off x="351912" y="3516682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6</a:t>
              </a:r>
              <a:endParaRPr lang="en-US" sz="2200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B22661B5-553A-941E-0FAB-830EC1004D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17" t="14652" r="2784" b="53600"/>
          <a:stretch>
            <a:fillRect/>
          </a:stretch>
        </p:blipFill>
        <p:spPr>
          <a:xfrm>
            <a:off x="5695406" y="2246251"/>
            <a:ext cx="2407920" cy="25426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47D30C1-C356-92C1-1DC0-5DBBF6602A6E}"/>
              </a:ext>
            </a:extLst>
          </p:cNvPr>
          <p:cNvGrpSpPr/>
          <p:nvPr/>
        </p:nvGrpSpPr>
        <p:grpSpPr>
          <a:xfrm>
            <a:off x="9205815" y="1284486"/>
            <a:ext cx="4141700" cy="435301"/>
            <a:chOff x="4709692" y="2673096"/>
            <a:chExt cx="4141700" cy="435301"/>
          </a:xfrm>
        </p:grpSpPr>
        <p:sp>
          <p:nvSpPr>
            <p:cNvPr id="41" name="Shape 22">
              <a:extLst>
                <a:ext uri="{FF2B5EF4-FFF2-40B4-BE49-F238E27FC236}">
                  <a16:creationId xmlns:a16="http://schemas.microsoft.com/office/drawing/2014/main" id="{36EE2B06-17DF-B8CB-400D-F793D93C846D}"/>
                </a:ext>
              </a:extLst>
            </p:cNvPr>
            <p:cNvSpPr/>
            <p:nvPr/>
          </p:nvSpPr>
          <p:spPr>
            <a:xfrm>
              <a:off x="4709692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r>
                <a:rPr lang="en-US" b="1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42" name="Text 24">
              <a:extLst>
                <a:ext uri="{FF2B5EF4-FFF2-40B4-BE49-F238E27FC236}">
                  <a16:creationId xmlns:a16="http://schemas.microsoft.com/office/drawing/2014/main" id="{7C31E9E4-5BD4-1DB5-4DE8-92318839FC11}"/>
                </a:ext>
              </a:extLst>
            </p:cNvPr>
            <p:cNvSpPr/>
            <p:nvPr/>
          </p:nvSpPr>
          <p:spPr>
            <a:xfrm>
              <a:off x="5249914" y="2673096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3" name="Text 25">
              <a:extLst>
                <a:ext uri="{FF2B5EF4-FFF2-40B4-BE49-F238E27FC236}">
                  <a16:creationId xmlns:a16="http://schemas.microsoft.com/office/drawing/2014/main" id="{9BFA7783-F91D-C01B-B81A-2681504D9E9F}"/>
                </a:ext>
              </a:extLst>
            </p:cNvPr>
            <p:cNvSpPr/>
            <p:nvPr/>
          </p:nvSpPr>
          <p:spPr>
            <a:xfrm>
              <a:off x="5249914" y="2890747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See full audit trail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863112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F5E9B-35C3-5F3B-AF16-4C4D8C75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5B3F64-9EA1-B784-8D90-48451C2D1ACF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PLATFORM WORKFLOW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40985F-BB9F-9408-EB13-6918CEA01E26}"/>
              </a:ext>
            </a:extLst>
          </p:cNvPr>
          <p:cNvSpPr/>
          <p:nvPr/>
        </p:nvSpPr>
        <p:spPr>
          <a:xfrm>
            <a:off x="457200" y="868680"/>
            <a:ext cx="5238206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67B1211-E5EF-3D7E-47A5-D240CCDDAD06}"/>
              </a:ext>
            </a:extLst>
          </p:cNvPr>
          <p:cNvGrpSpPr/>
          <p:nvPr/>
        </p:nvGrpSpPr>
        <p:grpSpPr>
          <a:xfrm>
            <a:off x="480061" y="984129"/>
            <a:ext cx="4141700" cy="481024"/>
            <a:chOff x="-4150705" y="984129"/>
            <a:chExt cx="4141700" cy="48102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13085758-6530-C155-E96F-01FB085C2FAF}"/>
                </a:ext>
              </a:extLst>
            </p:cNvPr>
            <p:cNvSpPr/>
            <p:nvPr/>
          </p:nvSpPr>
          <p:spPr>
            <a:xfrm>
              <a:off x="-4150705" y="1029852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B2791AA-AC8E-BADA-B2D7-5BA2504AE852}"/>
                </a:ext>
              </a:extLst>
            </p:cNvPr>
            <p:cNvGrpSpPr/>
            <p:nvPr/>
          </p:nvGrpSpPr>
          <p:grpSpPr>
            <a:xfrm>
              <a:off x="-4150705" y="984129"/>
              <a:ext cx="4141700" cy="435301"/>
              <a:chOff x="342900" y="984129"/>
              <a:chExt cx="4141700" cy="435301"/>
            </a:xfrm>
          </p:grpSpPr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14CBC83A-F428-F59D-E090-3F662EE37E47}"/>
                  </a:ext>
                </a:extLst>
              </p:cNvPr>
              <p:cNvSpPr/>
              <p:nvPr/>
            </p:nvSpPr>
            <p:spPr>
              <a:xfrm>
                <a:off x="342900" y="984129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1</a:t>
                </a:r>
                <a:endParaRPr lang="en-US" sz="2200" dirty="0"/>
              </a:p>
            </p:txBody>
          </p:sp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3A4B61F1-8FA3-B119-3D46-F1EE22D7DE46}"/>
                  </a:ext>
                </a:extLst>
              </p:cNvPr>
              <p:cNvSpPr/>
              <p:nvPr/>
            </p:nvSpPr>
            <p:spPr>
              <a:xfrm>
                <a:off x="883122" y="98412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Registration Once</a:t>
                </a:r>
                <a:endParaRPr lang="en-US" sz="1400" dirty="0"/>
              </a:p>
            </p:txBody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85C110B6-27F4-C5F0-E92B-A1BA48547363}"/>
                  </a:ext>
                </a:extLst>
              </p:cNvPr>
              <p:cNvSpPr/>
              <p:nvPr/>
            </p:nvSpPr>
            <p:spPr>
              <a:xfrm>
                <a:off x="883122" y="120177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Gets QR ready UUID</a:t>
                </a:r>
                <a:endParaRPr lang="en-US" sz="1100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55C9F13-1E3E-5AE0-BB45-EE94BF5F1F06}"/>
              </a:ext>
            </a:extLst>
          </p:cNvPr>
          <p:cNvGrpSpPr/>
          <p:nvPr/>
        </p:nvGrpSpPr>
        <p:grpSpPr>
          <a:xfrm>
            <a:off x="532311" y="1610962"/>
            <a:ext cx="4141700" cy="435301"/>
            <a:chOff x="4709692" y="984129"/>
            <a:chExt cx="4141700" cy="435301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8BB6E526-0339-8C86-D886-1E8DCC01FD8A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3E75425D-A830-C7EA-2DEC-43B8C434EAC3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2</a:t>
              </a:r>
              <a:endParaRPr lang="en-US" sz="22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CE0ECF0-00DE-2004-38B3-F09E6A60E676}"/>
                </a:ext>
              </a:extLst>
            </p:cNvPr>
            <p:cNvSpPr/>
            <p:nvPr/>
          </p:nvSpPr>
          <p:spPr>
            <a:xfrm>
              <a:off x="5249914" y="98412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 logs in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A55BC51A-5E89-4F27-FE6E-009D87E722BC}"/>
                </a:ext>
              </a:extLst>
            </p:cNvPr>
            <p:cNvSpPr/>
            <p:nvPr/>
          </p:nvSpPr>
          <p:spPr>
            <a:xfrm>
              <a:off x="5249914" y="120177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Searches patient by ID/QR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813BEAA-9D8E-4851-0929-8382F3AC8D15}"/>
              </a:ext>
            </a:extLst>
          </p:cNvPr>
          <p:cNvGrpSpPr/>
          <p:nvPr/>
        </p:nvGrpSpPr>
        <p:grpSpPr>
          <a:xfrm>
            <a:off x="-4168341" y="2209400"/>
            <a:ext cx="4141700" cy="435301"/>
            <a:chOff x="342900" y="1828613"/>
            <a:chExt cx="4141700" cy="435301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10492364-ACFA-0D1B-80D0-AE059EE90FDE}"/>
                </a:ext>
              </a:extLst>
            </p:cNvPr>
            <p:cNvSpPr/>
            <p:nvPr/>
          </p:nvSpPr>
          <p:spPr>
            <a:xfrm>
              <a:off x="342900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A971A6C-8B3E-E257-BE4E-363967B96971}"/>
                </a:ext>
              </a:extLst>
            </p:cNvPr>
            <p:cNvGrpSpPr/>
            <p:nvPr/>
          </p:nvGrpSpPr>
          <p:grpSpPr>
            <a:xfrm>
              <a:off x="342900" y="1828613"/>
              <a:ext cx="4141700" cy="435301"/>
              <a:chOff x="342900" y="1828613"/>
              <a:chExt cx="4141700" cy="435301"/>
            </a:xfrm>
          </p:grpSpPr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959040F4-A727-A4EB-D853-FD3DB8230023}"/>
                  </a:ext>
                </a:extLst>
              </p:cNvPr>
              <p:cNvSpPr/>
              <p:nvPr/>
            </p:nvSpPr>
            <p:spPr>
              <a:xfrm>
                <a:off x="342900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3</a:t>
                </a:r>
                <a:endParaRPr lang="en-US" sz="2200" dirty="0"/>
              </a:p>
            </p:txBody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913DEE96-3F3E-F824-34E6-111317A93F47}"/>
                  </a:ext>
                </a:extLst>
              </p:cNvPr>
              <p:cNvSpPr/>
              <p:nvPr/>
            </p:nvSpPr>
            <p:spPr>
              <a:xfrm>
                <a:off x="883122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Consequent Requested</a:t>
                </a:r>
                <a:endParaRPr lang="en-US" sz="1400" dirty="0"/>
              </a:p>
            </p:txBody>
          </p:sp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0610F4D1-1164-C4DF-9D39-DBB0669D355D}"/>
                  </a:ext>
                </a:extLst>
              </p:cNvPr>
              <p:cNvSpPr/>
              <p:nvPr/>
            </p:nvSpPr>
            <p:spPr>
              <a:xfrm>
                <a:off x="883122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OTP sent to patient (mock SMS)</a:t>
                </a:r>
                <a:endParaRPr lang="en-US" sz="1100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B26E7D-D2CF-3BF7-43D0-0811935D7DF6}"/>
              </a:ext>
            </a:extLst>
          </p:cNvPr>
          <p:cNvGrpSpPr/>
          <p:nvPr/>
        </p:nvGrpSpPr>
        <p:grpSpPr>
          <a:xfrm>
            <a:off x="-4181403" y="2869104"/>
            <a:ext cx="4141700" cy="435301"/>
            <a:chOff x="4709692" y="1828613"/>
            <a:chExt cx="4141700" cy="435301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6C6C1D7-C783-F3C5-CD83-4E3FF4E23826}"/>
                </a:ext>
              </a:extLst>
            </p:cNvPr>
            <p:cNvSpPr/>
            <p:nvPr/>
          </p:nvSpPr>
          <p:spPr>
            <a:xfrm>
              <a:off x="4709692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64E90DD-7E52-83D3-57F5-57B939938BAD}"/>
                </a:ext>
              </a:extLst>
            </p:cNvPr>
            <p:cNvGrpSpPr/>
            <p:nvPr/>
          </p:nvGrpSpPr>
          <p:grpSpPr>
            <a:xfrm>
              <a:off x="4709692" y="1828613"/>
              <a:ext cx="4141700" cy="435301"/>
              <a:chOff x="4709692" y="1828613"/>
              <a:chExt cx="4141700" cy="435301"/>
            </a:xfrm>
          </p:grpSpPr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180D6A69-A6F7-7FC9-E7CF-E8B3FCEA7784}"/>
                  </a:ext>
                </a:extLst>
              </p:cNvPr>
              <p:cNvSpPr/>
              <p:nvPr/>
            </p:nvSpPr>
            <p:spPr>
              <a:xfrm>
                <a:off x="4709692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4</a:t>
                </a:r>
                <a:endParaRPr lang="en-US" sz="2200" dirty="0"/>
              </a:p>
            </p:txBody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9F153459-2B7D-C46D-D747-BDBE8E60A3FA}"/>
                  </a:ext>
                </a:extLst>
              </p:cNvPr>
              <p:cNvSpPr/>
              <p:nvPr/>
            </p:nvSpPr>
            <p:spPr>
              <a:xfrm>
                <a:off x="5249914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shares OTP</a:t>
                </a:r>
                <a:endParaRPr lang="en-US" sz="1400" dirty="0"/>
              </a:p>
            </p:txBody>
          </p:sp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FE074F50-BF45-C88E-B156-F6D03A69FD90}"/>
                  </a:ext>
                </a:extLst>
              </p:cNvPr>
              <p:cNvSpPr/>
              <p:nvPr/>
            </p:nvSpPr>
            <p:spPr>
              <a:xfrm>
                <a:off x="5249914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Access granted to view records</a:t>
                </a:r>
                <a:endParaRPr lang="en-US" sz="1100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5246068-085E-BD9A-4D2F-DD45B735F6C0}"/>
              </a:ext>
            </a:extLst>
          </p:cNvPr>
          <p:cNvGrpSpPr/>
          <p:nvPr/>
        </p:nvGrpSpPr>
        <p:grpSpPr>
          <a:xfrm>
            <a:off x="-4200996" y="3504400"/>
            <a:ext cx="4141700" cy="435301"/>
            <a:chOff x="342900" y="2673096"/>
            <a:chExt cx="4141700" cy="435301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E29FBB99-6F56-3179-81DA-F8D6030E6916}"/>
                </a:ext>
              </a:extLst>
            </p:cNvPr>
            <p:cNvSpPr/>
            <p:nvPr/>
          </p:nvSpPr>
          <p:spPr>
            <a:xfrm>
              <a:off x="342900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834DBE7-DF54-D288-AA0E-DA5CC9A285A8}"/>
                </a:ext>
              </a:extLst>
            </p:cNvPr>
            <p:cNvGrpSpPr/>
            <p:nvPr/>
          </p:nvGrpSpPr>
          <p:grpSpPr>
            <a:xfrm>
              <a:off x="342900" y="2673096"/>
              <a:ext cx="4141700" cy="435301"/>
              <a:chOff x="342900" y="2673096"/>
              <a:chExt cx="4141700" cy="435301"/>
            </a:xfrm>
          </p:grpSpPr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B8A90D8A-6373-DB95-870B-1D6BD58B4B2C}"/>
                  </a:ext>
                </a:extLst>
              </p:cNvPr>
              <p:cNvSpPr/>
              <p:nvPr/>
            </p:nvSpPr>
            <p:spPr>
              <a:xfrm>
                <a:off x="342900" y="2673096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5</a:t>
                </a:r>
                <a:endParaRPr lang="en-US" sz="2200" dirty="0"/>
              </a:p>
            </p:txBody>
          </p:sp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2AD3A0DF-6BB8-3625-6AEC-4CDBB9DD7E26}"/>
                  </a:ext>
                </a:extLst>
              </p:cNvPr>
              <p:cNvSpPr/>
              <p:nvPr/>
            </p:nvSpPr>
            <p:spPr>
              <a:xfrm>
                <a:off x="883122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Medical Record Update</a:t>
                </a:r>
                <a:endParaRPr lang="en-US" sz="1400" dirty="0"/>
              </a:p>
            </p:txBody>
          </p:sp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9AF21BAF-CE5A-92FC-2DC4-CC97B8AE0ACB}"/>
                  </a:ext>
                </a:extLst>
              </p:cNvPr>
              <p:cNvSpPr/>
              <p:nvPr/>
            </p:nvSpPr>
            <p:spPr>
              <a:xfrm>
                <a:off x="883122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Doctor uploads diagnosis &amp; prescription; labs upload verified reports</a:t>
                </a:r>
                <a:endParaRPr lang="en-US" sz="1100" dirty="0"/>
              </a:p>
            </p:txBody>
          </p:sp>
        </p:grpSp>
      </p:grpSp>
      <p:sp>
        <p:nvSpPr>
          <p:cNvPr id="29" name="Text 27">
            <a:extLst>
              <a:ext uri="{FF2B5EF4-FFF2-40B4-BE49-F238E27FC236}">
                <a16:creationId xmlns:a16="http://schemas.microsoft.com/office/drawing/2014/main" id="{E27134BD-C32F-F2CA-2492-C63B6C9B387E}"/>
              </a:ext>
            </a:extLst>
          </p:cNvPr>
          <p:cNvSpPr/>
          <p:nvPr/>
        </p:nvSpPr>
        <p:spPr>
          <a:xfrm>
            <a:off x="342900" y="3517580"/>
            <a:ext cx="450185" cy="435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393574B-429D-624E-B3C4-36E50C689298}"/>
              </a:ext>
            </a:extLst>
          </p:cNvPr>
          <p:cNvGrpSpPr/>
          <p:nvPr/>
        </p:nvGrpSpPr>
        <p:grpSpPr>
          <a:xfrm>
            <a:off x="-4200996" y="4233566"/>
            <a:ext cx="4141700" cy="435302"/>
            <a:chOff x="351912" y="3516681"/>
            <a:chExt cx="4141700" cy="43530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C275496-9A23-E77B-B52B-D37FEE6F6D51}"/>
                </a:ext>
              </a:extLst>
            </p:cNvPr>
            <p:cNvGrpSpPr/>
            <p:nvPr/>
          </p:nvGrpSpPr>
          <p:grpSpPr>
            <a:xfrm>
              <a:off x="351912" y="3516681"/>
              <a:ext cx="4141700" cy="435301"/>
              <a:chOff x="4709692" y="2673096"/>
              <a:chExt cx="4141700" cy="435301"/>
            </a:xfrm>
          </p:grpSpPr>
          <p:sp>
            <p:nvSpPr>
              <p:cNvPr id="24" name="Shape 22">
                <a:extLst>
                  <a:ext uri="{FF2B5EF4-FFF2-40B4-BE49-F238E27FC236}">
                    <a16:creationId xmlns:a16="http://schemas.microsoft.com/office/drawing/2014/main" id="{B2EDBDBD-0CE4-2925-F7C3-16DA22397AAA}"/>
                  </a:ext>
                </a:extLst>
              </p:cNvPr>
              <p:cNvSpPr/>
              <p:nvPr/>
            </p:nvSpPr>
            <p:spPr>
              <a:xfrm>
                <a:off x="4709692" y="2673096"/>
                <a:ext cx="450185" cy="435301"/>
              </a:xfrm>
              <a:prstGeom prst="ellipse">
                <a:avLst/>
              </a:prstGeom>
              <a:solidFill>
                <a:srgbClr val="02809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24">
                <a:extLst>
                  <a:ext uri="{FF2B5EF4-FFF2-40B4-BE49-F238E27FC236}">
                    <a16:creationId xmlns:a16="http://schemas.microsoft.com/office/drawing/2014/main" id="{07DE2134-B417-F3D1-05CC-2F84B1CD1DE3}"/>
                  </a:ext>
                </a:extLst>
              </p:cNvPr>
              <p:cNvSpPr/>
              <p:nvPr/>
            </p:nvSpPr>
            <p:spPr>
              <a:xfrm>
                <a:off x="5249914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Emergency?</a:t>
                </a:r>
                <a:endParaRPr lang="en-US" sz="1400" dirty="0"/>
              </a:p>
            </p:txBody>
          </p:sp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00F14A4C-5BA6-6282-CEC2-C2692BEAA8C1}"/>
                  </a:ext>
                </a:extLst>
              </p:cNvPr>
              <p:cNvSpPr/>
              <p:nvPr/>
            </p:nvSpPr>
            <p:spPr>
              <a:xfrm>
                <a:off x="5249914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Break-glass with justification by authorized users</a:t>
                </a:r>
                <a:endParaRPr lang="en-US" sz="1100" dirty="0"/>
              </a:p>
            </p:txBody>
          </p:sp>
        </p:grp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FA988EB3-FB21-272F-CE49-D27EC9BD8F5E}"/>
                </a:ext>
              </a:extLst>
            </p:cNvPr>
            <p:cNvSpPr/>
            <p:nvPr/>
          </p:nvSpPr>
          <p:spPr>
            <a:xfrm>
              <a:off x="351912" y="3516682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6</a:t>
              </a:r>
              <a:endParaRPr lang="en-US" sz="2200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FD2A07CA-3C2F-3FFE-AA9F-590AA6D9F3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17" t="14652" r="2784" b="53600"/>
          <a:stretch>
            <a:fillRect/>
          </a:stretch>
        </p:blipFill>
        <p:spPr>
          <a:xfrm>
            <a:off x="5695406" y="2246251"/>
            <a:ext cx="2407920" cy="25426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4D143D04-AE86-558A-CA65-F8EAFD9A0A21}"/>
              </a:ext>
            </a:extLst>
          </p:cNvPr>
          <p:cNvGrpSpPr/>
          <p:nvPr/>
        </p:nvGrpSpPr>
        <p:grpSpPr>
          <a:xfrm>
            <a:off x="9205815" y="1284486"/>
            <a:ext cx="4141700" cy="435301"/>
            <a:chOff x="4709692" y="2673096"/>
            <a:chExt cx="4141700" cy="435301"/>
          </a:xfrm>
        </p:grpSpPr>
        <p:sp>
          <p:nvSpPr>
            <p:cNvPr id="41" name="Shape 22">
              <a:extLst>
                <a:ext uri="{FF2B5EF4-FFF2-40B4-BE49-F238E27FC236}">
                  <a16:creationId xmlns:a16="http://schemas.microsoft.com/office/drawing/2014/main" id="{1B6ED2BC-12ED-416F-9C29-5E8ADC9E02F7}"/>
                </a:ext>
              </a:extLst>
            </p:cNvPr>
            <p:cNvSpPr/>
            <p:nvPr/>
          </p:nvSpPr>
          <p:spPr>
            <a:xfrm>
              <a:off x="4709692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r>
                <a:rPr lang="en-US" b="1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42" name="Text 24">
              <a:extLst>
                <a:ext uri="{FF2B5EF4-FFF2-40B4-BE49-F238E27FC236}">
                  <a16:creationId xmlns:a16="http://schemas.microsoft.com/office/drawing/2014/main" id="{2F32CF22-701C-363F-E016-77E9CA15AC61}"/>
                </a:ext>
              </a:extLst>
            </p:cNvPr>
            <p:cNvSpPr/>
            <p:nvPr/>
          </p:nvSpPr>
          <p:spPr>
            <a:xfrm>
              <a:off x="5249914" y="2673096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3" name="Text 25">
              <a:extLst>
                <a:ext uri="{FF2B5EF4-FFF2-40B4-BE49-F238E27FC236}">
                  <a16:creationId xmlns:a16="http://schemas.microsoft.com/office/drawing/2014/main" id="{734EC663-D87F-4437-E5B7-7DA0E55215B8}"/>
                </a:ext>
              </a:extLst>
            </p:cNvPr>
            <p:cNvSpPr/>
            <p:nvPr/>
          </p:nvSpPr>
          <p:spPr>
            <a:xfrm>
              <a:off x="5249914" y="2890747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See full audit trail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96565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4A62F-58A5-5B09-65A5-6FDBEC14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653F00-168B-FD4C-2CEC-1A8616EFA388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PLATFORM WORKFLOW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E3CEEF-EF68-9DF0-5A9B-03A8E5510166}"/>
              </a:ext>
            </a:extLst>
          </p:cNvPr>
          <p:cNvSpPr/>
          <p:nvPr/>
        </p:nvSpPr>
        <p:spPr>
          <a:xfrm>
            <a:off x="457200" y="868680"/>
            <a:ext cx="5238206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AB8F1A6-8D8A-6503-5CEE-862CF5692ACD}"/>
              </a:ext>
            </a:extLst>
          </p:cNvPr>
          <p:cNvGrpSpPr/>
          <p:nvPr/>
        </p:nvGrpSpPr>
        <p:grpSpPr>
          <a:xfrm>
            <a:off x="480061" y="984129"/>
            <a:ext cx="4141700" cy="481024"/>
            <a:chOff x="-4150705" y="984129"/>
            <a:chExt cx="4141700" cy="48102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73597883-928B-4669-E413-1A7A7993C6EF}"/>
                </a:ext>
              </a:extLst>
            </p:cNvPr>
            <p:cNvSpPr/>
            <p:nvPr/>
          </p:nvSpPr>
          <p:spPr>
            <a:xfrm>
              <a:off x="-4150705" y="1029852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2D7739F-032D-86DD-64D0-0DFDA0E89F4D}"/>
                </a:ext>
              </a:extLst>
            </p:cNvPr>
            <p:cNvGrpSpPr/>
            <p:nvPr/>
          </p:nvGrpSpPr>
          <p:grpSpPr>
            <a:xfrm>
              <a:off x="-4150705" y="984129"/>
              <a:ext cx="4141700" cy="435301"/>
              <a:chOff x="342900" y="984129"/>
              <a:chExt cx="4141700" cy="435301"/>
            </a:xfrm>
          </p:grpSpPr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215E03D5-7449-58DE-0798-D17415981D3A}"/>
                  </a:ext>
                </a:extLst>
              </p:cNvPr>
              <p:cNvSpPr/>
              <p:nvPr/>
            </p:nvSpPr>
            <p:spPr>
              <a:xfrm>
                <a:off x="342900" y="984129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1</a:t>
                </a:r>
                <a:endParaRPr lang="en-US" sz="2200" dirty="0"/>
              </a:p>
            </p:txBody>
          </p:sp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D59F79AF-AFED-13E6-6BF2-C5EE8E1C190F}"/>
                  </a:ext>
                </a:extLst>
              </p:cNvPr>
              <p:cNvSpPr/>
              <p:nvPr/>
            </p:nvSpPr>
            <p:spPr>
              <a:xfrm>
                <a:off x="883122" y="98412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Registration Once</a:t>
                </a:r>
                <a:endParaRPr lang="en-US" sz="1400" dirty="0"/>
              </a:p>
            </p:txBody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0A8F5D67-D18A-83F7-1F1F-A7AC97D6D20B}"/>
                  </a:ext>
                </a:extLst>
              </p:cNvPr>
              <p:cNvSpPr/>
              <p:nvPr/>
            </p:nvSpPr>
            <p:spPr>
              <a:xfrm>
                <a:off x="883122" y="120177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Gets QR ready UUID</a:t>
                </a:r>
                <a:endParaRPr lang="en-US" sz="1100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BAAF2CA-EF53-2A44-D6E4-8167087EDAE0}"/>
              </a:ext>
            </a:extLst>
          </p:cNvPr>
          <p:cNvGrpSpPr/>
          <p:nvPr/>
        </p:nvGrpSpPr>
        <p:grpSpPr>
          <a:xfrm>
            <a:off x="512718" y="1610962"/>
            <a:ext cx="4141700" cy="435301"/>
            <a:chOff x="4709692" y="984129"/>
            <a:chExt cx="4141700" cy="435301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CC53CD4C-F6E2-D4EB-B80D-C1B25E247A9E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1CC9E395-BC69-595F-B955-17338943FEAC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2</a:t>
              </a:r>
              <a:endParaRPr lang="en-US" sz="22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2954C43-B109-0346-3604-5EBB7E72F1D0}"/>
                </a:ext>
              </a:extLst>
            </p:cNvPr>
            <p:cNvSpPr/>
            <p:nvPr/>
          </p:nvSpPr>
          <p:spPr>
            <a:xfrm>
              <a:off x="5249914" y="98412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 logs in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59F80C1-97AA-B461-661F-CABE1E04FDBC}"/>
                </a:ext>
              </a:extLst>
            </p:cNvPr>
            <p:cNvSpPr/>
            <p:nvPr/>
          </p:nvSpPr>
          <p:spPr>
            <a:xfrm>
              <a:off x="5249914" y="120177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Searches patient by ID/QR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B608A97-E631-C766-2C82-0A646DD3E8DF}"/>
              </a:ext>
            </a:extLst>
          </p:cNvPr>
          <p:cNvGrpSpPr/>
          <p:nvPr/>
        </p:nvGrpSpPr>
        <p:grpSpPr>
          <a:xfrm>
            <a:off x="521212" y="2209400"/>
            <a:ext cx="4141700" cy="435301"/>
            <a:chOff x="342900" y="1828613"/>
            <a:chExt cx="4141700" cy="435301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E9D386B1-31F7-8C50-81BA-784E0FD764C5}"/>
                </a:ext>
              </a:extLst>
            </p:cNvPr>
            <p:cNvSpPr/>
            <p:nvPr/>
          </p:nvSpPr>
          <p:spPr>
            <a:xfrm>
              <a:off x="342900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2F0BB24-3EF1-BDCC-C6BD-031EC11AA2DA}"/>
                </a:ext>
              </a:extLst>
            </p:cNvPr>
            <p:cNvGrpSpPr/>
            <p:nvPr/>
          </p:nvGrpSpPr>
          <p:grpSpPr>
            <a:xfrm>
              <a:off x="342900" y="1828613"/>
              <a:ext cx="4141700" cy="435301"/>
              <a:chOff x="342900" y="1828613"/>
              <a:chExt cx="4141700" cy="435301"/>
            </a:xfrm>
          </p:grpSpPr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8DA39005-1C4C-AE5E-AA59-A90A14EAA93D}"/>
                  </a:ext>
                </a:extLst>
              </p:cNvPr>
              <p:cNvSpPr/>
              <p:nvPr/>
            </p:nvSpPr>
            <p:spPr>
              <a:xfrm>
                <a:off x="342900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3</a:t>
                </a:r>
                <a:endParaRPr lang="en-US" sz="2200" dirty="0"/>
              </a:p>
            </p:txBody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25DC26A6-9038-1553-3A4B-F69F2EC88BD7}"/>
                  </a:ext>
                </a:extLst>
              </p:cNvPr>
              <p:cNvSpPr/>
              <p:nvPr/>
            </p:nvSpPr>
            <p:spPr>
              <a:xfrm>
                <a:off x="883122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Consequent Requested</a:t>
                </a:r>
                <a:endParaRPr lang="en-US" sz="1400" dirty="0"/>
              </a:p>
            </p:txBody>
          </p:sp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247520FA-A4FB-4EEC-B53B-EBAB9B8DB718}"/>
                  </a:ext>
                </a:extLst>
              </p:cNvPr>
              <p:cNvSpPr/>
              <p:nvPr/>
            </p:nvSpPr>
            <p:spPr>
              <a:xfrm>
                <a:off x="883122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OTP sent to patient (mock SMS)</a:t>
                </a:r>
                <a:endParaRPr lang="en-US" sz="1100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CAC123C-3957-F573-CA99-D68EE0A75128}"/>
              </a:ext>
            </a:extLst>
          </p:cNvPr>
          <p:cNvGrpSpPr/>
          <p:nvPr/>
        </p:nvGrpSpPr>
        <p:grpSpPr>
          <a:xfrm>
            <a:off x="-4181403" y="2869104"/>
            <a:ext cx="4141700" cy="435301"/>
            <a:chOff x="4709692" y="1828613"/>
            <a:chExt cx="4141700" cy="435301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BF3028AE-F69B-FD2D-A84B-A8EB3C85FA6D}"/>
                </a:ext>
              </a:extLst>
            </p:cNvPr>
            <p:cNvSpPr/>
            <p:nvPr/>
          </p:nvSpPr>
          <p:spPr>
            <a:xfrm>
              <a:off x="4709692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3BF9E75-F5E1-B253-350A-7D71D9CD1FFD}"/>
                </a:ext>
              </a:extLst>
            </p:cNvPr>
            <p:cNvGrpSpPr/>
            <p:nvPr/>
          </p:nvGrpSpPr>
          <p:grpSpPr>
            <a:xfrm>
              <a:off x="4709692" y="1828613"/>
              <a:ext cx="4141700" cy="435301"/>
              <a:chOff x="4709692" y="1828613"/>
              <a:chExt cx="4141700" cy="435301"/>
            </a:xfrm>
          </p:grpSpPr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4ECC9E51-82CC-42CA-2516-B790C8A1F8ED}"/>
                  </a:ext>
                </a:extLst>
              </p:cNvPr>
              <p:cNvSpPr/>
              <p:nvPr/>
            </p:nvSpPr>
            <p:spPr>
              <a:xfrm>
                <a:off x="4709692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4</a:t>
                </a:r>
                <a:endParaRPr lang="en-US" sz="2200" dirty="0"/>
              </a:p>
            </p:txBody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299387D5-185D-2D4D-3415-22F59AF0575E}"/>
                  </a:ext>
                </a:extLst>
              </p:cNvPr>
              <p:cNvSpPr/>
              <p:nvPr/>
            </p:nvSpPr>
            <p:spPr>
              <a:xfrm>
                <a:off x="5249914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shares OTP</a:t>
                </a:r>
                <a:endParaRPr lang="en-US" sz="1400" dirty="0"/>
              </a:p>
            </p:txBody>
          </p:sp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E9C96E27-D238-36BA-916D-7FA22FE4757C}"/>
                  </a:ext>
                </a:extLst>
              </p:cNvPr>
              <p:cNvSpPr/>
              <p:nvPr/>
            </p:nvSpPr>
            <p:spPr>
              <a:xfrm>
                <a:off x="5249914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Access granted to view records</a:t>
                </a:r>
                <a:endParaRPr lang="en-US" sz="1100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B194646-EA61-C3BB-3C05-2FB41C026CF2}"/>
              </a:ext>
            </a:extLst>
          </p:cNvPr>
          <p:cNvGrpSpPr/>
          <p:nvPr/>
        </p:nvGrpSpPr>
        <p:grpSpPr>
          <a:xfrm>
            <a:off x="-4200996" y="3504400"/>
            <a:ext cx="4141700" cy="435301"/>
            <a:chOff x="342900" y="2673096"/>
            <a:chExt cx="4141700" cy="435301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E7CFD3C5-9700-E754-5C71-2999662F9627}"/>
                </a:ext>
              </a:extLst>
            </p:cNvPr>
            <p:cNvSpPr/>
            <p:nvPr/>
          </p:nvSpPr>
          <p:spPr>
            <a:xfrm>
              <a:off x="342900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08B417B-2B3C-0544-EFEA-406CD0AEEE63}"/>
                </a:ext>
              </a:extLst>
            </p:cNvPr>
            <p:cNvGrpSpPr/>
            <p:nvPr/>
          </p:nvGrpSpPr>
          <p:grpSpPr>
            <a:xfrm>
              <a:off x="342900" y="2673096"/>
              <a:ext cx="4141700" cy="435301"/>
              <a:chOff x="342900" y="2673096"/>
              <a:chExt cx="4141700" cy="435301"/>
            </a:xfrm>
          </p:grpSpPr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38DD68E5-D3B1-891F-82DE-FEA4E0C38673}"/>
                  </a:ext>
                </a:extLst>
              </p:cNvPr>
              <p:cNvSpPr/>
              <p:nvPr/>
            </p:nvSpPr>
            <p:spPr>
              <a:xfrm>
                <a:off x="342900" y="2673096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5</a:t>
                </a:r>
                <a:endParaRPr lang="en-US" sz="2200" dirty="0"/>
              </a:p>
            </p:txBody>
          </p:sp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CD4D782A-C75A-9455-CC4C-8A5E285910AB}"/>
                  </a:ext>
                </a:extLst>
              </p:cNvPr>
              <p:cNvSpPr/>
              <p:nvPr/>
            </p:nvSpPr>
            <p:spPr>
              <a:xfrm>
                <a:off x="883122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Medical Record Update</a:t>
                </a:r>
                <a:endParaRPr lang="en-US" sz="1400" dirty="0"/>
              </a:p>
            </p:txBody>
          </p:sp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D178A1FA-59F2-3633-BADB-3495545DB058}"/>
                  </a:ext>
                </a:extLst>
              </p:cNvPr>
              <p:cNvSpPr/>
              <p:nvPr/>
            </p:nvSpPr>
            <p:spPr>
              <a:xfrm>
                <a:off x="883122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Doctor uploads diagnosis &amp; prescription; labs upload verified reports</a:t>
                </a:r>
                <a:endParaRPr lang="en-US" sz="1100" dirty="0"/>
              </a:p>
            </p:txBody>
          </p:sp>
        </p:grpSp>
      </p:grpSp>
      <p:sp>
        <p:nvSpPr>
          <p:cNvPr id="29" name="Text 27">
            <a:extLst>
              <a:ext uri="{FF2B5EF4-FFF2-40B4-BE49-F238E27FC236}">
                <a16:creationId xmlns:a16="http://schemas.microsoft.com/office/drawing/2014/main" id="{6CC97EAC-7C28-9016-EC58-B19285703273}"/>
              </a:ext>
            </a:extLst>
          </p:cNvPr>
          <p:cNvSpPr/>
          <p:nvPr/>
        </p:nvSpPr>
        <p:spPr>
          <a:xfrm>
            <a:off x="342900" y="3517580"/>
            <a:ext cx="450185" cy="435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9319E9B-6B7D-97D2-5333-1595AB51BC27}"/>
              </a:ext>
            </a:extLst>
          </p:cNvPr>
          <p:cNvGrpSpPr/>
          <p:nvPr/>
        </p:nvGrpSpPr>
        <p:grpSpPr>
          <a:xfrm>
            <a:off x="-4200996" y="4233566"/>
            <a:ext cx="4141700" cy="435302"/>
            <a:chOff x="351912" y="3516681"/>
            <a:chExt cx="4141700" cy="43530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E42134B-0A8A-AF6C-A54D-EE76F98A2269}"/>
                </a:ext>
              </a:extLst>
            </p:cNvPr>
            <p:cNvGrpSpPr/>
            <p:nvPr/>
          </p:nvGrpSpPr>
          <p:grpSpPr>
            <a:xfrm>
              <a:off x="351912" y="3516681"/>
              <a:ext cx="4141700" cy="435301"/>
              <a:chOff x="4709692" y="2673096"/>
              <a:chExt cx="4141700" cy="435301"/>
            </a:xfrm>
          </p:grpSpPr>
          <p:sp>
            <p:nvSpPr>
              <p:cNvPr id="24" name="Shape 22">
                <a:extLst>
                  <a:ext uri="{FF2B5EF4-FFF2-40B4-BE49-F238E27FC236}">
                    <a16:creationId xmlns:a16="http://schemas.microsoft.com/office/drawing/2014/main" id="{F25026A5-8629-1F08-FDFB-3ADBB5218340}"/>
                  </a:ext>
                </a:extLst>
              </p:cNvPr>
              <p:cNvSpPr/>
              <p:nvPr/>
            </p:nvSpPr>
            <p:spPr>
              <a:xfrm>
                <a:off x="4709692" y="2673096"/>
                <a:ext cx="450185" cy="435301"/>
              </a:xfrm>
              <a:prstGeom prst="ellipse">
                <a:avLst/>
              </a:prstGeom>
              <a:solidFill>
                <a:srgbClr val="02809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24">
                <a:extLst>
                  <a:ext uri="{FF2B5EF4-FFF2-40B4-BE49-F238E27FC236}">
                    <a16:creationId xmlns:a16="http://schemas.microsoft.com/office/drawing/2014/main" id="{C6711E69-AB23-8E8B-E543-DFFE6E18406D}"/>
                  </a:ext>
                </a:extLst>
              </p:cNvPr>
              <p:cNvSpPr/>
              <p:nvPr/>
            </p:nvSpPr>
            <p:spPr>
              <a:xfrm>
                <a:off x="5249914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Emergency?</a:t>
                </a:r>
                <a:endParaRPr lang="en-US" sz="1400" dirty="0"/>
              </a:p>
            </p:txBody>
          </p:sp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3203165A-8C68-8167-0BEE-E2D8E77A46CE}"/>
                  </a:ext>
                </a:extLst>
              </p:cNvPr>
              <p:cNvSpPr/>
              <p:nvPr/>
            </p:nvSpPr>
            <p:spPr>
              <a:xfrm>
                <a:off x="5249914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Break-glass with justification by authorized users</a:t>
                </a:r>
                <a:endParaRPr lang="en-US" sz="1100" dirty="0"/>
              </a:p>
            </p:txBody>
          </p:sp>
        </p:grp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8DB9AC56-6844-A1E6-2CB8-481CEDC4EF35}"/>
                </a:ext>
              </a:extLst>
            </p:cNvPr>
            <p:cNvSpPr/>
            <p:nvPr/>
          </p:nvSpPr>
          <p:spPr>
            <a:xfrm>
              <a:off x="351912" y="3516682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6</a:t>
              </a:r>
              <a:endParaRPr lang="en-US" sz="2200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E2BDE2C7-F485-14E4-B413-54AA2B1904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17" t="14652" r="2784" b="53600"/>
          <a:stretch>
            <a:fillRect/>
          </a:stretch>
        </p:blipFill>
        <p:spPr>
          <a:xfrm>
            <a:off x="5695406" y="2246251"/>
            <a:ext cx="2407920" cy="25426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A4C46748-B807-3C96-A3E0-C7EFB9A6D21B}"/>
              </a:ext>
            </a:extLst>
          </p:cNvPr>
          <p:cNvGrpSpPr/>
          <p:nvPr/>
        </p:nvGrpSpPr>
        <p:grpSpPr>
          <a:xfrm>
            <a:off x="9205815" y="1284486"/>
            <a:ext cx="4141700" cy="435301"/>
            <a:chOff x="4709692" y="2673096"/>
            <a:chExt cx="4141700" cy="435301"/>
          </a:xfrm>
        </p:grpSpPr>
        <p:sp>
          <p:nvSpPr>
            <p:cNvPr id="41" name="Shape 22">
              <a:extLst>
                <a:ext uri="{FF2B5EF4-FFF2-40B4-BE49-F238E27FC236}">
                  <a16:creationId xmlns:a16="http://schemas.microsoft.com/office/drawing/2014/main" id="{6C997207-D753-90A9-7A1F-2C1E0D235700}"/>
                </a:ext>
              </a:extLst>
            </p:cNvPr>
            <p:cNvSpPr/>
            <p:nvPr/>
          </p:nvSpPr>
          <p:spPr>
            <a:xfrm>
              <a:off x="4709692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r>
                <a:rPr lang="en-US" b="1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42" name="Text 24">
              <a:extLst>
                <a:ext uri="{FF2B5EF4-FFF2-40B4-BE49-F238E27FC236}">
                  <a16:creationId xmlns:a16="http://schemas.microsoft.com/office/drawing/2014/main" id="{8D2FC6F8-B735-4DC4-BEC9-587203C79091}"/>
                </a:ext>
              </a:extLst>
            </p:cNvPr>
            <p:cNvSpPr/>
            <p:nvPr/>
          </p:nvSpPr>
          <p:spPr>
            <a:xfrm>
              <a:off x="5249914" y="2673096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3" name="Text 25">
              <a:extLst>
                <a:ext uri="{FF2B5EF4-FFF2-40B4-BE49-F238E27FC236}">
                  <a16:creationId xmlns:a16="http://schemas.microsoft.com/office/drawing/2014/main" id="{81B6D5C7-0AAA-E212-9E9E-6204E48CB2C4}"/>
                </a:ext>
              </a:extLst>
            </p:cNvPr>
            <p:cNvSpPr/>
            <p:nvPr/>
          </p:nvSpPr>
          <p:spPr>
            <a:xfrm>
              <a:off x="5249914" y="2890747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See full audit trail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940625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CFA8A9-CF36-9D6D-5B68-CB065974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DCBF69-C526-C5E5-9AC4-5E278351D21B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PLATFORM WORKFLOW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48F653-C0EF-EBE0-0E16-BEE1DECCBBC6}"/>
              </a:ext>
            </a:extLst>
          </p:cNvPr>
          <p:cNvSpPr/>
          <p:nvPr/>
        </p:nvSpPr>
        <p:spPr>
          <a:xfrm>
            <a:off x="457200" y="868680"/>
            <a:ext cx="5238206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3D06EB4-0935-8852-DDEF-9CDAA61B6BF4}"/>
              </a:ext>
            </a:extLst>
          </p:cNvPr>
          <p:cNvGrpSpPr/>
          <p:nvPr/>
        </p:nvGrpSpPr>
        <p:grpSpPr>
          <a:xfrm>
            <a:off x="480061" y="984129"/>
            <a:ext cx="4141700" cy="481024"/>
            <a:chOff x="-4150705" y="984129"/>
            <a:chExt cx="4141700" cy="48102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6809DA22-CBB8-9B2C-5951-03ABFAD5D02F}"/>
                </a:ext>
              </a:extLst>
            </p:cNvPr>
            <p:cNvSpPr/>
            <p:nvPr/>
          </p:nvSpPr>
          <p:spPr>
            <a:xfrm>
              <a:off x="-4150705" y="1029852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EC697F0-2F59-8C64-32A7-C55BC68F5C78}"/>
                </a:ext>
              </a:extLst>
            </p:cNvPr>
            <p:cNvGrpSpPr/>
            <p:nvPr/>
          </p:nvGrpSpPr>
          <p:grpSpPr>
            <a:xfrm>
              <a:off x="-4150705" y="984129"/>
              <a:ext cx="4141700" cy="435301"/>
              <a:chOff x="342900" y="984129"/>
              <a:chExt cx="4141700" cy="435301"/>
            </a:xfrm>
          </p:grpSpPr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1249B00F-0544-71FF-5FB0-7B0410244C88}"/>
                  </a:ext>
                </a:extLst>
              </p:cNvPr>
              <p:cNvSpPr/>
              <p:nvPr/>
            </p:nvSpPr>
            <p:spPr>
              <a:xfrm>
                <a:off x="342900" y="984129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1</a:t>
                </a:r>
                <a:endParaRPr lang="en-US" sz="2200" dirty="0"/>
              </a:p>
            </p:txBody>
          </p:sp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5F21E7E6-FA41-4BD9-FDD7-EB88F423E99B}"/>
                  </a:ext>
                </a:extLst>
              </p:cNvPr>
              <p:cNvSpPr/>
              <p:nvPr/>
            </p:nvSpPr>
            <p:spPr>
              <a:xfrm>
                <a:off x="883122" y="98412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Registration Once</a:t>
                </a:r>
                <a:endParaRPr lang="en-US" sz="1400" dirty="0"/>
              </a:p>
            </p:txBody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0A3DFB55-2FC0-BFEF-8312-D254FF9402AF}"/>
                  </a:ext>
                </a:extLst>
              </p:cNvPr>
              <p:cNvSpPr/>
              <p:nvPr/>
            </p:nvSpPr>
            <p:spPr>
              <a:xfrm>
                <a:off x="883122" y="120177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Gets QR ready UUID</a:t>
                </a:r>
                <a:endParaRPr lang="en-US" sz="1100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45746F6-F721-7BF2-FBB0-F13C61BFA374}"/>
              </a:ext>
            </a:extLst>
          </p:cNvPr>
          <p:cNvGrpSpPr/>
          <p:nvPr/>
        </p:nvGrpSpPr>
        <p:grpSpPr>
          <a:xfrm>
            <a:off x="512718" y="1610962"/>
            <a:ext cx="4141700" cy="435301"/>
            <a:chOff x="4709692" y="984129"/>
            <a:chExt cx="4141700" cy="435301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7CB2904E-6CC1-3789-3BE7-55B98F43513E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DEE574DE-6552-B761-2F3B-1F8685B9A1F3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2</a:t>
              </a:r>
              <a:endParaRPr lang="en-US" sz="22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40E2CA75-5E23-BCE6-B983-80BE35A3F784}"/>
                </a:ext>
              </a:extLst>
            </p:cNvPr>
            <p:cNvSpPr/>
            <p:nvPr/>
          </p:nvSpPr>
          <p:spPr>
            <a:xfrm>
              <a:off x="5249914" y="98412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 logs in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A1217366-681F-A6E4-47D3-37D74EFC51C1}"/>
                </a:ext>
              </a:extLst>
            </p:cNvPr>
            <p:cNvSpPr/>
            <p:nvPr/>
          </p:nvSpPr>
          <p:spPr>
            <a:xfrm>
              <a:off x="5249914" y="120177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Searches patient by ID/QR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1A7B831-BB99-9C79-86E9-190900A65DE5}"/>
              </a:ext>
            </a:extLst>
          </p:cNvPr>
          <p:cNvGrpSpPr/>
          <p:nvPr/>
        </p:nvGrpSpPr>
        <p:grpSpPr>
          <a:xfrm>
            <a:off x="521212" y="2209400"/>
            <a:ext cx="4141700" cy="435301"/>
            <a:chOff x="342900" y="1828613"/>
            <a:chExt cx="4141700" cy="435301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024A121E-4A12-93B7-EC9F-8AD11602EFE5}"/>
                </a:ext>
              </a:extLst>
            </p:cNvPr>
            <p:cNvSpPr/>
            <p:nvPr/>
          </p:nvSpPr>
          <p:spPr>
            <a:xfrm>
              <a:off x="342900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3BD596E-F257-E1A2-32D8-F5BE974544A3}"/>
                </a:ext>
              </a:extLst>
            </p:cNvPr>
            <p:cNvGrpSpPr/>
            <p:nvPr/>
          </p:nvGrpSpPr>
          <p:grpSpPr>
            <a:xfrm>
              <a:off x="342900" y="1828613"/>
              <a:ext cx="4141700" cy="435301"/>
              <a:chOff x="342900" y="1828613"/>
              <a:chExt cx="4141700" cy="435301"/>
            </a:xfrm>
          </p:grpSpPr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00F8A6CC-5502-BFCF-6185-31402A643339}"/>
                  </a:ext>
                </a:extLst>
              </p:cNvPr>
              <p:cNvSpPr/>
              <p:nvPr/>
            </p:nvSpPr>
            <p:spPr>
              <a:xfrm>
                <a:off x="342900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3</a:t>
                </a:r>
                <a:endParaRPr lang="en-US" sz="2200" dirty="0"/>
              </a:p>
            </p:txBody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FC508B2F-A731-CB26-01BD-B57740CAECE9}"/>
                  </a:ext>
                </a:extLst>
              </p:cNvPr>
              <p:cNvSpPr/>
              <p:nvPr/>
            </p:nvSpPr>
            <p:spPr>
              <a:xfrm>
                <a:off x="883122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Consequent Requested</a:t>
                </a:r>
                <a:endParaRPr lang="en-US" sz="1400" dirty="0"/>
              </a:p>
            </p:txBody>
          </p:sp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A531AC2F-F9CD-584F-C58D-A5CEDD4772BF}"/>
                  </a:ext>
                </a:extLst>
              </p:cNvPr>
              <p:cNvSpPr/>
              <p:nvPr/>
            </p:nvSpPr>
            <p:spPr>
              <a:xfrm>
                <a:off x="883122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OTP sent to patient (mock SMS)</a:t>
                </a:r>
                <a:endParaRPr lang="en-US" sz="1100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6AC9AE1-45B0-1629-1A25-7F32966B1668}"/>
              </a:ext>
            </a:extLst>
          </p:cNvPr>
          <p:cNvGrpSpPr/>
          <p:nvPr/>
        </p:nvGrpSpPr>
        <p:grpSpPr>
          <a:xfrm>
            <a:off x="521206" y="2869104"/>
            <a:ext cx="4141700" cy="435301"/>
            <a:chOff x="4709692" y="1828613"/>
            <a:chExt cx="4141700" cy="435301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5ACC572-9258-0473-D63B-A80873DF8A19}"/>
                </a:ext>
              </a:extLst>
            </p:cNvPr>
            <p:cNvSpPr/>
            <p:nvPr/>
          </p:nvSpPr>
          <p:spPr>
            <a:xfrm>
              <a:off x="4709692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760CA53-B231-6E11-072A-63E430EC974D}"/>
                </a:ext>
              </a:extLst>
            </p:cNvPr>
            <p:cNvGrpSpPr/>
            <p:nvPr/>
          </p:nvGrpSpPr>
          <p:grpSpPr>
            <a:xfrm>
              <a:off x="4709692" y="1828613"/>
              <a:ext cx="4141700" cy="435301"/>
              <a:chOff x="4709692" y="1828613"/>
              <a:chExt cx="4141700" cy="435301"/>
            </a:xfrm>
          </p:grpSpPr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069B30C2-0C67-01F1-272B-EF685AD30603}"/>
                  </a:ext>
                </a:extLst>
              </p:cNvPr>
              <p:cNvSpPr/>
              <p:nvPr/>
            </p:nvSpPr>
            <p:spPr>
              <a:xfrm>
                <a:off x="4709692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4</a:t>
                </a:r>
                <a:endParaRPr lang="en-US" sz="2200" dirty="0"/>
              </a:p>
            </p:txBody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BAAF7C2B-7AEB-45BB-FD9E-9CEDBD9D0204}"/>
                  </a:ext>
                </a:extLst>
              </p:cNvPr>
              <p:cNvSpPr/>
              <p:nvPr/>
            </p:nvSpPr>
            <p:spPr>
              <a:xfrm>
                <a:off x="5249914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shares OTP</a:t>
                </a:r>
                <a:endParaRPr lang="en-US" sz="1400" dirty="0"/>
              </a:p>
            </p:txBody>
          </p:sp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54F4E9EB-5DB6-F1CC-E5BB-28237CBAAE96}"/>
                  </a:ext>
                </a:extLst>
              </p:cNvPr>
              <p:cNvSpPr/>
              <p:nvPr/>
            </p:nvSpPr>
            <p:spPr>
              <a:xfrm>
                <a:off x="5249914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Access granted to view records</a:t>
                </a:r>
                <a:endParaRPr lang="en-US" sz="1100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B6D0DF5-FC78-7210-6425-927B607080CF}"/>
              </a:ext>
            </a:extLst>
          </p:cNvPr>
          <p:cNvGrpSpPr/>
          <p:nvPr/>
        </p:nvGrpSpPr>
        <p:grpSpPr>
          <a:xfrm>
            <a:off x="-4200996" y="3504400"/>
            <a:ext cx="4141700" cy="435301"/>
            <a:chOff x="342900" y="2673096"/>
            <a:chExt cx="4141700" cy="435301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9A576885-D29D-E29E-7E23-2419A96A456C}"/>
                </a:ext>
              </a:extLst>
            </p:cNvPr>
            <p:cNvSpPr/>
            <p:nvPr/>
          </p:nvSpPr>
          <p:spPr>
            <a:xfrm>
              <a:off x="342900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824D4C7-2D54-867B-BBD5-27A77E3BF211}"/>
                </a:ext>
              </a:extLst>
            </p:cNvPr>
            <p:cNvGrpSpPr/>
            <p:nvPr/>
          </p:nvGrpSpPr>
          <p:grpSpPr>
            <a:xfrm>
              <a:off x="342900" y="2673096"/>
              <a:ext cx="4141700" cy="435301"/>
              <a:chOff x="342900" y="2673096"/>
              <a:chExt cx="4141700" cy="435301"/>
            </a:xfrm>
          </p:grpSpPr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F9930CF2-C13D-EB29-5B26-74EF7A3030E5}"/>
                  </a:ext>
                </a:extLst>
              </p:cNvPr>
              <p:cNvSpPr/>
              <p:nvPr/>
            </p:nvSpPr>
            <p:spPr>
              <a:xfrm>
                <a:off x="342900" y="2673096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5</a:t>
                </a:r>
                <a:endParaRPr lang="en-US" sz="2200" dirty="0"/>
              </a:p>
            </p:txBody>
          </p:sp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B7F3601B-75DC-CFED-2376-11E482F2BF0D}"/>
                  </a:ext>
                </a:extLst>
              </p:cNvPr>
              <p:cNvSpPr/>
              <p:nvPr/>
            </p:nvSpPr>
            <p:spPr>
              <a:xfrm>
                <a:off x="883122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Medical Record Update</a:t>
                </a:r>
                <a:endParaRPr lang="en-US" sz="1400" dirty="0"/>
              </a:p>
            </p:txBody>
          </p:sp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5EB8A066-1F5F-6E22-BE1A-4172DA548C45}"/>
                  </a:ext>
                </a:extLst>
              </p:cNvPr>
              <p:cNvSpPr/>
              <p:nvPr/>
            </p:nvSpPr>
            <p:spPr>
              <a:xfrm>
                <a:off x="883122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Doctor uploads diagnosis &amp; prescription; labs upload verified reports</a:t>
                </a:r>
                <a:endParaRPr lang="en-US" sz="1100" dirty="0"/>
              </a:p>
            </p:txBody>
          </p:sp>
        </p:grpSp>
      </p:grpSp>
      <p:sp>
        <p:nvSpPr>
          <p:cNvPr id="29" name="Text 27">
            <a:extLst>
              <a:ext uri="{FF2B5EF4-FFF2-40B4-BE49-F238E27FC236}">
                <a16:creationId xmlns:a16="http://schemas.microsoft.com/office/drawing/2014/main" id="{BBCB22B7-70A0-601F-9DD7-0A9CC4A0DDB5}"/>
              </a:ext>
            </a:extLst>
          </p:cNvPr>
          <p:cNvSpPr/>
          <p:nvPr/>
        </p:nvSpPr>
        <p:spPr>
          <a:xfrm>
            <a:off x="342900" y="3517580"/>
            <a:ext cx="450185" cy="435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4B82230-A924-15DD-44C5-E1E1F5B615E3}"/>
              </a:ext>
            </a:extLst>
          </p:cNvPr>
          <p:cNvGrpSpPr/>
          <p:nvPr/>
        </p:nvGrpSpPr>
        <p:grpSpPr>
          <a:xfrm>
            <a:off x="-4200996" y="4233566"/>
            <a:ext cx="4141700" cy="435302"/>
            <a:chOff x="351912" y="3516681"/>
            <a:chExt cx="4141700" cy="43530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CB3E638-8A96-7075-FFE4-2CDB9825C76F}"/>
                </a:ext>
              </a:extLst>
            </p:cNvPr>
            <p:cNvGrpSpPr/>
            <p:nvPr/>
          </p:nvGrpSpPr>
          <p:grpSpPr>
            <a:xfrm>
              <a:off x="351912" y="3516681"/>
              <a:ext cx="4141700" cy="435301"/>
              <a:chOff x="4709692" y="2673096"/>
              <a:chExt cx="4141700" cy="435301"/>
            </a:xfrm>
          </p:grpSpPr>
          <p:sp>
            <p:nvSpPr>
              <p:cNvPr id="24" name="Shape 22">
                <a:extLst>
                  <a:ext uri="{FF2B5EF4-FFF2-40B4-BE49-F238E27FC236}">
                    <a16:creationId xmlns:a16="http://schemas.microsoft.com/office/drawing/2014/main" id="{BA0F32B9-C355-00A1-EEA6-5D8E8DB11D94}"/>
                  </a:ext>
                </a:extLst>
              </p:cNvPr>
              <p:cNvSpPr/>
              <p:nvPr/>
            </p:nvSpPr>
            <p:spPr>
              <a:xfrm>
                <a:off x="4709692" y="2673096"/>
                <a:ext cx="450185" cy="435301"/>
              </a:xfrm>
              <a:prstGeom prst="ellipse">
                <a:avLst/>
              </a:prstGeom>
              <a:solidFill>
                <a:srgbClr val="02809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24">
                <a:extLst>
                  <a:ext uri="{FF2B5EF4-FFF2-40B4-BE49-F238E27FC236}">
                    <a16:creationId xmlns:a16="http://schemas.microsoft.com/office/drawing/2014/main" id="{118BE180-C713-CD26-B768-39ACE13B339E}"/>
                  </a:ext>
                </a:extLst>
              </p:cNvPr>
              <p:cNvSpPr/>
              <p:nvPr/>
            </p:nvSpPr>
            <p:spPr>
              <a:xfrm>
                <a:off x="5249914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Emergency?</a:t>
                </a:r>
                <a:endParaRPr lang="en-US" sz="1400" dirty="0"/>
              </a:p>
            </p:txBody>
          </p:sp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96FA7941-8D4F-E515-0D4B-E4D40D29A483}"/>
                  </a:ext>
                </a:extLst>
              </p:cNvPr>
              <p:cNvSpPr/>
              <p:nvPr/>
            </p:nvSpPr>
            <p:spPr>
              <a:xfrm>
                <a:off x="5249914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Break-glass with justification by authorized users</a:t>
                </a:r>
                <a:endParaRPr lang="en-US" sz="1100" dirty="0"/>
              </a:p>
            </p:txBody>
          </p:sp>
        </p:grp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FE57241C-8813-6D9D-DD70-A4A4608362A2}"/>
                </a:ext>
              </a:extLst>
            </p:cNvPr>
            <p:cNvSpPr/>
            <p:nvPr/>
          </p:nvSpPr>
          <p:spPr>
            <a:xfrm>
              <a:off x="351912" y="3516682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6</a:t>
              </a:r>
              <a:endParaRPr lang="en-US" sz="2200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EB7AC6BA-7AB5-2611-F2AC-90E73EF222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17" t="14652" r="2784" b="53600"/>
          <a:stretch>
            <a:fillRect/>
          </a:stretch>
        </p:blipFill>
        <p:spPr>
          <a:xfrm>
            <a:off x="5695406" y="2246251"/>
            <a:ext cx="2407920" cy="25426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C7978E78-ED42-FAB4-0700-533C8D657E50}"/>
              </a:ext>
            </a:extLst>
          </p:cNvPr>
          <p:cNvGrpSpPr/>
          <p:nvPr/>
        </p:nvGrpSpPr>
        <p:grpSpPr>
          <a:xfrm>
            <a:off x="9205815" y="1284486"/>
            <a:ext cx="4141700" cy="435301"/>
            <a:chOff x="4709692" y="2673096"/>
            <a:chExt cx="4141700" cy="435301"/>
          </a:xfrm>
        </p:grpSpPr>
        <p:sp>
          <p:nvSpPr>
            <p:cNvPr id="41" name="Shape 22">
              <a:extLst>
                <a:ext uri="{FF2B5EF4-FFF2-40B4-BE49-F238E27FC236}">
                  <a16:creationId xmlns:a16="http://schemas.microsoft.com/office/drawing/2014/main" id="{DE4B836E-4221-D148-CA53-85F501441479}"/>
                </a:ext>
              </a:extLst>
            </p:cNvPr>
            <p:cNvSpPr/>
            <p:nvPr/>
          </p:nvSpPr>
          <p:spPr>
            <a:xfrm>
              <a:off x="4709692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r>
                <a:rPr lang="en-US" b="1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42" name="Text 24">
              <a:extLst>
                <a:ext uri="{FF2B5EF4-FFF2-40B4-BE49-F238E27FC236}">
                  <a16:creationId xmlns:a16="http://schemas.microsoft.com/office/drawing/2014/main" id="{FE125C6A-4616-A974-3F3F-16073A49AC17}"/>
                </a:ext>
              </a:extLst>
            </p:cNvPr>
            <p:cNvSpPr/>
            <p:nvPr/>
          </p:nvSpPr>
          <p:spPr>
            <a:xfrm>
              <a:off x="5249914" y="2673096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3" name="Text 25">
              <a:extLst>
                <a:ext uri="{FF2B5EF4-FFF2-40B4-BE49-F238E27FC236}">
                  <a16:creationId xmlns:a16="http://schemas.microsoft.com/office/drawing/2014/main" id="{0A2B0728-5339-D6F6-9B08-B46320C27EB8}"/>
                </a:ext>
              </a:extLst>
            </p:cNvPr>
            <p:cNvSpPr/>
            <p:nvPr/>
          </p:nvSpPr>
          <p:spPr>
            <a:xfrm>
              <a:off x="5249914" y="2890747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See full audit trail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78692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643D8-8FD9-B878-D7D8-29E9D6D4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0028A4-EDC1-65E9-818F-E81284CCAA48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PLATFORM WORKFLOW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B5894A-8284-161D-A4D9-C932CCDDED97}"/>
              </a:ext>
            </a:extLst>
          </p:cNvPr>
          <p:cNvSpPr/>
          <p:nvPr/>
        </p:nvSpPr>
        <p:spPr>
          <a:xfrm>
            <a:off x="457200" y="868680"/>
            <a:ext cx="5238206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F5B62CA-737C-3B68-D3F8-C544E37D5F65}"/>
              </a:ext>
            </a:extLst>
          </p:cNvPr>
          <p:cNvGrpSpPr/>
          <p:nvPr/>
        </p:nvGrpSpPr>
        <p:grpSpPr>
          <a:xfrm>
            <a:off x="480061" y="984129"/>
            <a:ext cx="4141700" cy="481024"/>
            <a:chOff x="-4150705" y="984129"/>
            <a:chExt cx="4141700" cy="48102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8CDCD1EA-8339-6007-BBA0-90D5CEF06726}"/>
                </a:ext>
              </a:extLst>
            </p:cNvPr>
            <p:cNvSpPr/>
            <p:nvPr/>
          </p:nvSpPr>
          <p:spPr>
            <a:xfrm>
              <a:off x="-4150705" y="1029852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1657E47-53A9-1AE6-389D-878135FBAA0B}"/>
                </a:ext>
              </a:extLst>
            </p:cNvPr>
            <p:cNvGrpSpPr/>
            <p:nvPr/>
          </p:nvGrpSpPr>
          <p:grpSpPr>
            <a:xfrm>
              <a:off x="-4150705" y="984129"/>
              <a:ext cx="4141700" cy="435301"/>
              <a:chOff x="342900" y="984129"/>
              <a:chExt cx="4141700" cy="435301"/>
            </a:xfrm>
          </p:grpSpPr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C5AD5616-5521-68C8-9969-CD3FEE713D49}"/>
                  </a:ext>
                </a:extLst>
              </p:cNvPr>
              <p:cNvSpPr/>
              <p:nvPr/>
            </p:nvSpPr>
            <p:spPr>
              <a:xfrm>
                <a:off x="342900" y="984129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1</a:t>
                </a:r>
                <a:endParaRPr lang="en-US" sz="2200" dirty="0"/>
              </a:p>
            </p:txBody>
          </p:sp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A48A79DF-B1AE-31F3-983F-9F70BA4543F9}"/>
                  </a:ext>
                </a:extLst>
              </p:cNvPr>
              <p:cNvSpPr/>
              <p:nvPr/>
            </p:nvSpPr>
            <p:spPr>
              <a:xfrm>
                <a:off x="883122" y="98412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Registration Once</a:t>
                </a:r>
                <a:endParaRPr lang="en-US" sz="1400" dirty="0"/>
              </a:p>
            </p:txBody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590578A2-17CA-630E-7E79-5B8661B75774}"/>
                  </a:ext>
                </a:extLst>
              </p:cNvPr>
              <p:cNvSpPr/>
              <p:nvPr/>
            </p:nvSpPr>
            <p:spPr>
              <a:xfrm>
                <a:off x="883122" y="120177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Gets QR ready UUID</a:t>
                </a:r>
                <a:endParaRPr lang="en-US" sz="1100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BE76802-6F11-5260-4FC1-7F0568E0398E}"/>
              </a:ext>
            </a:extLst>
          </p:cNvPr>
          <p:cNvGrpSpPr/>
          <p:nvPr/>
        </p:nvGrpSpPr>
        <p:grpSpPr>
          <a:xfrm>
            <a:off x="512718" y="1610962"/>
            <a:ext cx="4141700" cy="435301"/>
            <a:chOff x="4709692" y="984129"/>
            <a:chExt cx="4141700" cy="435301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0F0D9266-3395-2ECF-DFF0-FC8A925D7CA6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D36191E2-B7F0-91AD-7EEC-E82D2EC1B5DB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2</a:t>
              </a:r>
              <a:endParaRPr lang="en-US" sz="22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F368632-D762-C341-8BC6-3FBA809291F7}"/>
                </a:ext>
              </a:extLst>
            </p:cNvPr>
            <p:cNvSpPr/>
            <p:nvPr/>
          </p:nvSpPr>
          <p:spPr>
            <a:xfrm>
              <a:off x="5249914" y="98412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 logs in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3927BF17-4D64-0181-F8C0-A218A561D456}"/>
                </a:ext>
              </a:extLst>
            </p:cNvPr>
            <p:cNvSpPr/>
            <p:nvPr/>
          </p:nvSpPr>
          <p:spPr>
            <a:xfrm>
              <a:off x="5249914" y="120177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Searches patient by ID/QR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4F40A29-E8D5-3589-D668-D76EF37A7D43}"/>
              </a:ext>
            </a:extLst>
          </p:cNvPr>
          <p:cNvGrpSpPr/>
          <p:nvPr/>
        </p:nvGrpSpPr>
        <p:grpSpPr>
          <a:xfrm>
            <a:off x="521212" y="2209400"/>
            <a:ext cx="4141700" cy="435301"/>
            <a:chOff x="342900" y="1828613"/>
            <a:chExt cx="4141700" cy="435301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765BD806-AF47-5794-31A8-FC76B20EF0BD}"/>
                </a:ext>
              </a:extLst>
            </p:cNvPr>
            <p:cNvSpPr/>
            <p:nvPr/>
          </p:nvSpPr>
          <p:spPr>
            <a:xfrm>
              <a:off x="342900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3565318-C6E3-DFFA-3C6C-A5F1DC5A8CBE}"/>
                </a:ext>
              </a:extLst>
            </p:cNvPr>
            <p:cNvGrpSpPr/>
            <p:nvPr/>
          </p:nvGrpSpPr>
          <p:grpSpPr>
            <a:xfrm>
              <a:off x="342900" y="1828613"/>
              <a:ext cx="4141700" cy="435301"/>
              <a:chOff x="342900" y="1828613"/>
              <a:chExt cx="4141700" cy="435301"/>
            </a:xfrm>
          </p:grpSpPr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4F1977B3-94F5-19C4-EBB5-68E518E464CE}"/>
                  </a:ext>
                </a:extLst>
              </p:cNvPr>
              <p:cNvSpPr/>
              <p:nvPr/>
            </p:nvSpPr>
            <p:spPr>
              <a:xfrm>
                <a:off x="342900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3</a:t>
                </a:r>
                <a:endParaRPr lang="en-US" sz="2200" dirty="0"/>
              </a:p>
            </p:txBody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EEB4B58C-3A82-B3F2-F92B-350A094FF5B6}"/>
                  </a:ext>
                </a:extLst>
              </p:cNvPr>
              <p:cNvSpPr/>
              <p:nvPr/>
            </p:nvSpPr>
            <p:spPr>
              <a:xfrm>
                <a:off x="883122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Consequent Requested</a:t>
                </a:r>
                <a:endParaRPr lang="en-US" sz="1400" dirty="0"/>
              </a:p>
            </p:txBody>
          </p:sp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432D8E6B-6FB4-6E33-1D0A-4C1C9A3AE6AD}"/>
                  </a:ext>
                </a:extLst>
              </p:cNvPr>
              <p:cNvSpPr/>
              <p:nvPr/>
            </p:nvSpPr>
            <p:spPr>
              <a:xfrm>
                <a:off x="883122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OTP sent to patient (mock SMS)</a:t>
                </a:r>
                <a:endParaRPr lang="en-US" sz="1100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A52647D-5C70-01A3-3F9D-7090BECE21C1}"/>
              </a:ext>
            </a:extLst>
          </p:cNvPr>
          <p:cNvGrpSpPr/>
          <p:nvPr/>
        </p:nvGrpSpPr>
        <p:grpSpPr>
          <a:xfrm>
            <a:off x="521206" y="2869104"/>
            <a:ext cx="4141700" cy="435301"/>
            <a:chOff x="4709692" y="1828613"/>
            <a:chExt cx="4141700" cy="435301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CCA01753-B9D4-EE3A-1619-A2EDA453DA35}"/>
                </a:ext>
              </a:extLst>
            </p:cNvPr>
            <p:cNvSpPr/>
            <p:nvPr/>
          </p:nvSpPr>
          <p:spPr>
            <a:xfrm>
              <a:off x="4709692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DB31494-3604-A549-E875-DF6BA787A3FB}"/>
                </a:ext>
              </a:extLst>
            </p:cNvPr>
            <p:cNvGrpSpPr/>
            <p:nvPr/>
          </p:nvGrpSpPr>
          <p:grpSpPr>
            <a:xfrm>
              <a:off x="4709692" y="1828613"/>
              <a:ext cx="4141700" cy="435301"/>
              <a:chOff x="4709692" y="1828613"/>
              <a:chExt cx="4141700" cy="435301"/>
            </a:xfrm>
          </p:grpSpPr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C9D53683-AB18-2342-C2B0-A951B33EEDE2}"/>
                  </a:ext>
                </a:extLst>
              </p:cNvPr>
              <p:cNvSpPr/>
              <p:nvPr/>
            </p:nvSpPr>
            <p:spPr>
              <a:xfrm>
                <a:off x="4709692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4</a:t>
                </a:r>
                <a:endParaRPr lang="en-US" sz="2200" dirty="0"/>
              </a:p>
            </p:txBody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77017A0A-8FD2-5306-02B6-023C51E5847D}"/>
                  </a:ext>
                </a:extLst>
              </p:cNvPr>
              <p:cNvSpPr/>
              <p:nvPr/>
            </p:nvSpPr>
            <p:spPr>
              <a:xfrm>
                <a:off x="5249914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shares OTP</a:t>
                </a:r>
                <a:endParaRPr lang="en-US" sz="1400" dirty="0"/>
              </a:p>
            </p:txBody>
          </p:sp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DF3AF9BD-4AEA-169E-0EE6-00E835EBCA91}"/>
                  </a:ext>
                </a:extLst>
              </p:cNvPr>
              <p:cNvSpPr/>
              <p:nvPr/>
            </p:nvSpPr>
            <p:spPr>
              <a:xfrm>
                <a:off x="5249914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Access granted to view records</a:t>
                </a:r>
                <a:endParaRPr lang="en-US" sz="1100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D9B6555-C144-1671-EA14-C1B99D52B407}"/>
              </a:ext>
            </a:extLst>
          </p:cNvPr>
          <p:cNvGrpSpPr/>
          <p:nvPr/>
        </p:nvGrpSpPr>
        <p:grpSpPr>
          <a:xfrm>
            <a:off x="508140" y="3504400"/>
            <a:ext cx="4141700" cy="435301"/>
            <a:chOff x="342900" y="2673096"/>
            <a:chExt cx="4141700" cy="435301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2DCB15D3-F274-8EB1-139C-588AE0C1AB52}"/>
                </a:ext>
              </a:extLst>
            </p:cNvPr>
            <p:cNvSpPr/>
            <p:nvPr/>
          </p:nvSpPr>
          <p:spPr>
            <a:xfrm>
              <a:off x="342900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D484F6E-FE1F-5426-8A8B-CDB78DCD3B9C}"/>
                </a:ext>
              </a:extLst>
            </p:cNvPr>
            <p:cNvGrpSpPr/>
            <p:nvPr/>
          </p:nvGrpSpPr>
          <p:grpSpPr>
            <a:xfrm>
              <a:off x="342900" y="2673096"/>
              <a:ext cx="4141700" cy="435301"/>
              <a:chOff x="342900" y="2673096"/>
              <a:chExt cx="4141700" cy="435301"/>
            </a:xfrm>
          </p:grpSpPr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F66A16EF-176B-E3BA-77E6-7C8C851630E5}"/>
                  </a:ext>
                </a:extLst>
              </p:cNvPr>
              <p:cNvSpPr/>
              <p:nvPr/>
            </p:nvSpPr>
            <p:spPr>
              <a:xfrm>
                <a:off x="342900" y="2673096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5</a:t>
                </a:r>
                <a:endParaRPr lang="en-US" sz="2200" dirty="0"/>
              </a:p>
            </p:txBody>
          </p:sp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C4E62B86-AD70-5713-D565-3C6436AF8FD3}"/>
                  </a:ext>
                </a:extLst>
              </p:cNvPr>
              <p:cNvSpPr/>
              <p:nvPr/>
            </p:nvSpPr>
            <p:spPr>
              <a:xfrm>
                <a:off x="883122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Medical Record Update</a:t>
                </a:r>
                <a:endParaRPr lang="en-US" sz="1400" dirty="0"/>
              </a:p>
            </p:txBody>
          </p:sp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0A44EDD9-7A0F-6D77-670B-BA1D5FBCA151}"/>
                  </a:ext>
                </a:extLst>
              </p:cNvPr>
              <p:cNvSpPr/>
              <p:nvPr/>
            </p:nvSpPr>
            <p:spPr>
              <a:xfrm>
                <a:off x="883122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Doctor uploads diagnosis &amp; prescription; labs upload verified reports</a:t>
                </a:r>
                <a:endParaRPr lang="en-US" sz="1100" dirty="0"/>
              </a:p>
            </p:txBody>
          </p:sp>
        </p:grpSp>
      </p:grpSp>
      <p:sp>
        <p:nvSpPr>
          <p:cNvPr id="29" name="Text 27">
            <a:extLst>
              <a:ext uri="{FF2B5EF4-FFF2-40B4-BE49-F238E27FC236}">
                <a16:creationId xmlns:a16="http://schemas.microsoft.com/office/drawing/2014/main" id="{89C57A2E-C854-9288-1103-2DA214274E48}"/>
              </a:ext>
            </a:extLst>
          </p:cNvPr>
          <p:cNvSpPr/>
          <p:nvPr/>
        </p:nvSpPr>
        <p:spPr>
          <a:xfrm>
            <a:off x="342900" y="3517580"/>
            <a:ext cx="450185" cy="435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D8803C2-318D-6997-2081-7CFC21FF6569}"/>
              </a:ext>
            </a:extLst>
          </p:cNvPr>
          <p:cNvGrpSpPr/>
          <p:nvPr/>
        </p:nvGrpSpPr>
        <p:grpSpPr>
          <a:xfrm>
            <a:off x="-4200996" y="4233566"/>
            <a:ext cx="4141700" cy="435302"/>
            <a:chOff x="351912" y="3516681"/>
            <a:chExt cx="4141700" cy="43530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40E931B-8C78-979F-FD54-96604FA15F34}"/>
                </a:ext>
              </a:extLst>
            </p:cNvPr>
            <p:cNvGrpSpPr/>
            <p:nvPr/>
          </p:nvGrpSpPr>
          <p:grpSpPr>
            <a:xfrm>
              <a:off x="351912" y="3516681"/>
              <a:ext cx="4141700" cy="435301"/>
              <a:chOff x="4709692" y="2673096"/>
              <a:chExt cx="4141700" cy="435301"/>
            </a:xfrm>
          </p:grpSpPr>
          <p:sp>
            <p:nvSpPr>
              <p:cNvPr id="24" name="Shape 22">
                <a:extLst>
                  <a:ext uri="{FF2B5EF4-FFF2-40B4-BE49-F238E27FC236}">
                    <a16:creationId xmlns:a16="http://schemas.microsoft.com/office/drawing/2014/main" id="{355C76E3-6C45-3436-3D7E-004E06CE5FD3}"/>
                  </a:ext>
                </a:extLst>
              </p:cNvPr>
              <p:cNvSpPr/>
              <p:nvPr/>
            </p:nvSpPr>
            <p:spPr>
              <a:xfrm>
                <a:off x="4709692" y="2673096"/>
                <a:ext cx="450185" cy="435301"/>
              </a:xfrm>
              <a:prstGeom prst="ellipse">
                <a:avLst/>
              </a:prstGeom>
              <a:solidFill>
                <a:srgbClr val="02809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24">
                <a:extLst>
                  <a:ext uri="{FF2B5EF4-FFF2-40B4-BE49-F238E27FC236}">
                    <a16:creationId xmlns:a16="http://schemas.microsoft.com/office/drawing/2014/main" id="{E64CE8A9-22B7-C2FE-BAEE-975501BA6AC4}"/>
                  </a:ext>
                </a:extLst>
              </p:cNvPr>
              <p:cNvSpPr/>
              <p:nvPr/>
            </p:nvSpPr>
            <p:spPr>
              <a:xfrm>
                <a:off x="5249914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Emergency?</a:t>
                </a:r>
                <a:endParaRPr lang="en-US" sz="1400" dirty="0"/>
              </a:p>
            </p:txBody>
          </p:sp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3A96421B-1B15-E906-1446-B3DB806781C9}"/>
                  </a:ext>
                </a:extLst>
              </p:cNvPr>
              <p:cNvSpPr/>
              <p:nvPr/>
            </p:nvSpPr>
            <p:spPr>
              <a:xfrm>
                <a:off x="5249914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Break-glass with justification by authorized users</a:t>
                </a:r>
                <a:endParaRPr lang="en-US" sz="1100" dirty="0"/>
              </a:p>
            </p:txBody>
          </p:sp>
        </p:grp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AE4047C1-002F-62AD-3098-954776C7A9E4}"/>
                </a:ext>
              </a:extLst>
            </p:cNvPr>
            <p:cNvSpPr/>
            <p:nvPr/>
          </p:nvSpPr>
          <p:spPr>
            <a:xfrm>
              <a:off x="351912" y="3516682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6</a:t>
              </a:r>
              <a:endParaRPr lang="en-US" sz="2200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63E6D379-A0D9-A3F7-DBEC-B079D1293C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17" t="14652" r="2784" b="53600"/>
          <a:stretch>
            <a:fillRect/>
          </a:stretch>
        </p:blipFill>
        <p:spPr>
          <a:xfrm>
            <a:off x="5695406" y="2246251"/>
            <a:ext cx="2407920" cy="25426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B81FF212-004B-EB9D-8416-870417F4AE85}"/>
              </a:ext>
            </a:extLst>
          </p:cNvPr>
          <p:cNvGrpSpPr/>
          <p:nvPr/>
        </p:nvGrpSpPr>
        <p:grpSpPr>
          <a:xfrm>
            <a:off x="9205815" y="1284486"/>
            <a:ext cx="4141700" cy="435301"/>
            <a:chOff x="4709692" y="2673096"/>
            <a:chExt cx="4141700" cy="435301"/>
          </a:xfrm>
        </p:grpSpPr>
        <p:sp>
          <p:nvSpPr>
            <p:cNvPr id="41" name="Shape 22">
              <a:extLst>
                <a:ext uri="{FF2B5EF4-FFF2-40B4-BE49-F238E27FC236}">
                  <a16:creationId xmlns:a16="http://schemas.microsoft.com/office/drawing/2014/main" id="{AE2B41E5-1F2A-6BD2-27E2-0CB7023DD822}"/>
                </a:ext>
              </a:extLst>
            </p:cNvPr>
            <p:cNvSpPr/>
            <p:nvPr/>
          </p:nvSpPr>
          <p:spPr>
            <a:xfrm>
              <a:off x="4709692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r>
                <a:rPr lang="en-US" b="1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42" name="Text 24">
              <a:extLst>
                <a:ext uri="{FF2B5EF4-FFF2-40B4-BE49-F238E27FC236}">
                  <a16:creationId xmlns:a16="http://schemas.microsoft.com/office/drawing/2014/main" id="{86B87F3D-F70C-39D5-92FE-DACDF5CA368E}"/>
                </a:ext>
              </a:extLst>
            </p:cNvPr>
            <p:cNvSpPr/>
            <p:nvPr/>
          </p:nvSpPr>
          <p:spPr>
            <a:xfrm>
              <a:off x="5249914" y="2673096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3" name="Text 25">
              <a:extLst>
                <a:ext uri="{FF2B5EF4-FFF2-40B4-BE49-F238E27FC236}">
                  <a16:creationId xmlns:a16="http://schemas.microsoft.com/office/drawing/2014/main" id="{F8C18A8B-310D-C603-9822-A16C71E217D5}"/>
                </a:ext>
              </a:extLst>
            </p:cNvPr>
            <p:cNvSpPr/>
            <p:nvPr/>
          </p:nvSpPr>
          <p:spPr>
            <a:xfrm>
              <a:off x="5249914" y="2890747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See full audit trail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9167447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2B1D9-8B03-3AA3-83E6-310100C92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A89F04-628B-4D38-FB6A-E528CDD962A4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PLATFORM WORKFLOW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045457C-59F8-A343-1246-BF688E839776}"/>
              </a:ext>
            </a:extLst>
          </p:cNvPr>
          <p:cNvSpPr/>
          <p:nvPr/>
        </p:nvSpPr>
        <p:spPr>
          <a:xfrm>
            <a:off x="457200" y="868680"/>
            <a:ext cx="5238206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E419319-35B4-6687-5425-AAD2310D8A03}"/>
              </a:ext>
            </a:extLst>
          </p:cNvPr>
          <p:cNvGrpSpPr/>
          <p:nvPr/>
        </p:nvGrpSpPr>
        <p:grpSpPr>
          <a:xfrm>
            <a:off x="480061" y="984129"/>
            <a:ext cx="4141700" cy="481024"/>
            <a:chOff x="-4150705" y="984129"/>
            <a:chExt cx="4141700" cy="48102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45C4F265-15C7-DAEF-6FAD-EBF0B7E67606}"/>
                </a:ext>
              </a:extLst>
            </p:cNvPr>
            <p:cNvSpPr/>
            <p:nvPr/>
          </p:nvSpPr>
          <p:spPr>
            <a:xfrm>
              <a:off x="-4150705" y="1029852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965B070-1367-6010-66FA-CF14D52680FD}"/>
                </a:ext>
              </a:extLst>
            </p:cNvPr>
            <p:cNvGrpSpPr/>
            <p:nvPr/>
          </p:nvGrpSpPr>
          <p:grpSpPr>
            <a:xfrm>
              <a:off x="-4150705" y="984129"/>
              <a:ext cx="4141700" cy="435301"/>
              <a:chOff x="342900" y="984129"/>
              <a:chExt cx="4141700" cy="435301"/>
            </a:xfrm>
          </p:grpSpPr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05E08543-787F-E443-3323-5F36E8C6FB8A}"/>
                  </a:ext>
                </a:extLst>
              </p:cNvPr>
              <p:cNvSpPr/>
              <p:nvPr/>
            </p:nvSpPr>
            <p:spPr>
              <a:xfrm>
                <a:off x="342900" y="984129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1</a:t>
                </a:r>
                <a:endParaRPr lang="en-US" sz="2200" dirty="0"/>
              </a:p>
            </p:txBody>
          </p:sp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2D32E5B5-5EF3-11D2-7008-B4A9702E511A}"/>
                  </a:ext>
                </a:extLst>
              </p:cNvPr>
              <p:cNvSpPr/>
              <p:nvPr/>
            </p:nvSpPr>
            <p:spPr>
              <a:xfrm>
                <a:off x="883122" y="98412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Registration Once</a:t>
                </a:r>
                <a:endParaRPr lang="en-US" sz="1400" dirty="0"/>
              </a:p>
            </p:txBody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F6F5C40E-11C0-17EC-2B9F-9EE7C20D7536}"/>
                  </a:ext>
                </a:extLst>
              </p:cNvPr>
              <p:cNvSpPr/>
              <p:nvPr/>
            </p:nvSpPr>
            <p:spPr>
              <a:xfrm>
                <a:off x="883122" y="120177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Gets QR ready UUID</a:t>
                </a:r>
                <a:endParaRPr lang="en-US" sz="1100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25AC902-98FB-4018-C782-38D8FA5A4C88}"/>
              </a:ext>
            </a:extLst>
          </p:cNvPr>
          <p:cNvGrpSpPr/>
          <p:nvPr/>
        </p:nvGrpSpPr>
        <p:grpSpPr>
          <a:xfrm>
            <a:off x="512718" y="1610962"/>
            <a:ext cx="4141700" cy="435301"/>
            <a:chOff x="4709692" y="984129"/>
            <a:chExt cx="4141700" cy="435301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D3884A99-52AD-EA3B-2546-4B4FEF4EA9D7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62A3803E-7A63-7DB8-BFF9-3952CB4C8382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2</a:t>
              </a:r>
              <a:endParaRPr lang="en-US" sz="22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B35EA6BF-EB14-BD38-A73B-422E92F0B15F}"/>
                </a:ext>
              </a:extLst>
            </p:cNvPr>
            <p:cNvSpPr/>
            <p:nvPr/>
          </p:nvSpPr>
          <p:spPr>
            <a:xfrm>
              <a:off x="5249914" y="98412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 logs in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FF8ECFED-858D-1C3E-7FD5-7676EEF7CC1E}"/>
                </a:ext>
              </a:extLst>
            </p:cNvPr>
            <p:cNvSpPr/>
            <p:nvPr/>
          </p:nvSpPr>
          <p:spPr>
            <a:xfrm>
              <a:off x="5249914" y="120177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Searches patient by ID/QR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707548B-880C-7F36-EBD1-3185C3E51A67}"/>
              </a:ext>
            </a:extLst>
          </p:cNvPr>
          <p:cNvGrpSpPr/>
          <p:nvPr/>
        </p:nvGrpSpPr>
        <p:grpSpPr>
          <a:xfrm>
            <a:off x="521212" y="2209400"/>
            <a:ext cx="4141700" cy="435301"/>
            <a:chOff x="342900" y="1828613"/>
            <a:chExt cx="4141700" cy="435301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ECF8F9E6-4084-F7A0-7D46-CECF60C8EBFA}"/>
                </a:ext>
              </a:extLst>
            </p:cNvPr>
            <p:cNvSpPr/>
            <p:nvPr/>
          </p:nvSpPr>
          <p:spPr>
            <a:xfrm>
              <a:off x="342900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AC4E203-08BC-4865-862A-3D136C7FD6BE}"/>
                </a:ext>
              </a:extLst>
            </p:cNvPr>
            <p:cNvGrpSpPr/>
            <p:nvPr/>
          </p:nvGrpSpPr>
          <p:grpSpPr>
            <a:xfrm>
              <a:off x="342900" y="1828613"/>
              <a:ext cx="4141700" cy="435301"/>
              <a:chOff x="342900" y="1828613"/>
              <a:chExt cx="4141700" cy="435301"/>
            </a:xfrm>
          </p:grpSpPr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E4513EE4-886F-C726-6F4A-3EF677C50668}"/>
                  </a:ext>
                </a:extLst>
              </p:cNvPr>
              <p:cNvSpPr/>
              <p:nvPr/>
            </p:nvSpPr>
            <p:spPr>
              <a:xfrm>
                <a:off x="342900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3</a:t>
                </a:r>
                <a:endParaRPr lang="en-US" sz="2200" dirty="0"/>
              </a:p>
            </p:txBody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84DB4BB1-3E13-A628-0CB8-458D3E3C635A}"/>
                  </a:ext>
                </a:extLst>
              </p:cNvPr>
              <p:cNvSpPr/>
              <p:nvPr/>
            </p:nvSpPr>
            <p:spPr>
              <a:xfrm>
                <a:off x="883122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Consequent Requested</a:t>
                </a:r>
                <a:endParaRPr lang="en-US" sz="1400" dirty="0"/>
              </a:p>
            </p:txBody>
          </p:sp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312D828A-1C6B-A8A5-8F69-E3863F1EB61E}"/>
                  </a:ext>
                </a:extLst>
              </p:cNvPr>
              <p:cNvSpPr/>
              <p:nvPr/>
            </p:nvSpPr>
            <p:spPr>
              <a:xfrm>
                <a:off x="883122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OTP sent to patient (mock SMS)</a:t>
                </a:r>
                <a:endParaRPr lang="en-US" sz="1100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F2B8856-8DEE-C62C-56E0-3822654909AC}"/>
              </a:ext>
            </a:extLst>
          </p:cNvPr>
          <p:cNvGrpSpPr/>
          <p:nvPr/>
        </p:nvGrpSpPr>
        <p:grpSpPr>
          <a:xfrm>
            <a:off x="521206" y="2869104"/>
            <a:ext cx="4141700" cy="435301"/>
            <a:chOff x="4709692" y="1828613"/>
            <a:chExt cx="4141700" cy="435301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F5F31E82-DD44-DEEB-0D19-9381123BEE2B}"/>
                </a:ext>
              </a:extLst>
            </p:cNvPr>
            <p:cNvSpPr/>
            <p:nvPr/>
          </p:nvSpPr>
          <p:spPr>
            <a:xfrm>
              <a:off x="4709692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2FD4AB9-C656-6D1E-0D81-DE919A121421}"/>
                </a:ext>
              </a:extLst>
            </p:cNvPr>
            <p:cNvGrpSpPr/>
            <p:nvPr/>
          </p:nvGrpSpPr>
          <p:grpSpPr>
            <a:xfrm>
              <a:off x="4709692" y="1828613"/>
              <a:ext cx="4141700" cy="435301"/>
              <a:chOff x="4709692" y="1828613"/>
              <a:chExt cx="4141700" cy="435301"/>
            </a:xfrm>
          </p:grpSpPr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9ABF5A08-562F-EAA7-2B32-5837372F7271}"/>
                  </a:ext>
                </a:extLst>
              </p:cNvPr>
              <p:cNvSpPr/>
              <p:nvPr/>
            </p:nvSpPr>
            <p:spPr>
              <a:xfrm>
                <a:off x="4709692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4</a:t>
                </a:r>
                <a:endParaRPr lang="en-US" sz="2200" dirty="0"/>
              </a:p>
            </p:txBody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729084D0-639B-361C-0891-DD8ECB670710}"/>
                  </a:ext>
                </a:extLst>
              </p:cNvPr>
              <p:cNvSpPr/>
              <p:nvPr/>
            </p:nvSpPr>
            <p:spPr>
              <a:xfrm>
                <a:off x="5249914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shares OTP</a:t>
                </a:r>
                <a:endParaRPr lang="en-US" sz="1400" dirty="0"/>
              </a:p>
            </p:txBody>
          </p:sp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189D1160-4DEE-774F-22F3-1CF5F06CEF27}"/>
                  </a:ext>
                </a:extLst>
              </p:cNvPr>
              <p:cNvSpPr/>
              <p:nvPr/>
            </p:nvSpPr>
            <p:spPr>
              <a:xfrm>
                <a:off x="5249914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Access granted to view records</a:t>
                </a:r>
                <a:endParaRPr lang="en-US" sz="1100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A589D37-156E-2F41-1D8E-929BE436146B}"/>
              </a:ext>
            </a:extLst>
          </p:cNvPr>
          <p:cNvGrpSpPr/>
          <p:nvPr/>
        </p:nvGrpSpPr>
        <p:grpSpPr>
          <a:xfrm>
            <a:off x="508140" y="3504400"/>
            <a:ext cx="4141700" cy="435301"/>
            <a:chOff x="342900" y="2673096"/>
            <a:chExt cx="4141700" cy="435301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DCC244C2-BC49-1F20-7D25-C1EEEB3AC543}"/>
                </a:ext>
              </a:extLst>
            </p:cNvPr>
            <p:cNvSpPr/>
            <p:nvPr/>
          </p:nvSpPr>
          <p:spPr>
            <a:xfrm>
              <a:off x="342900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0AD807C-AA02-0FCB-287B-A393184186D1}"/>
                </a:ext>
              </a:extLst>
            </p:cNvPr>
            <p:cNvGrpSpPr/>
            <p:nvPr/>
          </p:nvGrpSpPr>
          <p:grpSpPr>
            <a:xfrm>
              <a:off x="342900" y="2673096"/>
              <a:ext cx="4141700" cy="435301"/>
              <a:chOff x="342900" y="2673096"/>
              <a:chExt cx="4141700" cy="435301"/>
            </a:xfrm>
          </p:grpSpPr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600C8762-CF8D-201D-918D-3E192A94B1C3}"/>
                  </a:ext>
                </a:extLst>
              </p:cNvPr>
              <p:cNvSpPr/>
              <p:nvPr/>
            </p:nvSpPr>
            <p:spPr>
              <a:xfrm>
                <a:off x="342900" y="2673096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5</a:t>
                </a:r>
                <a:endParaRPr lang="en-US" sz="2200" dirty="0"/>
              </a:p>
            </p:txBody>
          </p:sp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16ED8335-2782-6820-D9EE-5C7497F4C740}"/>
                  </a:ext>
                </a:extLst>
              </p:cNvPr>
              <p:cNvSpPr/>
              <p:nvPr/>
            </p:nvSpPr>
            <p:spPr>
              <a:xfrm>
                <a:off x="883122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Medical Record Update</a:t>
                </a:r>
                <a:endParaRPr lang="en-US" sz="1400" dirty="0"/>
              </a:p>
            </p:txBody>
          </p:sp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4097CCBF-6945-B2E3-1098-CE38C81215BD}"/>
                  </a:ext>
                </a:extLst>
              </p:cNvPr>
              <p:cNvSpPr/>
              <p:nvPr/>
            </p:nvSpPr>
            <p:spPr>
              <a:xfrm>
                <a:off x="883122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Doctor uploads diagnosis &amp; prescription; labs upload verified reports</a:t>
                </a:r>
                <a:endParaRPr lang="en-US" sz="1100" dirty="0"/>
              </a:p>
            </p:txBody>
          </p:sp>
        </p:grpSp>
      </p:grpSp>
      <p:sp>
        <p:nvSpPr>
          <p:cNvPr id="29" name="Text 27">
            <a:extLst>
              <a:ext uri="{FF2B5EF4-FFF2-40B4-BE49-F238E27FC236}">
                <a16:creationId xmlns:a16="http://schemas.microsoft.com/office/drawing/2014/main" id="{66E213FD-D4C3-3F79-A3FC-8873E53F9DF1}"/>
              </a:ext>
            </a:extLst>
          </p:cNvPr>
          <p:cNvSpPr/>
          <p:nvPr/>
        </p:nvSpPr>
        <p:spPr>
          <a:xfrm>
            <a:off x="342900" y="3517580"/>
            <a:ext cx="450185" cy="435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0DE5EDE-A625-3AF8-D073-0E278613DD98}"/>
              </a:ext>
            </a:extLst>
          </p:cNvPr>
          <p:cNvGrpSpPr/>
          <p:nvPr/>
        </p:nvGrpSpPr>
        <p:grpSpPr>
          <a:xfrm>
            <a:off x="462421" y="4233566"/>
            <a:ext cx="4141700" cy="435302"/>
            <a:chOff x="351912" y="3516681"/>
            <a:chExt cx="4141700" cy="43530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92ACA5F-6CBD-6887-8ED9-0EF824BA64C4}"/>
                </a:ext>
              </a:extLst>
            </p:cNvPr>
            <p:cNvGrpSpPr/>
            <p:nvPr/>
          </p:nvGrpSpPr>
          <p:grpSpPr>
            <a:xfrm>
              <a:off x="351912" y="3516681"/>
              <a:ext cx="4141700" cy="435301"/>
              <a:chOff x="4709692" y="2673096"/>
              <a:chExt cx="4141700" cy="435301"/>
            </a:xfrm>
          </p:grpSpPr>
          <p:sp>
            <p:nvSpPr>
              <p:cNvPr id="24" name="Shape 22">
                <a:extLst>
                  <a:ext uri="{FF2B5EF4-FFF2-40B4-BE49-F238E27FC236}">
                    <a16:creationId xmlns:a16="http://schemas.microsoft.com/office/drawing/2014/main" id="{48CC5344-ED3F-7374-ED6B-008A8FF24D91}"/>
                  </a:ext>
                </a:extLst>
              </p:cNvPr>
              <p:cNvSpPr/>
              <p:nvPr/>
            </p:nvSpPr>
            <p:spPr>
              <a:xfrm>
                <a:off x="4709692" y="2673096"/>
                <a:ext cx="450185" cy="435301"/>
              </a:xfrm>
              <a:prstGeom prst="ellipse">
                <a:avLst/>
              </a:prstGeom>
              <a:solidFill>
                <a:srgbClr val="02809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24">
                <a:extLst>
                  <a:ext uri="{FF2B5EF4-FFF2-40B4-BE49-F238E27FC236}">
                    <a16:creationId xmlns:a16="http://schemas.microsoft.com/office/drawing/2014/main" id="{B95D22DB-F825-BB18-46C0-1B868CEAEBE0}"/>
                  </a:ext>
                </a:extLst>
              </p:cNvPr>
              <p:cNvSpPr/>
              <p:nvPr/>
            </p:nvSpPr>
            <p:spPr>
              <a:xfrm>
                <a:off x="5249914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Emergency?</a:t>
                </a:r>
                <a:endParaRPr lang="en-US" sz="1400" dirty="0"/>
              </a:p>
            </p:txBody>
          </p:sp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A4C3FC66-AD72-4493-36E3-6C098DED3E25}"/>
                  </a:ext>
                </a:extLst>
              </p:cNvPr>
              <p:cNvSpPr/>
              <p:nvPr/>
            </p:nvSpPr>
            <p:spPr>
              <a:xfrm>
                <a:off x="5249914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Break-glass with justification by authorized users</a:t>
                </a:r>
                <a:endParaRPr lang="en-US" sz="1100" dirty="0"/>
              </a:p>
            </p:txBody>
          </p:sp>
        </p:grp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F496D7E7-301D-58B6-4D5D-025193A2035D}"/>
                </a:ext>
              </a:extLst>
            </p:cNvPr>
            <p:cNvSpPr/>
            <p:nvPr/>
          </p:nvSpPr>
          <p:spPr>
            <a:xfrm>
              <a:off x="351912" y="3516682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6</a:t>
              </a:r>
              <a:endParaRPr lang="en-US" sz="2200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A23F7BB5-8DD9-0E03-35FB-BE93CB8C37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17" t="14652" r="2784" b="53600"/>
          <a:stretch>
            <a:fillRect/>
          </a:stretch>
        </p:blipFill>
        <p:spPr>
          <a:xfrm>
            <a:off x="5695406" y="2246251"/>
            <a:ext cx="2407920" cy="25426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2C98066D-9F82-5370-49B7-E60BBBFA831F}"/>
              </a:ext>
            </a:extLst>
          </p:cNvPr>
          <p:cNvGrpSpPr/>
          <p:nvPr/>
        </p:nvGrpSpPr>
        <p:grpSpPr>
          <a:xfrm>
            <a:off x="9205815" y="1284486"/>
            <a:ext cx="4141700" cy="435301"/>
            <a:chOff x="4709692" y="2673096"/>
            <a:chExt cx="4141700" cy="435301"/>
          </a:xfrm>
        </p:grpSpPr>
        <p:sp>
          <p:nvSpPr>
            <p:cNvPr id="41" name="Shape 22">
              <a:extLst>
                <a:ext uri="{FF2B5EF4-FFF2-40B4-BE49-F238E27FC236}">
                  <a16:creationId xmlns:a16="http://schemas.microsoft.com/office/drawing/2014/main" id="{FD1A1C6E-4F7E-6D14-AC42-0ABE8C413F41}"/>
                </a:ext>
              </a:extLst>
            </p:cNvPr>
            <p:cNvSpPr/>
            <p:nvPr/>
          </p:nvSpPr>
          <p:spPr>
            <a:xfrm>
              <a:off x="4709692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r>
                <a:rPr lang="en-US" b="1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42" name="Text 24">
              <a:extLst>
                <a:ext uri="{FF2B5EF4-FFF2-40B4-BE49-F238E27FC236}">
                  <a16:creationId xmlns:a16="http://schemas.microsoft.com/office/drawing/2014/main" id="{A3485CA3-2342-3BCF-2AB0-02F810309BD6}"/>
                </a:ext>
              </a:extLst>
            </p:cNvPr>
            <p:cNvSpPr/>
            <p:nvPr/>
          </p:nvSpPr>
          <p:spPr>
            <a:xfrm>
              <a:off x="5249914" y="2673096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3" name="Text 25">
              <a:extLst>
                <a:ext uri="{FF2B5EF4-FFF2-40B4-BE49-F238E27FC236}">
                  <a16:creationId xmlns:a16="http://schemas.microsoft.com/office/drawing/2014/main" id="{3EA4197B-449E-2286-4A39-3C2D5F7A0B5D}"/>
                </a:ext>
              </a:extLst>
            </p:cNvPr>
            <p:cNvSpPr/>
            <p:nvPr/>
          </p:nvSpPr>
          <p:spPr>
            <a:xfrm>
              <a:off x="5249914" y="2890747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See full audit trail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32521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A8EA8-25DE-60B8-4B0D-1EB509AC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8A997E-30E1-E61E-6370-FBB899917840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</a:rPr>
              <a:t>PLATFORM WORKFLOW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E3ED81-A813-D715-2E1E-726B36C620F9}"/>
              </a:ext>
            </a:extLst>
          </p:cNvPr>
          <p:cNvSpPr/>
          <p:nvPr/>
        </p:nvSpPr>
        <p:spPr>
          <a:xfrm>
            <a:off x="457200" y="868680"/>
            <a:ext cx="5238206" cy="45719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FF54CD4-6A22-A35C-2CEA-49A1B365D773}"/>
              </a:ext>
            </a:extLst>
          </p:cNvPr>
          <p:cNvGrpSpPr/>
          <p:nvPr/>
        </p:nvGrpSpPr>
        <p:grpSpPr>
          <a:xfrm>
            <a:off x="480061" y="984129"/>
            <a:ext cx="4141700" cy="481024"/>
            <a:chOff x="-4150705" y="984129"/>
            <a:chExt cx="4141700" cy="481024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90EEE697-8941-3744-539E-A70D849B74CC}"/>
                </a:ext>
              </a:extLst>
            </p:cNvPr>
            <p:cNvSpPr/>
            <p:nvPr/>
          </p:nvSpPr>
          <p:spPr>
            <a:xfrm>
              <a:off x="-4150705" y="1029852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7200B66-5B8E-0F2C-E045-09F71AB7ECE1}"/>
                </a:ext>
              </a:extLst>
            </p:cNvPr>
            <p:cNvGrpSpPr/>
            <p:nvPr/>
          </p:nvGrpSpPr>
          <p:grpSpPr>
            <a:xfrm>
              <a:off x="-4150705" y="984129"/>
              <a:ext cx="4141700" cy="435301"/>
              <a:chOff x="342900" y="984129"/>
              <a:chExt cx="4141700" cy="435301"/>
            </a:xfrm>
          </p:grpSpPr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83D5E19C-5849-8D9E-6C42-704E3493E732}"/>
                  </a:ext>
                </a:extLst>
              </p:cNvPr>
              <p:cNvSpPr/>
              <p:nvPr/>
            </p:nvSpPr>
            <p:spPr>
              <a:xfrm>
                <a:off x="342900" y="984129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1</a:t>
                </a:r>
                <a:endParaRPr lang="en-US" sz="2200" dirty="0"/>
              </a:p>
            </p:txBody>
          </p:sp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17254F43-AE23-C0F0-7D55-529BC8D8DFAA}"/>
                  </a:ext>
                </a:extLst>
              </p:cNvPr>
              <p:cNvSpPr/>
              <p:nvPr/>
            </p:nvSpPr>
            <p:spPr>
              <a:xfrm>
                <a:off x="883122" y="98412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Registration Once</a:t>
                </a:r>
                <a:endParaRPr lang="en-US" sz="1400" dirty="0"/>
              </a:p>
            </p:txBody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D3CAFDB8-86E6-DAA6-4C8B-5CBD3BBA4183}"/>
                  </a:ext>
                </a:extLst>
              </p:cNvPr>
              <p:cNvSpPr/>
              <p:nvPr/>
            </p:nvSpPr>
            <p:spPr>
              <a:xfrm>
                <a:off x="883122" y="1201779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Gets QR ready UUID</a:t>
                </a:r>
                <a:endParaRPr lang="en-US" sz="1100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F9DBDE5-0C24-A1DC-9590-60CE486A6EB6}"/>
              </a:ext>
            </a:extLst>
          </p:cNvPr>
          <p:cNvGrpSpPr/>
          <p:nvPr/>
        </p:nvGrpSpPr>
        <p:grpSpPr>
          <a:xfrm>
            <a:off x="512718" y="1610962"/>
            <a:ext cx="4141700" cy="435301"/>
            <a:chOff x="4709692" y="984129"/>
            <a:chExt cx="4141700" cy="435301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3AB1E8B7-7C60-4D23-B408-7FF278962464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BFD78847-E1D8-9BEF-6A6F-796086ACAA79}"/>
                </a:ext>
              </a:extLst>
            </p:cNvPr>
            <p:cNvSpPr/>
            <p:nvPr/>
          </p:nvSpPr>
          <p:spPr>
            <a:xfrm>
              <a:off x="4709692" y="984129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2</a:t>
              </a:r>
              <a:endParaRPr lang="en-US" sz="22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7E8BFD21-450E-73F8-66F5-FA5364F1E658}"/>
                </a:ext>
              </a:extLst>
            </p:cNvPr>
            <p:cNvSpPr/>
            <p:nvPr/>
          </p:nvSpPr>
          <p:spPr>
            <a:xfrm>
              <a:off x="5249914" y="98412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Doctor logs in</a:t>
              </a:r>
              <a:endParaRPr lang="en-US" sz="1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DF9D3925-578B-58CC-C98E-3614EF59D5F8}"/>
                </a:ext>
              </a:extLst>
            </p:cNvPr>
            <p:cNvSpPr/>
            <p:nvPr/>
          </p:nvSpPr>
          <p:spPr>
            <a:xfrm>
              <a:off x="5249914" y="1201779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Searches patient by ID/QR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4AC4E2B-5E32-D2A2-E93A-59A81A57EE66}"/>
              </a:ext>
            </a:extLst>
          </p:cNvPr>
          <p:cNvGrpSpPr/>
          <p:nvPr/>
        </p:nvGrpSpPr>
        <p:grpSpPr>
          <a:xfrm>
            <a:off x="521212" y="2209400"/>
            <a:ext cx="4141700" cy="435301"/>
            <a:chOff x="342900" y="1828613"/>
            <a:chExt cx="4141700" cy="435301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60BA80B7-3E3E-7088-8BCF-E5AEDEABBD03}"/>
                </a:ext>
              </a:extLst>
            </p:cNvPr>
            <p:cNvSpPr/>
            <p:nvPr/>
          </p:nvSpPr>
          <p:spPr>
            <a:xfrm>
              <a:off x="342900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30476B4-14B0-4EC7-60BD-4582045E3C1C}"/>
                </a:ext>
              </a:extLst>
            </p:cNvPr>
            <p:cNvGrpSpPr/>
            <p:nvPr/>
          </p:nvGrpSpPr>
          <p:grpSpPr>
            <a:xfrm>
              <a:off x="342900" y="1828613"/>
              <a:ext cx="4141700" cy="435301"/>
              <a:chOff x="342900" y="1828613"/>
              <a:chExt cx="4141700" cy="435301"/>
            </a:xfrm>
          </p:grpSpPr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58FCEA92-AAFE-F3B3-6E59-76964D166A14}"/>
                  </a:ext>
                </a:extLst>
              </p:cNvPr>
              <p:cNvSpPr/>
              <p:nvPr/>
            </p:nvSpPr>
            <p:spPr>
              <a:xfrm>
                <a:off x="342900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3</a:t>
                </a:r>
                <a:endParaRPr lang="en-US" sz="2200" dirty="0"/>
              </a:p>
            </p:txBody>
          </p:sp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526F71F3-DCED-2539-9B26-5AF001CAA198}"/>
                  </a:ext>
                </a:extLst>
              </p:cNvPr>
              <p:cNvSpPr/>
              <p:nvPr/>
            </p:nvSpPr>
            <p:spPr>
              <a:xfrm>
                <a:off x="883122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Consequent Requested</a:t>
                </a:r>
                <a:endParaRPr lang="en-US" sz="1400" dirty="0"/>
              </a:p>
            </p:txBody>
          </p:sp>
          <p:sp>
            <p:nvSpPr>
              <p:cNvPr id="15" name="Text 13">
                <a:extLst>
                  <a:ext uri="{FF2B5EF4-FFF2-40B4-BE49-F238E27FC236}">
                    <a16:creationId xmlns:a16="http://schemas.microsoft.com/office/drawing/2014/main" id="{DB561DBC-35DF-6EAA-1CB2-3982CCFA5E63}"/>
                  </a:ext>
                </a:extLst>
              </p:cNvPr>
              <p:cNvSpPr/>
              <p:nvPr/>
            </p:nvSpPr>
            <p:spPr>
              <a:xfrm>
                <a:off x="883122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OTP sent to patient (mock SMS)</a:t>
                </a:r>
                <a:endParaRPr lang="en-US" sz="1100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3EF658-A4BB-25C2-9FCE-C0CF89F82572}"/>
              </a:ext>
            </a:extLst>
          </p:cNvPr>
          <p:cNvGrpSpPr/>
          <p:nvPr/>
        </p:nvGrpSpPr>
        <p:grpSpPr>
          <a:xfrm>
            <a:off x="521206" y="2869104"/>
            <a:ext cx="4141700" cy="435301"/>
            <a:chOff x="4709692" y="1828613"/>
            <a:chExt cx="4141700" cy="435301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59EFB549-32E3-1C28-6366-5AF27F9AE192}"/>
                </a:ext>
              </a:extLst>
            </p:cNvPr>
            <p:cNvSpPr/>
            <p:nvPr/>
          </p:nvSpPr>
          <p:spPr>
            <a:xfrm>
              <a:off x="4709692" y="1828613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197361D-6418-1B71-A900-2F52125B0688}"/>
                </a:ext>
              </a:extLst>
            </p:cNvPr>
            <p:cNvGrpSpPr/>
            <p:nvPr/>
          </p:nvGrpSpPr>
          <p:grpSpPr>
            <a:xfrm>
              <a:off x="4709692" y="1828613"/>
              <a:ext cx="4141700" cy="435301"/>
              <a:chOff x="4709692" y="1828613"/>
              <a:chExt cx="4141700" cy="435301"/>
            </a:xfrm>
          </p:grpSpPr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2E6B3B4A-9DF5-C622-CCE9-BF3C2615FD2D}"/>
                  </a:ext>
                </a:extLst>
              </p:cNvPr>
              <p:cNvSpPr/>
              <p:nvPr/>
            </p:nvSpPr>
            <p:spPr>
              <a:xfrm>
                <a:off x="4709692" y="1828613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4</a:t>
                </a:r>
                <a:endParaRPr lang="en-US" sz="2200" dirty="0"/>
              </a:p>
            </p:txBody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5FB51626-6C6E-EE94-5403-D923C35B87C7}"/>
                  </a:ext>
                </a:extLst>
              </p:cNvPr>
              <p:cNvSpPr/>
              <p:nvPr/>
            </p:nvSpPr>
            <p:spPr>
              <a:xfrm>
                <a:off x="5249914" y="182861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Patient shares OTP</a:t>
                </a:r>
                <a:endParaRPr lang="en-US" sz="1400" dirty="0"/>
              </a:p>
            </p:txBody>
          </p:sp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06F04F8A-558F-3FFA-8796-88280123B986}"/>
                  </a:ext>
                </a:extLst>
              </p:cNvPr>
              <p:cNvSpPr/>
              <p:nvPr/>
            </p:nvSpPr>
            <p:spPr>
              <a:xfrm>
                <a:off x="5249914" y="2046263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Access granted to view records</a:t>
                </a:r>
                <a:endParaRPr lang="en-US" sz="1100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4CC3C7-553E-21BA-651F-5270481DA328}"/>
              </a:ext>
            </a:extLst>
          </p:cNvPr>
          <p:cNvGrpSpPr/>
          <p:nvPr/>
        </p:nvGrpSpPr>
        <p:grpSpPr>
          <a:xfrm>
            <a:off x="508140" y="3504400"/>
            <a:ext cx="4141700" cy="435301"/>
            <a:chOff x="342900" y="2673096"/>
            <a:chExt cx="4141700" cy="435301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F7F72AD5-B9AA-43C8-5B94-1573A830840C}"/>
                </a:ext>
              </a:extLst>
            </p:cNvPr>
            <p:cNvSpPr/>
            <p:nvPr/>
          </p:nvSpPr>
          <p:spPr>
            <a:xfrm>
              <a:off x="342900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021DD3E-5BEF-B58B-826F-E5E9AC234679}"/>
                </a:ext>
              </a:extLst>
            </p:cNvPr>
            <p:cNvGrpSpPr/>
            <p:nvPr/>
          </p:nvGrpSpPr>
          <p:grpSpPr>
            <a:xfrm>
              <a:off x="342900" y="2673096"/>
              <a:ext cx="4141700" cy="435301"/>
              <a:chOff x="342900" y="2673096"/>
              <a:chExt cx="4141700" cy="435301"/>
            </a:xfrm>
          </p:grpSpPr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D13449F0-6533-265A-E4D4-52C17FAB11B5}"/>
                  </a:ext>
                </a:extLst>
              </p:cNvPr>
              <p:cNvSpPr/>
              <p:nvPr/>
            </p:nvSpPr>
            <p:spPr>
              <a:xfrm>
                <a:off x="342900" y="2673096"/>
                <a:ext cx="450185" cy="43530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FFFFF"/>
                    </a:solidFill>
                  </a:rPr>
                  <a:t>5</a:t>
                </a:r>
                <a:endParaRPr lang="en-US" sz="2200" dirty="0"/>
              </a:p>
            </p:txBody>
          </p:sp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2565CA49-DE4F-232D-2CEE-6B8EBD0842FC}"/>
                  </a:ext>
                </a:extLst>
              </p:cNvPr>
              <p:cNvSpPr/>
              <p:nvPr/>
            </p:nvSpPr>
            <p:spPr>
              <a:xfrm>
                <a:off x="883122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Medical Record Update</a:t>
                </a:r>
                <a:endParaRPr lang="en-US" sz="1400" dirty="0"/>
              </a:p>
            </p:txBody>
          </p:sp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4BDCA785-CFD0-689D-FB33-FD4224585485}"/>
                  </a:ext>
                </a:extLst>
              </p:cNvPr>
              <p:cNvSpPr/>
              <p:nvPr/>
            </p:nvSpPr>
            <p:spPr>
              <a:xfrm>
                <a:off x="883122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Doctor uploads diagnosis &amp; prescription; labs upload verified reports</a:t>
                </a:r>
                <a:endParaRPr lang="en-US" sz="1100" dirty="0"/>
              </a:p>
            </p:txBody>
          </p:sp>
        </p:grpSp>
      </p:grpSp>
      <p:sp>
        <p:nvSpPr>
          <p:cNvPr id="29" name="Text 27">
            <a:extLst>
              <a:ext uri="{FF2B5EF4-FFF2-40B4-BE49-F238E27FC236}">
                <a16:creationId xmlns:a16="http://schemas.microsoft.com/office/drawing/2014/main" id="{AAD5D5C6-B65B-CFE1-4DB6-9CD23DB7302C}"/>
              </a:ext>
            </a:extLst>
          </p:cNvPr>
          <p:cNvSpPr/>
          <p:nvPr/>
        </p:nvSpPr>
        <p:spPr>
          <a:xfrm>
            <a:off x="342900" y="3517580"/>
            <a:ext cx="450185" cy="435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C94DB8A-A020-17A9-AAFC-E3153EF06DB1}"/>
              </a:ext>
            </a:extLst>
          </p:cNvPr>
          <p:cNvGrpSpPr/>
          <p:nvPr/>
        </p:nvGrpSpPr>
        <p:grpSpPr>
          <a:xfrm>
            <a:off x="462421" y="4233566"/>
            <a:ext cx="4141700" cy="435302"/>
            <a:chOff x="351912" y="3516681"/>
            <a:chExt cx="4141700" cy="43530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61F996C-5AF6-8162-AF72-F38119D567D4}"/>
                </a:ext>
              </a:extLst>
            </p:cNvPr>
            <p:cNvGrpSpPr/>
            <p:nvPr/>
          </p:nvGrpSpPr>
          <p:grpSpPr>
            <a:xfrm>
              <a:off x="351912" y="3516681"/>
              <a:ext cx="4141700" cy="435301"/>
              <a:chOff x="4709692" y="2673096"/>
              <a:chExt cx="4141700" cy="435301"/>
            </a:xfrm>
          </p:grpSpPr>
          <p:sp>
            <p:nvSpPr>
              <p:cNvPr id="24" name="Shape 22">
                <a:extLst>
                  <a:ext uri="{FF2B5EF4-FFF2-40B4-BE49-F238E27FC236}">
                    <a16:creationId xmlns:a16="http://schemas.microsoft.com/office/drawing/2014/main" id="{27238516-610F-531C-B648-45527519A40F}"/>
                  </a:ext>
                </a:extLst>
              </p:cNvPr>
              <p:cNvSpPr/>
              <p:nvPr/>
            </p:nvSpPr>
            <p:spPr>
              <a:xfrm>
                <a:off x="4709692" y="2673096"/>
                <a:ext cx="450185" cy="435301"/>
              </a:xfrm>
              <a:prstGeom prst="ellipse">
                <a:avLst/>
              </a:prstGeom>
              <a:solidFill>
                <a:srgbClr val="02809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24">
                <a:extLst>
                  <a:ext uri="{FF2B5EF4-FFF2-40B4-BE49-F238E27FC236}">
                    <a16:creationId xmlns:a16="http://schemas.microsoft.com/office/drawing/2014/main" id="{D925A666-F757-77B7-B4F1-A006547ADA14}"/>
                  </a:ext>
                </a:extLst>
              </p:cNvPr>
              <p:cNvSpPr/>
              <p:nvPr/>
            </p:nvSpPr>
            <p:spPr>
              <a:xfrm>
                <a:off x="5249914" y="2673096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</a:rPr>
                  <a:t>Emergency?</a:t>
                </a:r>
                <a:endParaRPr lang="en-US" sz="1400" dirty="0"/>
              </a:p>
            </p:txBody>
          </p:sp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6C9E7FA9-E9FC-A628-AA24-3D4017A08C9D}"/>
                  </a:ext>
                </a:extLst>
              </p:cNvPr>
              <p:cNvSpPr/>
              <p:nvPr/>
            </p:nvSpPr>
            <p:spPr>
              <a:xfrm>
                <a:off x="5249914" y="2890747"/>
                <a:ext cx="3601478" cy="2176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64748B"/>
                    </a:solidFill>
                  </a:rPr>
                  <a:t>Break-glass with justification by authorized users</a:t>
                </a:r>
                <a:endParaRPr lang="en-US" sz="1100" dirty="0"/>
              </a:p>
            </p:txBody>
          </p:sp>
        </p:grp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99951BC2-2CF4-569D-09B6-BC119F11CCBD}"/>
                </a:ext>
              </a:extLst>
            </p:cNvPr>
            <p:cNvSpPr/>
            <p:nvPr/>
          </p:nvSpPr>
          <p:spPr>
            <a:xfrm>
              <a:off x="351912" y="3516682"/>
              <a:ext cx="450185" cy="4353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6</a:t>
              </a:r>
              <a:endParaRPr lang="en-US" sz="2200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4AED851E-BB39-4D43-C8FC-49A3348551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17" t="14652" r="2784" b="53600"/>
          <a:stretch>
            <a:fillRect/>
          </a:stretch>
        </p:blipFill>
        <p:spPr>
          <a:xfrm>
            <a:off x="5695406" y="2246251"/>
            <a:ext cx="2407920" cy="25426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7BC42A03-25E2-FE58-4C2D-D798DBC9B70F}"/>
              </a:ext>
            </a:extLst>
          </p:cNvPr>
          <p:cNvGrpSpPr/>
          <p:nvPr/>
        </p:nvGrpSpPr>
        <p:grpSpPr>
          <a:xfrm>
            <a:off x="4953872" y="1284486"/>
            <a:ext cx="4141700" cy="435301"/>
            <a:chOff x="4709692" y="2673096"/>
            <a:chExt cx="4141700" cy="435301"/>
          </a:xfrm>
        </p:grpSpPr>
        <p:sp>
          <p:nvSpPr>
            <p:cNvPr id="41" name="Shape 22">
              <a:extLst>
                <a:ext uri="{FF2B5EF4-FFF2-40B4-BE49-F238E27FC236}">
                  <a16:creationId xmlns:a16="http://schemas.microsoft.com/office/drawing/2014/main" id="{FF9C25BC-314D-8476-7DE9-611BFFDD697E}"/>
                </a:ext>
              </a:extLst>
            </p:cNvPr>
            <p:cNvSpPr/>
            <p:nvPr/>
          </p:nvSpPr>
          <p:spPr>
            <a:xfrm>
              <a:off x="4709692" y="2673096"/>
              <a:ext cx="450185" cy="435301"/>
            </a:xfrm>
            <a:prstGeom prst="ellipse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r>
                <a:rPr lang="en-US" b="1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42" name="Text 24">
              <a:extLst>
                <a:ext uri="{FF2B5EF4-FFF2-40B4-BE49-F238E27FC236}">
                  <a16:creationId xmlns:a16="http://schemas.microsoft.com/office/drawing/2014/main" id="{9A149DA0-B27B-D236-739E-B77521427F94}"/>
                </a:ext>
              </a:extLst>
            </p:cNvPr>
            <p:cNvSpPr/>
            <p:nvPr/>
          </p:nvSpPr>
          <p:spPr>
            <a:xfrm>
              <a:off x="5249914" y="2673096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</a:rPr>
                <a:t>System Admin</a:t>
              </a:r>
              <a:endParaRPr lang="en-US" sz="1400" dirty="0"/>
            </a:p>
          </p:txBody>
        </p:sp>
        <p:sp>
          <p:nvSpPr>
            <p:cNvPr id="43" name="Text 25">
              <a:extLst>
                <a:ext uri="{FF2B5EF4-FFF2-40B4-BE49-F238E27FC236}">
                  <a16:creationId xmlns:a16="http://schemas.microsoft.com/office/drawing/2014/main" id="{30FB59BB-894F-A85A-6864-14F983BB9A02}"/>
                </a:ext>
              </a:extLst>
            </p:cNvPr>
            <p:cNvSpPr/>
            <p:nvPr/>
          </p:nvSpPr>
          <p:spPr>
            <a:xfrm>
              <a:off x="5249914" y="2890747"/>
              <a:ext cx="3601478" cy="2176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See full audit trail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26964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 SECURITY &amp; CONSENT – BUILT FOR TRUST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A41661-F196-1A46-4CB4-EBD2EC6A91D2}"/>
              </a:ext>
            </a:extLst>
          </p:cNvPr>
          <p:cNvSpPr/>
          <p:nvPr/>
        </p:nvSpPr>
        <p:spPr>
          <a:xfrm>
            <a:off x="668216" y="4754247"/>
            <a:ext cx="7673926" cy="386844"/>
          </a:xfrm>
          <a:prstGeom prst="rect">
            <a:avLst/>
          </a:prstGeom>
          <a:solidFill>
            <a:srgbClr val="0280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81DB39-9525-B5B2-9EE7-48B0B3D7A59A}"/>
              </a:ext>
            </a:extLst>
          </p:cNvPr>
          <p:cNvSpPr txBox="1"/>
          <p:nvPr/>
        </p:nvSpPr>
        <p:spPr>
          <a:xfrm>
            <a:off x="777240" y="479074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050" dirty="0"/>
              <a:t>Projected Impact: 10% reduction in repeated tests = NPR 50M+ saved annually  |  Emergency delays reduced by 35%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799D310-0E14-E18A-BBB5-BEBF90475B65}"/>
              </a:ext>
            </a:extLst>
          </p:cNvPr>
          <p:cNvGrpSpPr/>
          <p:nvPr/>
        </p:nvGrpSpPr>
        <p:grpSpPr>
          <a:xfrm>
            <a:off x="32663" y="1158684"/>
            <a:ext cx="3688080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38189A12-F579-F482-78ED-78B88FEBC66C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8D7181E2-2496-00E8-5753-721175599A1D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8675E198-6D3F-1372-F4F4-6A4D6139D996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Patient‑controlled consent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A2FF8987-EDA3-AD17-DE27-31162CC04F0B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OTP‑based one‑time access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90B39A90-E080-563B-258B-15C5B1BE68BA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Time‑bound (limited time access)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24EF6E8B-3C78-CCAA-3DDA-A783FCABD662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Revocable anytime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13C3C0F-8881-0793-DAC5-60FBB47C31D0}"/>
              </a:ext>
            </a:extLst>
          </p:cNvPr>
          <p:cNvGrpSpPr/>
          <p:nvPr/>
        </p:nvGrpSpPr>
        <p:grpSpPr>
          <a:xfrm>
            <a:off x="21778" y="2271202"/>
            <a:ext cx="3688080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AE266ACE-4CCB-BE67-8442-A906BE4E8E5D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20E4021F-0FEE-E749-5937-1EB88660DB3E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2117429D-5ABA-F927-AFCA-10F951D232CA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Emergency override (break‑glass)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CB58E8CA-44DF-86C8-EF45-8E5253DC9ECF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One‑click access with mandatory justification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A2387935-6885-BB98-E100-B5F9511A1333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Permanent audit record, no deletion ever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4075BA3-F201-0D8A-E84A-ADDB6A6B1E73}"/>
              </a:ext>
            </a:extLst>
          </p:cNvPr>
          <p:cNvGrpSpPr/>
          <p:nvPr/>
        </p:nvGrpSpPr>
        <p:grpSpPr>
          <a:xfrm>
            <a:off x="37017" y="3383720"/>
            <a:ext cx="3688080" cy="1127404"/>
            <a:chOff x="457200" y="1280160"/>
            <a:chExt cx="4114800" cy="169609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3D8AFADD-ABB7-72A7-8B58-06CA4AF486D2}"/>
                </a:ext>
              </a:extLst>
            </p:cNvPr>
            <p:cNvSpPr/>
            <p:nvPr/>
          </p:nvSpPr>
          <p:spPr>
            <a:xfrm>
              <a:off x="457200" y="1280160"/>
              <a:ext cx="4114800" cy="169609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A9ABD1FC-1102-CA62-CE4A-964220C37A25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CF09064A-346E-3BF2-816F-BB270E71F054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Defense in depth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24A8077F-C0D4-5575-3C57-75E1EC9DA4F0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JWT with role‑based access control (RBAC)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6BEF7813-4FCA-8DA4-2E18-B85C3DBD2349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Column‑level encryption for PII (national ID, phone)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AEA54218-CB3A-509D-7BE7-98A930AC1478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 err="1">
                  <a:solidFill>
                    <a:srgbClr val="1E293B"/>
                  </a:solidFill>
                </a:rPr>
                <a:t>Bcrypt</a:t>
              </a:r>
              <a:r>
                <a:rPr lang="en-US" sz="1100" dirty="0">
                  <a:solidFill>
                    <a:srgbClr val="1E293B"/>
                  </a:solidFill>
                </a:rPr>
                <a:t> password hashing (production ready)</a:t>
              </a:r>
              <a:endParaRPr lang="en-US" sz="1100" dirty="0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0B4BEC44-89E6-AD37-5DE1-65506E290FD5}"/>
                </a:ext>
              </a:extLst>
            </p:cNvPr>
            <p:cNvSpPr/>
            <p:nvPr/>
          </p:nvSpPr>
          <p:spPr>
            <a:xfrm>
              <a:off x="651797" y="26649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Full audit logging for all sensitive reads/writes</a:t>
              </a:r>
              <a:endParaRPr lang="en-US" sz="1100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AD117-7B6A-6555-A638-CB91AD30C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A6CF1B-169E-C85F-4FFD-A1215F418C37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5817BA-E69F-3444-5C30-1AB3F869900B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 SECURITY &amp; CONSENT – BUILT FOR TRUST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CF24F5-2ABF-FDBF-423A-CFB35B1F3ED6}"/>
              </a:ext>
            </a:extLst>
          </p:cNvPr>
          <p:cNvSpPr/>
          <p:nvPr/>
        </p:nvSpPr>
        <p:spPr>
          <a:xfrm>
            <a:off x="668216" y="4754247"/>
            <a:ext cx="7673926" cy="386844"/>
          </a:xfrm>
          <a:prstGeom prst="rect">
            <a:avLst/>
          </a:prstGeom>
          <a:solidFill>
            <a:srgbClr val="0280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950845-DE77-C5B8-E713-14725EDC6080}"/>
              </a:ext>
            </a:extLst>
          </p:cNvPr>
          <p:cNvSpPr txBox="1"/>
          <p:nvPr/>
        </p:nvSpPr>
        <p:spPr>
          <a:xfrm>
            <a:off x="777240" y="479074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050" dirty="0"/>
              <a:t>Projected Impact: 10% reduction in repeated tests = NPR 50M+ saved annually  |  Emergency delays reduced by 35%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DFE99C-0387-91A9-AE1F-7EBD3E7E424C}"/>
              </a:ext>
            </a:extLst>
          </p:cNvPr>
          <p:cNvGrpSpPr/>
          <p:nvPr/>
        </p:nvGrpSpPr>
        <p:grpSpPr>
          <a:xfrm>
            <a:off x="2854224" y="1158684"/>
            <a:ext cx="3688080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DD505B0E-BF9B-5FA8-0B92-87BF484042D1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229D69B7-1870-303E-9CB8-BAD6597D33B8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E9AABC8F-647E-3DFE-D739-2FC84C1CF597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Patient‑controlled consent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0BD23682-2240-96A3-F608-9C0949F0C9D9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OTP‑based one‑time access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62ADAE3A-09A6-8854-49F9-9E30EFFA16CB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Time‑bound (limited time access)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2F1F174C-4512-17A0-97EC-582A0C6DB5CD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Revocable anytime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D88954-CF42-DD84-233B-70AB82D9E5DB}"/>
              </a:ext>
            </a:extLst>
          </p:cNvPr>
          <p:cNvGrpSpPr/>
          <p:nvPr/>
        </p:nvGrpSpPr>
        <p:grpSpPr>
          <a:xfrm>
            <a:off x="21778" y="2271202"/>
            <a:ext cx="3688080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51345000-6773-C0CC-B268-15EEE935AF3E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FFFD7AF8-8DA0-70BC-129A-3F98165AEF7C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251B9EB4-461D-419C-9DDA-5B47CA8BF50C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Emergency override (break‑glass)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97DFB29A-9797-AC01-2FBD-47A2B3B18F78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One‑click access with mandatory justification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802FD90B-9818-E82D-28D9-27BAD98B486D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Permanent audit record, no deletion ever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90B94E5-8FB1-9670-3EB8-D942F7F5303F}"/>
              </a:ext>
            </a:extLst>
          </p:cNvPr>
          <p:cNvGrpSpPr/>
          <p:nvPr/>
        </p:nvGrpSpPr>
        <p:grpSpPr>
          <a:xfrm>
            <a:off x="37017" y="3383720"/>
            <a:ext cx="3688080" cy="1127404"/>
            <a:chOff x="457200" y="1280160"/>
            <a:chExt cx="4114800" cy="169609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6205641F-792D-C833-FE7E-156DD97D5665}"/>
                </a:ext>
              </a:extLst>
            </p:cNvPr>
            <p:cNvSpPr/>
            <p:nvPr/>
          </p:nvSpPr>
          <p:spPr>
            <a:xfrm>
              <a:off x="457200" y="1280160"/>
              <a:ext cx="4114800" cy="169609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432A9D37-EE6B-CA9A-5AF0-D20B1A6276BE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EAA1BB8A-A8F1-F9C5-A7D7-8FF35A2B06E4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Defense in depth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B34364E8-C13D-0B5C-F828-A0725BA936C8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JWT with role‑based access control (RBAC)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AA7E5832-07A4-14AD-BF5F-051C1BD34854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Column‑level encryption for PII (national ID, phone)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09F808A5-5349-42F3-3B91-02630738A28E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 err="1">
                  <a:solidFill>
                    <a:srgbClr val="1E293B"/>
                  </a:solidFill>
                </a:rPr>
                <a:t>Bcrypt</a:t>
              </a:r>
              <a:r>
                <a:rPr lang="en-US" sz="1100" dirty="0">
                  <a:solidFill>
                    <a:srgbClr val="1E293B"/>
                  </a:solidFill>
                </a:rPr>
                <a:t> password hashing (production ready)</a:t>
              </a:r>
              <a:endParaRPr lang="en-US" sz="1100" dirty="0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904350A9-17CC-DFDA-C180-2E3EBA6D2EFA}"/>
                </a:ext>
              </a:extLst>
            </p:cNvPr>
            <p:cNvSpPr/>
            <p:nvPr/>
          </p:nvSpPr>
          <p:spPr>
            <a:xfrm>
              <a:off x="651797" y="26649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Full audit logging for all sensitive reads/writes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63636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B22DF-C4DE-B8DC-CDE5-1C62C229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AB0387-06BF-FF82-8C24-8EE91226BDD5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FFE41B-EB2B-B44C-F071-2AF79D344745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 SECURITY &amp; CONSENT – BUILT FOR TRUST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800609-CAEE-7ABC-4C8C-7C3219654859}"/>
              </a:ext>
            </a:extLst>
          </p:cNvPr>
          <p:cNvSpPr/>
          <p:nvPr/>
        </p:nvSpPr>
        <p:spPr>
          <a:xfrm>
            <a:off x="668216" y="4754247"/>
            <a:ext cx="7673926" cy="386844"/>
          </a:xfrm>
          <a:prstGeom prst="rect">
            <a:avLst/>
          </a:prstGeom>
          <a:solidFill>
            <a:srgbClr val="0280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4C02EF-34D4-A05F-5597-71F0E0A36428}"/>
              </a:ext>
            </a:extLst>
          </p:cNvPr>
          <p:cNvSpPr txBox="1"/>
          <p:nvPr/>
        </p:nvSpPr>
        <p:spPr>
          <a:xfrm>
            <a:off x="777240" y="479074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050" dirty="0"/>
              <a:t>Projected Impact: 10% reduction in repeated tests = NPR 50M+ saved annually  |  Emergency delays reduced by 35%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2C1B8B6-3F4F-0666-68DF-107196599837}"/>
              </a:ext>
            </a:extLst>
          </p:cNvPr>
          <p:cNvGrpSpPr/>
          <p:nvPr/>
        </p:nvGrpSpPr>
        <p:grpSpPr>
          <a:xfrm>
            <a:off x="5408002" y="1158684"/>
            <a:ext cx="3688080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5B8C2F22-9ABE-5C46-A499-1F741333AA8F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746839AD-294C-8D3E-AFF9-8F648BEC6DF5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5E22073C-5BE7-25A4-9620-A8869FC6CA90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Patient‑controlled consent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EE2DB482-9C5C-C833-1FBE-868DEE1F5C52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OTP‑based one‑time access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D16CD130-2304-13BE-9432-40C2C66376EA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Time‑bound (limited time access)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9525B474-F078-8F7A-FC73-37966A684A3A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Revocable anytime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A56E594-C598-4024-DCD5-7EC978C16B6B}"/>
              </a:ext>
            </a:extLst>
          </p:cNvPr>
          <p:cNvGrpSpPr/>
          <p:nvPr/>
        </p:nvGrpSpPr>
        <p:grpSpPr>
          <a:xfrm>
            <a:off x="2575556" y="2271202"/>
            <a:ext cx="3688080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715A6561-C531-472E-AF19-6DD3FB369D03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2A30C2DA-42FA-917E-6651-62CE52EED128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21942ABE-4878-3FA4-8B28-7B2372D928EB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Emergency override (break‑glass)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0F8D4A5A-63B4-7F2C-6D6A-3E0146D71567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One‑click access with mandatory justification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41C27E62-5961-A024-CCB7-9F650733B36F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Permanent audit record, no deletion ever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1B67FA1-94AE-5CAA-3599-3A36C12C7B1C}"/>
              </a:ext>
            </a:extLst>
          </p:cNvPr>
          <p:cNvGrpSpPr/>
          <p:nvPr/>
        </p:nvGrpSpPr>
        <p:grpSpPr>
          <a:xfrm>
            <a:off x="37017" y="3383720"/>
            <a:ext cx="3688080" cy="1127404"/>
            <a:chOff x="457200" y="1280160"/>
            <a:chExt cx="4114800" cy="169609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7C60EFC1-9A63-B3CA-86AE-837F1CC1CD04}"/>
                </a:ext>
              </a:extLst>
            </p:cNvPr>
            <p:cNvSpPr/>
            <p:nvPr/>
          </p:nvSpPr>
          <p:spPr>
            <a:xfrm>
              <a:off x="457200" y="1280160"/>
              <a:ext cx="4114800" cy="169609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D255606F-36AD-2D82-D1D6-16E92FEA1CB3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D1C3D3B4-8630-31D1-DD37-A4BC04591502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Defense in depth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598A3B0E-6955-B522-FF1E-2C8A1DBE45EF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JWT with role‑based access control (RBAC)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022A1086-F461-EF88-6D9B-D53364D0B046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Column‑level encryption for PII (national ID, phone)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4ECF8D85-3628-5ED1-50C5-B890649932B2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 err="1">
                  <a:solidFill>
                    <a:srgbClr val="1E293B"/>
                  </a:solidFill>
                </a:rPr>
                <a:t>Bcrypt</a:t>
              </a:r>
              <a:r>
                <a:rPr lang="en-US" sz="1100" dirty="0">
                  <a:solidFill>
                    <a:srgbClr val="1E293B"/>
                  </a:solidFill>
                </a:rPr>
                <a:t> password hashing (production ready)</a:t>
              </a:r>
              <a:endParaRPr lang="en-US" sz="1100" dirty="0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193D26E0-C0D9-047E-3E1E-F85F0E26B949}"/>
                </a:ext>
              </a:extLst>
            </p:cNvPr>
            <p:cNvSpPr/>
            <p:nvPr/>
          </p:nvSpPr>
          <p:spPr>
            <a:xfrm>
              <a:off x="651797" y="26649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Full audit logging for all sensitive reads/writes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3716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31F8F-9000-16ED-6227-5E3959D8D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69FD4B-0144-BB82-E210-719F03B2EF06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DF18FA-3A8A-024D-22C7-07784766F4AE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 SECURITY &amp; CONSENT – BUILT FOR TRUST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2FCAE5-0239-D4E3-536B-D00FC874C53D}"/>
              </a:ext>
            </a:extLst>
          </p:cNvPr>
          <p:cNvSpPr/>
          <p:nvPr/>
        </p:nvSpPr>
        <p:spPr>
          <a:xfrm>
            <a:off x="668216" y="4754247"/>
            <a:ext cx="7673926" cy="386844"/>
          </a:xfrm>
          <a:prstGeom prst="rect">
            <a:avLst/>
          </a:prstGeom>
          <a:solidFill>
            <a:srgbClr val="0280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A42DC2-4ABC-5948-4DD8-317B2134A9EB}"/>
              </a:ext>
            </a:extLst>
          </p:cNvPr>
          <p:cNvSpPr txBox="1"/>
          <p:nvPr/>
        </p:nvSpPr>
        <p:spPr>
          <a:xfrm>
            <a:off x="777240" y="479074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050" dirty="0"/>
              <a:t>Projected Impact: 10% reduction in repeated tests = NPR 50M+ saved annually  |  Emergency delays reduced by 35%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27E8022-76F3-AAEC-EF0F-78A23E4E4832}"/>
              </a:ext>
            </a:extLst>
          </p:cNvPr>
          <p:cNvGrpSpPr/>
          <p:nvPr/>
        </p:nvGrpSpPr>
        <p:grpSpPr>
          <a:xfrm>
            <a:off x="5408002" y="1158684"/>
            <a:ext cx="3688080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6005A3F3-4654-ADCF-BA40-3E8BD9E97B43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3C011B7D-6C6C-ECE8-44C7-49CE6E1D9272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90F197C9-B2B8-10CD-6EC0-1FA511830072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Patient‑controlled consent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77FD294C-C4D4-CBAD-658E-42A145CBD98A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OTP‑based one‑time access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37DA09B6-5CAD-1A68-6977-35C0D815AD1E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Time‑bound (limited time access)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337E3513-9D4C-B5A1-7750-8995E1BFEC85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Revocable anytime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0F30DF-BA9E-5547-56D8-8944970E06E9}"/>
              </a:ext>
            </a:extLst>
          </p:cNvPr>
          <p:cNvGrpSpPr/>
          <p:nvPr/>
        </p:nvGrpSpPr>
        <p:grpSpPr>
          <a:xfrm>
            <a:off x="5410183" y="2271202"/>
            <a:ext cx="3688080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6FA4AD2A-F0F6-1075-5617-6D0A32779841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D854E352-CE0D-2DA9-7D73-03C4DC55625F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53D6672F-03D1-93A0-BF65-B52B34FFD1ED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Emergency override (break‑glass)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2EFE4581-9A16-4B0A-AD65-E76A0D16A063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One‑click access with mandatory justification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3643C8B2-FD1B-DCA8-7D2A-D66687722750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Permanent audit record, no deletion ever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DE39ADA-4621-A636-2D37-918C1EC764BA}"/>
              </a:ext>
            </a:extLst>
          </p:cNvPr>
          <p:cNvGrpSpPr/>
          <p:nvPr/>
        </p:nvGrpSpPr>
        <p:grpSpPr>
          <a:xfrm>
            <a:off x="2871644" y="3383720"/>
            <a:ext cx="3688080" cy="1127404"/>
            <a:chOff x="457200" y="1280160"/>
            <a:chExt cx="4114800" cy="169609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85560B41-249F-264C-C544-5E0770824EA6}"/>
                </a:ext>
              </a:extLst>
            </p:cNvPr>
            <p:cNvSpPr/>
            <p:nvPr/>
          </p:nvSpPr>
          <p:spPr>
            <a:xfrm>
              <a:off x="457200" y="1280160"/>
              <a:ext cx="4114800" cy="169609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E02C72BD-7B4D-015B-3111-C15042E68829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EB517AE2-AF55-75BF-C7E2-A284D00484B2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Defense in depth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723B6793-BCB2-E87B-C0C5-F33312DDCEC2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JWT with role‑based access control (RBAC)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0D688AC2-5431-AD13-5520-8348A30DFA13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Column‑level encryption for PII (national ID, phone)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C657C59C-0264-84C6-6255-AB4C2EAE9BE3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 err="1">
                  <a:solidFill>
                    <a:srgbClr val="1E293B"/>
                  </a:solidFill>
                </a:rPr>
                <a:t>Bcrypt</a:t>
              </a:r>
              <a:r>
                <a:rPr lang="en-US" sz="1100" dirty="0">
                  <a:solidFill>
                    <a:srgbClr val="1E293B"/>
                  </a:solidFill>
                </a:rPr>
                <a:t> password hashing (production ready)</a:t>
              </a:r>
              <a:endParaRPr lang="en-US" sz="1100" dirty="0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733B2BD4-B9F9-804B-53A6-2E65204B3E0A}"/>
                </a:ext>
              </a:extLst>
            </p:cNvPr>
            <p:cNvSpPr/>
            <p:nvPr/>
          </p:nvSpPr>
          <p:spPr>
            <a:xfrm>
              <a:off x="651797" y="26649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Full audit logging for all sensitive reads/writes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03654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939D4-87DC-A8FA-C589-92B04B22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0640AB-B8F9-0BC5-E7C2-AE46504409D6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E3262B-89D9-91BF-928D-B183B6B04376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Scalability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35FCC5-485F-251A-3262-4511B257A1AF}"/>
              </a:ext>
            </a:extLst>
          </p:cNvPr>
          <p:cNvSpPr/>
          <p:nvPr/>
        </p:nvSpPr>
        <p:spPr>
          <a:xfrm>
            <a:off x="668216" y="5198378"/>
            <a:ext cx="7673926" cy="386844"/>
          </a:xfrm>
          <a:prstGeom prst="rect">
            <a:avLst/>
          </a:prstGeom>
          <a:solidFill>
            <a:srgbClr val="0280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BAE60F-29FF-6B17-514F-383EC96FE6BC}"/>
              </a:ext>
            </a:extLst>
          </p:cNvPr>
          <p:cNvSpPr txBox="1"/>
          <p:nvPr/>
        </p:nvSpPr>
        <p:spPr>
          <a:xfrm>
            <a:off x="777240" y="47907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400" b="1" dirty="0"/>
              <a:t>We designed for scale from day zero.</a:t>
            </a:r>
            <a:endParaRPr sz="10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DFFB5F8-9C23-2952-BD66-333BDC1A66D5}"/>
              </a:ext>
            </a:extLst>
          </p:cNvPr>
          <p:cNvGrpSpPr/>
          <p:nvPr/>
        </p:nvGrpSpPr>
        <p:grpSpPr>
          <a:xfrm>
            <a:off x="-3779527" y="2412452"/>
            <a:ext cx="3688080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DB93130B-5A18-414A-1B1E-5D71D0EEEEEF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9128F2EB-95B3-CFDD-23AD-3CB07211D69B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06CEF885-0DE0-4128-E282-503DEA48B07D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Phase 2 – Regional Pilot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39F97A39-53A1-2368-AA20-6BCF8DC22699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Shard by </a:t>
              </a:r>
              <a:r>
                <a:rPr lang="en-US" sz="1100" dirty="0" err="1">
                  <a:solidFill>
                    <a:srgbClr val="1E293B"/>
                  </a:solidFill>
                </a:rPr>
                <a:t>patient_id</a:t>
              </a:r>
              <a:r>
                <a:rPr lang="en-US" sz="1100" dirty="0">
                  <a:solidFill>
                    <a:srgbClr val="1E293B"/>
                  </a:solidFill>
                </a:rPr>
                <a:t> (UUID range)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264E708C-8CCF-AA56-BC06-3E6320ABFE6C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Read replicas for analytics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2A285E28-E252-3A08-7FA8-2C65152CF585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Hospital‑level isolation via </a:t>
              </a:r>
              <a:r>
                <a:rPr lang="en-US" sz="1100" dirty="0" err="1">
                  <a:solidFill>
                    <a:srgbClr val="1E293B"/>
                  </a:solidFill>
                </a:rPr>
                <a:t>hospital_id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4D08408-6091-8E0B-1A8E-DCCD3BD4021D}"/>
              </a:ext>
            </a:extLst>
          </p:cNvPr>
          <p:cNvGrpSpPr/>
          <p:nvPr/>
        </p:nvGrpSpPr>
        <p:grpSpPr>
          <a:xfrm>
            <a:off x="-3805650" y="1235790"/>
            <a:ext cx="3688080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BAD839DA-6FAC-60FC-DD09-BF3EB6935EBC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FC8A7ABE-D804-AB7D-15B2-6CA2DD96CF2C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0111BDCC-9465-D0EF-188F-0F6E99780471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F9FAFB"/>
                  </a:solidFill>
                  <a:latin typeface="quote-cjk-patch"/>
                </a:rPr>
                <a:t>Phase 1 – Hackathon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8755957F-77CF-53FC-41A1-7FA88770014B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Single MySQL instance, modular monolith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5BF9BE5B-2642-669C-4DD5-F580E0913AC7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All features working, end‑to‑end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F20064C-6A29-11DA-EFC1-A81731DE5086}"/>
              </a:ext>
            </a:extLst>
          </p:cNvPr>
          <p:cNvGrpSpPr/>
          <p:nvPr/>
        </p:nvGrpSpPr>
        <p:grpSpPr>
          <a:xfrm>
            <a:off x="-3766457" y="3570975"/>
            <a:ext cx="3688080" cy="987377"/>
            <a:chOff x="457200" y="1280160"/>
            <a:chExt cx="4114800" cy="148543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B1E26580-742B-F2D8-7151-25BF14A240E0}"/>
                </a:ext>
              </a:extLst>
            </p:cNvPr>
            <p:cNvSpPr/>
            <p:nvPr/>
          </p:nvSpPr>
          <p:spPr>
            <a:xfrm>
              <a:off x="457200" y="1280160"/>
              <a:ext cx="4114800" cy="148543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5D9BD759-B0F5-4082-E74B-1A56D8B17ADC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A6B20FE9-C7C4-E51C-756B-486A8489ACEC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Phase 3 – National Scale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D07BFA41-397A-54E7-8AD8-B71188227BF6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Regional sharding + global master patient index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39D1EE74-5F86-1CA3-518F-B2A67C8E99B4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Async consent propagation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27016982-FCB6-FB40-3C48-00E4DFC59EFB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Separate analytics warehouse for ML training</a:t>
              </a:r>
              <a:endParaRPr lang="en-US" sz="11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5F66EEC-850C-8D82-609E-6F0F093E8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704" y="1378131"/>
            <a:ext cx="3010856" cy="28326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8512797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728A3-908B-0E55-DD47-00DC7AE8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31B5E0-8155-AA12-D2FF-068382C63DC4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B9667F-6351-123D-0A51-296F649A5C98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Scalability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1E5523-2707-5B1C-E9FD-4CA46F3595A9}"/>
              </a:ext>
            </a:extLst>
          </p:cNvPr>
          <p:cNvSpPr/>
          <p:nvPr/>
        </p:nvSpPr>
        <p:spPr>
          <a:xfrm>
            <a:off x="668216" y="5198378"/>
            <a:ext cx="7673926" cy="386844"/>
          </a:xfrm>
          <a:prstGeom prst="rect">
            <a:avLst/>
          </a:prstGeom>
          <a:solidFill>
            <a:srgbClr val="0280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4E1CB1-73F8-88DC-846A-62C96F755405}"/>
              </a:ext>
            </a:extLst>
          </p:cNvPr>
          <p:cNvSpPr txBox="1"/>
          <p:nvPr/>
        </p:nvSpPr>
        <p:spPr>
          <a:xfrm>
            <a:off x="777240" y="47907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400" b="1" dirty="0"/>
              <a:t>We designed for scale from day zero.</a:t>
            </a:r>
            <a:endParaRPr sz="10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B9F6EF4-B175-7113-6399-9E545FFC830D}"/>
              </a:ext>
            </a:extLst>
          </p:cNvPr>
          <p:cNvGrpSpPr/>
          <p:nvPr/>
        </p:nvGrpSpPr>
        <p:grpSpPr>
          <a:xfrm>
            <a:off x="-3779527" y="2412452"/>
            <a:ext cx="3688080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A8387CBB-388B-C23E-BC75-95597127B4BC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AF16DD12-898E-FD0D-4491-290FC3DF5474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6C9F9114-2F51-A60E-A098-1AEF48A2BCE2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Phase 2 – Regional Pilot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DB80009D-1417-DBD9-967D-3AE8E39B30FF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Shard by </a:t>
              </a:r>
              <a:r>
                <a:rPr lang="en-US" sz="1100" dirty="0" err="1">
                  <a:solidFill>
                    <a:srgbClr val="1E293B"/>
                  </a:solidFill>
                </a:rPr>
                <a:t>patient_id</a:t>
              </a:r>
              <a:r>
                <a:rPr lang="en-US" sz="1100" dirty="0">
                  <a:solidFill>
                    <a:srgbClr val="1E293B"/>
                  </a:solidFill>
                </a:rPr>
                <a:t> (UUID range)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56D6FE29-8065-1AC0-8C9B-7C0E57DD4C13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Read replicas for analytics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1BD7F13B-3B40-857A-E078-8E1E0759CCC4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Hospital‑level isolation via </a:t>
              </a:r>
              <a:r>
                <a:rPr lang="en-US" sz="1100" dirty="0" err="1">
                  <a:solidFill>
                    <a:srgbClr val="1E293B"/>
                  </a:solidFill>
                </a:rPr>
                <a:t>hospital_id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4E7A64-F36A-B05F-7003-11BADDD6CF38}"/>
              </a:ext>
            </a:extLst>
          </p:cNvPr>
          <p:cNvGrpSpPr/>
          <p:nvPr/>
        </p:nvGrpSpPr>
        <p:grpSpPr>
          <a:xfrm>
            <a:off x="589989" y="1235790"/>
            <a:ext cx="3688080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5383758F-6CE9-E1DA-A50F-9DF2BAB102D4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471BB8B0-E73D-EFB7-91F3-62DCA29F4B10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3C6CD404-4A90-5036-BE8E-5314245DC6E5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F9FAFB"/>
                  </a:solidFill>
                  <a:latin typeface="quote-cjk-patch"/>
                </a:rPr>
                <a:t>Phase 1 – Hackathon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07E66CE6-8162-7F4C-533F-9307B7E7A335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Single MySQL instance, modular monolith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F960EBE9-7513-75A9-158F-BC950C9B932E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All features working, end‑to‑end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A41B054-FA12-48F9-D7C2-EB5E68989FC8}"/>
              </a:ext>
            </a:extLst>
          </p:cNvPr>
          <p:cNvGrpSpPr/>
          <p:nvPr/>
        </p:nvGrpSpPr>
        <p:grpSpPr>
          <a:xfrm>
            <a:off x="-3766457" y="3570975"/>
            <a:ext cx="3688080" cy="987377"/>
            <a:chOff x="457200" y="1280160"/>
            <a:chExt cx="4114800" cy="148543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B0F06C62-58F4-363E-6704-F2A37ABC5C8A}"/>
                </a:ext>
              </a:extLst>
            </p:cNvPr>
            <p:cNvSpPr/>
            <p:nvPr/>
          </p:nvSpPr>
          <p:spPr>
            <a:xfrm>
              <a:off x="457200" y="1280160"/>
              <a:ext cx="4114800" cy="148543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88F8544D-705D-C08F-E582-09E8B63EF2DB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A9A4B0E3-F74B-3530-6856-6E0227AC1ED4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Phase 3 – National Scale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7EA50D8F-904D-82DD-BEC3-7E67530EBFC6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Regional sharding + global master patient index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12753EAA-C14E-4CF5-32AA-C68995998578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Async consent propagation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388C8496-DA01-DAA0-D4D8-D4F2BF7CEF96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Separate analytics warehouse for ML training</a:t>
              </a:r>
              <a:endParaRPr lang="en-US" sz="11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B5BD92A-267B-98DE-4325-5803A70E7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704" y="1378131"/>
            <a:ext cx="3010856" cy="28326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0274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88FDF-4D2E-4EBA-12D2-EDA2E59D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EDB8DA-086E-9CBE-D6D6-B18DFF865EFB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7505EF-D0EC-DCBF-AEE1-6DAB7C7D647E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Scalability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A4C390-8DB6-7B5C-D195-5B2075BB1FCA}"/>
              </a:ext>
            </a:extLst>
          </p:cNvPr>
          <p:cNvSpPr/>
          <p:nvPr/>
        </p:nvSpPr>
        <p:spPr>
          <a:xfrm>
            <a:off x="668216" y="5198378"/>
            <a:ext cx="7673926" cy="386844"/>
          </a:xfrm>
          <a:prstGeom prst="rect">
            <a:avLst/>
          </a:prstGeom>
          <a:solidFill>
            <a:srgbClr val="0280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8DB801-31B1-5845-1F3F-50202DE8104B}"/>
              </a:ext>
            </a:extLst>
          </p:cNvPr>
          <p:cNvSpPr txBox="1"/>
          <p:nvPr/>
        </p:nvSpPr>
        <p:spPr>
          <a:xfrm>
            <a:off x="777240" y="47907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400" b="1" dirty="0"/>
              <a:t>We designed for scale from day zero.</a:t>
            </a:r>
            <a:endParaRPr sz="10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335D4BA-6CB3-5222-28D2-9BC5CAC53A12}"/>
              </a:ext>
            </a:extLst>
          </p:cNvPr>
          <p:cNvGrpSpPr/>
          <p:nvPr/>
        </p:nvGrpSpPr>
        <p:grpSpPr>
          <a:xfrm>
            <a:off x="589988" y="2412452"/>
            <a:ext cx="3688080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AC6A2F79-717F-40DD-2E97-476E8261FB63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710451E2-9701-A5C7-43C1-A8ED77121DF6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83A4EE5E-171A-8A7E-6FDA-D3B268DD42DB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Phase 2 – Regional Pilot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CB924E8A-F535-7160-DAA0-99DD853889F1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Shard by </a:t>
              </a:r>
              <a:r>
                <a:rPr lang="en-US" sz="1100" dirty="0" err="1">
                  <a:solidFill>
                    <a:srgbClr val="1E293B"/>
                  </a:solidFill>
                </a:rPr>
                <a:t>patient_id</a:t>
              </a:r>
              <a:r>
                <a:rPr lang="en-US" sz="1100" dirty="0">
                  <a:solidFill>
                    <a:srgbClr val="1E293B"/>
                  </a:solidFill>
                </a:rPr>
                <a:t> (UUID range)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4A30CF22-C0AC-D7EB-D708-A918899E89A1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Read replicas for analytics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FEE95940-D875-C7DC-B2E3-6ED0E1398001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Hospital‑level isolation via </a:t>
              </a:r>
              <a:r>
                <a:rPr lang="en-US" sz="1100" dirty="0" err="1">
                  <a:solidFill>
                    <a:srgbClr val="1E293B"/>
                  </a:solidFill>
                </a:rPr>
                <a:t>hospital_id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33B893B-E8F0-AEB6-4E9E-381764683B4F}"/>
              </a:ext>
            </a:extLst>
          </p:cNvPr>
          <p:cNvGrpSpPr/>
          <p:nvPr/>
        </p:nvGrpSpPr>
        <p:grpSpPr>
          <a:xfrm>
            <a:off x="589989" y="1235790"/>
            <a:ext cx="3688080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ED1EA140-E9D0-4ABA-87D2-897FDF246D9A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9BB59A7C-6731-4886-EEAA-515E80AD9EA0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0B0C2DDD-FB8B-6CED-3A7A-F4C443101970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F9FAFB"/>
                  </a:solidFill>
                  <a:latin typeface="quote-cjk-patch"/>
                </a:rPr>
                <a:t>Phase 1 – Hackathon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941E73F7-74F3-EF46-FAE4-D6AF5BFA9709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Single MySQL instance, modular monolith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ED6F188A-2237-27B5-4288-8954F9280CF4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All features working, end‑to‑end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CB1C554-51CA-448D-3243-050E602C42D1}"/>
              </a:ext>
            </a:extLst>
          </p:cNvPr>
          <p:cNvGrpSpPr/>
          <p:nvPr/>
        </p:nvGrpSpPr>
        <p:grpSpPr>
          <a:xfrm>
            <a:off x="-3766457" y="3570975"/>
            <a:ext cx="3688080" cy="987377"/>
            <a:chOff x="457200" y="1280160"/>
            <a:chExt cx="4114800" cy="148543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DB6B2576-1615-9C7D-D329-1ED4A7A8BAFE}"/>
                </a:ext>
              </a:extLst>
            </p:cNvPr>
            <p:cNvSpPr/>
            <p:nvPr/>
          </p:nvSpPr>
          <p:spPr>
            <a:xfrm>
              <a:off x="457200" y="1280160"/>
              <a:ext cx="4114800" cy="148543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F9839767-4439-F5BD-46BC-550FEE9584AD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BDE2D892-780A-AC7C-3988-F75CFD0009C0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Phase 3 – National Scale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A13F982C-E6B6-67CB-5340-3A0DAAABBC3D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Regional sharding + global master patient index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06064B15-B1DE-41FF-62B2-CDF5C67B23E7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Async consent propagation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3AAB42A5-BDD4-A7A2-B03E-22FDB3631B4E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Separate analytics warehouse for ML training</a:t>
              </a:r>
              <a:endParaRPr lang="en-US" sz="11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F240E87-D55A-5686-1FCE-420E40901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704" y="1378131"/>
            <a:ext cx="3010856" cy="28326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70458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F1851-36B1-1421-C6F1-A6969A3B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62A98B-593E-EA08-73BB-36139F5B7C67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E86809-D52A-A900-DF6B-F4478E923088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Scalability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E3BD7E-022E-EE2F-987B-738846A116B1}"/>
              </a:ext>
            </a:extLst>
          </p:cNvPr>
          <p:cNvSpPr/>
          <p:nvPr/>
        </p:nvSpPr>
        <p:spPr>
          <a:xfrm>
            <a:off x="668216" y="5198378"/>
            <a:ext cx="7673926" cy="386844"/>
          </a:xfrm>
          <a:prstGeom prst="rect">
            <a:avLst/>
          </a:prstGeom>
          <a:solidFill>
            <a:srgbClr val="0280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86457C-4A50-FEFF-9908-405F21E501F3}"/>
              </a:ext>
            </a:extLst>
          </p:cNvPr>
          <p:cNvSpPr txBox="1"/>
          <p:nvPr/>
        </p:nvSpPr>
        <p:spPr>
          <a:xfrm>
            <a:off x="777240" y="47907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400" b="1" dirty="0"/>
              <a:t>We designed for scale from day zero.</a:t>
            </a:r>
            <a:endParaRPr sz="10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D439032-8BD5-2655-A1A5-5AED0A93A30C}"/>
              </a:ext>
            </a:extLst>
          </p:cNvPr>
          <p:cNvGrpSpPr/>
          <p:nvPr/>
        </p:nvGrpSpPr>
        <p:grpSpPr>
          <a:xfrm>
            <a:off x="589988" y="2412452"/>
            <a:ext cx="3688080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DCE14244-D7C8-1E34-BB95-0A32CFCB4DFD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28CB2882-15DA-D36E-D740-A1EB1673267E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9689E1A8-2406-15AF-EC35-8FC68B7EC891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Phase 2 – Regional Pilot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23BA4D47-0B79-4634-9A98-29475DBF8A28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Shard by </a:t>
              </a:r>
              <a:r>
                <a:rPr lang="en-US" sz="1100" dirty="0" err="1">
                  <a:solidFill>
                    <a:srgbClr val="1E293B"/>
                  </a:solidFill>
                </a:rPr>
                <a:t>patient_id</a:t>
              </a:r>
              <a:r>
                <a:rPr lang="en-US" sz="1100" dirty="0">
                  <a:solidFill>
                    <a:srgbClr val="1E293B"/>
                  </a:solidFill>
                </a:rPr>
                <a:t> (UUID range)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A089D4D1-956A-CDB8-2551-B3B75812A13E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Read replicas for analytics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AB4460F1-A9B0-9839-5F58-E4BCC817BC92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Hospital‑level isolation via </a:t>
              </a:r>
              <a:r>
                <a:rPr lang="en-US" sz="1100" dirty="0" err="1">
                  <a:solidFill>
                    <a:srgbClr val="1E293B"/>
                  </a:solidFill>
                </a:rPr>
                <a:t>hospital_id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1E60C28-1C80-9311-6472-69307F2B99E1}"/>
              </a:ext>
            </a:extLst>
          </p:cNvPr>
          <p:cNvGrpSpPr/>
          <p:nvPr/>
        </p:nvGrpSpPr>
        <p:grpSpPr>
          <a:xfrm>
            <a:off x="589989" y="1235790"/>
            <a:ext cx="3688080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23A0CC00-939A-77E0-AF9E-6E4628D9B41F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006C66D7-F6C4-5967-B30A-43C37C2A0143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021371B6-11F6-FD19-1D77-96B9CEF931A0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F9FAFB"/>
                  </a:solidFill>
                  <a:latin typeface="quote-cjk-patch"/>
                </a:rPr>
                <a:t>Phase 1 – Hackathon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5957C357-AA74-1012-CE96-1B719CC7B8B2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Single MySQL instance, modular monolith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8A18B842-6E17-2F2C-AE90-27B9B9662E58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All features working, end‑to‑end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D83994-D008-EFBF-55EF-8462DDD18C39}"/>
              </a:ext>
            </a:extLst>
          </p:cNvPr>
          <p:cNvGrpSpPr/>
          <p:nvPr/>
        </p:nvGrpSpPr>
        <p:grpSpPr>
          <a:xfrm>
            <a:off x="589989" y="3570975"/>
            <a:ext cx="3688080" cy="987377"/>
            <a:chOff x="457200" y="1280160"/>
            <a:chExt cx="4114800" cy="148543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6232FED4-E45A-E173-7CE4-DFA8875E5231}"/>
                </a:ext>
              </a:extLst>
            </p:cNvPr>
            <p:cNvSpPr/>
            <p:nvPr/>
          </p:nvSpPr>
          <p:spPr>
            <a:xfrm>
              <a:off x="457200" y="1280160"/>
              <a:ext cx="4114800" cy="148543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9EB59899-E41D-7773-1197-8F3CDC7792D5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579EB4A1-6473-6421-A7C4-1C4168E9CCA7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Phase 3 – National Scale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9B58FBFA-F957-4F09-CD77-0B2CE369EA3D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Regional sharding + global master patient index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86D92EB3-2A9C-B1A5-1340-0A915C3D9E75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Async consent propagation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DF2772B0-FC94-DD54-9C16-3E01395D82AF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Separate analytics warehouse for ML training</a:t>
              </a:r>
              <a:endParaRPr lang="en-US" sz="11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ADFA4DD-A9F6-EA9D-8F9F-2EB34B031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704" y="1378131"/>
            <a:ext cx="3010856" cy="28326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35838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9256F-235A-0E9B-254A-DB9879C5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9504BB-DDD1-9FD4-16CD-555781A03F78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C23E2B-4F58-228A-24FE-B705782423F6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Scalability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92FD60-A8B5-BF91-C2A1-00B20A87387B}"/>
              </a:ext>
            </a:extLst>
          </p:cNvPr>
          <p:cNvSpPr/>
          <p:nvPr/>
        </p:nvSpPr>
        <p:spPr>
          <a:xfrm>
            <a:off x="668216" y="4754247"/>
            <a:ext cx="7673926" cy="386844"/>
          </a:xfrm>
          <a:prstGeom prst="rect">
            <a:avLst/>
          </a:prstGeom>
          <a:solidFill>
            <a:srgbClr val="0280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D58C98-5C4F-106C-2AFF-5335AA420AB8}"/>
              </a:ext>
            </a:extLst>
          </p:cNvPr>
          <p:cNvSpPr txBox="1"/>
          <p:nvPr/>
        </p:nvSpPr>
        <p:spPr>
          <a:xfrm>
            <a:off x="777240" y="47907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400" b="1" dirty="0"/>
              <a:t>We designed for scale from day zero.</a:t>
            </a:r>
            <a:endParaRPr sz="10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D48F96A-394D-F792-D6D5-F76A045009D0}"/>
              </a:ext>
            </a:extLst>
          </p:cNvPr>
          <p:cNvGrpSpPr/>
          <p:nvPr/>
        </p:nvGrpSpPr>
        <p:grpSpPr>
          <a:xfrm>
            <a:off x="589988" y="2412452"/>
            <a:ext cx="3688080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2F106E54-0745-036A-9ABC-FD45F3FA978B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C10C4348-43B0-AAD8-3947-8B48DA92325E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7A317E64-5B9E-8152-FAD2-6869CE8E60BD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Phase 2 – Regional Pilot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4BFA506F-F21C-CD20-C748-C3C46CF668BA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Shard by </a:t>
              </a:r>
              <a:r>
                <a:rPr lang="en-US" sz="1100" dirty="0" err="1">
                  <a:solidFill>
                    <a:srgbClr val="1E293B"/>
                  </a:solidFill>
                </a:rPr>
                <a:t>patient_id</a:t>
              </a:r>
              <a:r>
                <a:rPr lang="en-US" sz="1100" dirty="0">
                  <a:solidFill>
                    <a:srgbClr val="1E293B"/>
                  </a:solidFill>
                </a:rPr>
                <a:t> (UUID range)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60339D62-037D-D4CF-4F3E-37F343C0075C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Read replicas for analytics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EC24BFBE-7292-8331-1A5E-A4EF97EF4144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Hospital‑level isolation via </a:t>
              </a:r>
              <a:r>
                <a:rPr lang="en-US" sz="1100" dirty="0" err="1">
                  <a:solidFill>
                    <a:srgbClr val="1E293B"/>
                  </a:solidFill>
                </a:rPr>
                <a:t>hospital_id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85775F3-8B48-D799-4528-4563E484CA52}"/>
              </a:ext>
            </a:extLst>
          </p:cNvPr>
          <p:cNvGrpSpPr/>
          <p:nvPr/>
        </p:nvGrpSpPr>
        <p:grpSpPr>
          <a:xfrm>
            <a:off x="589989" y="1235790"/>
            <a:ext cx="3688080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05708298-946A-9D75-D84A-39952312BF2C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7FC51632-5839-8CC8-BB94-751AEB264C48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8AF33A2F-4875-A6A6-0CA4-1514DC690144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F9FAFB"/>
                  </a:solidFill>
                  <a:latin typeface="quote-cjk-patch"/>
                </a:rPr>
                <a:t>Phase 1 – Hackathon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1C1AFDEE-B298-E1B6-7CFC-335766CA6F8C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Single MySQL instance, modular monolith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97ED8A72-5F7B-586F-70C4-951B8A9AF087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All features working, end‑to‑end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C429662-1BCD-E9AB-0BCC-AD637FBCA660}"/>
              </a:ext>
            </a:extLst>
          </p:cNvPr>
          <p:cNvGrpSpPr/>
          <p:nvPr/>
        </p:nvGrpSpPr>
        <p:grpSpPr>
          <a:xfrm>
            <a:off x="589989" y="3570975"/>
            <a:ext cx="3688080" cy="987377"/>
            <a:chOff x="457200" y="1280160"/>
            <a:chExt cx="4114800" cy="148543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73177183-D793-E6AC-5BB7-6AD5843DBC21}"/>
                </a:ext>
              </a:extLst>
            </p:cNvPr>
            <p:cNvSpPr/>
            <p:nvPr/>
          </p:nvSpPr>
          <p:spPr>
            <a:xfrm>
              <a:off x="457200" y="1280160"/>
              <a:ext cx="4114800" cy="148543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E104EA01-E314-0C22-7FD8-27BF662F91AF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08312352-786F-1211-6C5A-CBF9B5ECF8BB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Phase 3 – National Scale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E44619E3-DEA3-A7F4-4154-D1D095C8FEB1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Regional sharding + global master patient index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BD1E208F-9C89-C355-AC84-63593741F999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Async consent propagation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CE9B3C78-E029-CE7F-D599-11455BC0DAB1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Separate analytics warehouse for ML training</a:t>
              </a:r>
              <a:endParaRPr lang="en-US" sz="11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97444B7-AF37-91E1-8C4D-C019CD656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704" y="1378131"/>
            <a:ext cx="3010856" cy="28326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2110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7FC17-1F69-1E03-F94E-ED5B4AB01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083A04-15FF-2E79-CA23-180A5DCB892E}"/>
              </a:ext>
            </a:extLst>
          </p:cNvPr>
          <p:cNvSpPr/>
          <p:nvPr/>
        </p:nvSpPr>
        <p:spPr>
          <a:xfrm>
            <a:off x="6531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E9FC11-2574-10A1-C377-3389965256C8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THE GOLD MINE: DATA FOR AI &amp; HUMANITY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AC842D-CBC1-2991-2D3F-474D3E82BDC4}"/>
              </a:ext>
            </a:extLst>
          </p:cNvPr>
          <p:cNvGrpSpPr/>
          <p:nvPr/>
        </p:nvGrpSpPr>
        <p:grpSpPr>
          <a:xfrm>
            <a:off x="668216" y="5198376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6F43F6-6B2E-1B52-ED41-057B457105E8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3C08AF7-5699-7456-DEDF-611C7A3689DE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b="1" dirty="0"/>
                <a:t>Every patient’s lifetime health journey → the richest dataset on earth.</a:t>
              </a:r>
              <a:endParaRPr sz="10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7E3264B-8371-F091-C602-FEB94955C4D8}"/>
              </a:ext>
            </a:extLst>
          </p:cNvPr>
          <p:cNvGrpSpPr/>
          <p:nvPr/>
        </p:nvGrpSpPr>
        <p:grpSpPr>
          <a:xfrm>
            <a:off x="-8018404" y="2418983"/>
            <a:ext cx="7970203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398D18E3-CC1D-4103-41D8-08C42B40FA75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80136DC4-139B-A3CC-6098-8E1D81220F23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7FDF3C1B-6B39-730D-9CE5-BD1EB44D7D1B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AI/ML opportunities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EB953287-D4A4-4138-7AB4-8E65EF1CEC05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Diabetes risk predictor: trained on real PIMA dataset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C302A4F0-21D6-2B18-1A5B-0CCE04DF6F5E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Heart disease classifier: Cleveland dataset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CA7BB076-DF39-DF0E-4288-A56A83C87277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Outbreak detection: anomaly detection on visit counts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43FEBFD-4B71-A364-9956-0B06BB7D88A9}"/>
              </a:ext>
            </a:extLst>
          </p:cNvPr>
          <p:cNvGrpSpPr/>
          <p:nvPr/>
        </p:nvGrpSpPr>
        <p:grpSpPr>
          <a:xfrm>
            <a:off x="-8024930" y="1235790"/>
            <a:ext cx="7970203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AB6D27A1-01CA-B453-575C-7F3746F4DA1B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15D60732-1F21-992D-B91A-7B63DD3C4293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245A614B-BB50-4B61-F212-157A563F5F5C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F9FAFB"/>
                  </a:solidFill>
                  <a:latin typeface="quote-cjk-patch"/>
                </a:rPr>
                <a:t>From fragmented visits to longitudinal story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72F50BBB-B93D-4E38-4060-772C412E8593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20 years of BP, sugar, cholesterol, medications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639B47CB-1C87-F40A-504C-A9B15B246B94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Lifestyle patterns, hereditary markers, environmental factors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9315C4-8C14-E192-4AA2-BECCD057674C}"/>
              </a:ext>
            </a:extLst>
          </p:cNvPr>
          <p:cNvGrpSpPr/>
          <p:nvPr/>
        </p:nvGrpSpPr>
        <p:grpSpPr>
          <a:xfrm>
            <a:off x="-8005345" y="3570975"/>
            <a:ext cx="7970203" cy="987377"/>
            <a:chOff x="457200" y="1280160"/>
            <a:chExt cx="4114800" cy="148543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15EAE453-2C5E-AE1F-E64D-8CB5306CD66F}"/>
                </a:ext>
              </a:extLst>
            </p:cNvPr>
            <p:cNvSpPr/>
            <p:nvPr/>
          </p:nvSpPr>
          <p:spPr>
            <a:xfrm>
              <a:off x="457200" y="1280160"/>
              <a:ext cx="4114800" cy="148543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3E63275D-769A-E1A6-58F4-97321C6ED289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216D3761-1B79-C33D-590B-3E5753D321D3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Future potential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B35460BA-410F-2B65-CF80-8927B987BA8A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Early warning for slow‑onset diseases (Parkinson’s, Alzheimer’s, CKD)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B94D26C7-07E5-6308-7A16-66E45B5A5091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 err="1">
                  <a:solidFill>
                    <a:srgbClr val="1E293B"/>
                  </a:solidFill>
                </a:rPr>
                <a:t>Personalised</a:t>
              </a:r>
              <a:r>
                <a:rPr lang="en-US" sz="1100" dirty="0">
                  <a:solidFill>
                    <a:srgbClr val="1E293B"/>
                  </a:solidFill>
                </a:rPr>
                <a:t> treatment recommendations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DEE78A51-FFC2-A158-729E-3B1D69634DA9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National epidemic forecasting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64987069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DD93C-545C-045F-1811-35F7800E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74A27E-AD18-CF79-2021-639ADBC93E58}"/>
              </a:ext>
            </a:extLst>
          </p:cNvPr>
          <p:cNvSpPr/>
          <p:nvPr/>
        </p:nvSpPr>
        <p:spPr>
          <a:xfrm>
            <a:off x="6531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631C53-640A-980E-7803-60F081DA9F40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THE GOLD MINE: DATA FOR AI &amp; HUMANITY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13E2BD3-5C84-5FF6-95E0-C52B187EAD9D}"/>
              </a:ext>
            </a:extLst>
          </p:cNvPr>
          <p:cNvGrpSpPr/>
          <p:nvPr/>
        </p:nvGrpSpPr>
        <p:grpSpPr>
          <a:xfrm>
            <a:off x="668216" y="5198376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9115E9E-AD8E-322C-F2AF-B503296F0D54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3DF8650-9EBF-FB54-4BA9-0C9F8D1F2B5D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b="1" dirty="0"/>
                <a:t>Every patient’s lifetime health journey → the richest dataset on earth.</a:t>
              </a:r>
              <a:endParaRPr sz="10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21955CD-0971-76A6-DB79-D28720FD01D8}"/>
              </a:ext>
            </a:extLst>
          </p:cNvPr>
          <p:cNvGrpSpPr/>
          <p:nvPr/>
        </p:nvGrpSpPr>
        <p:grpSpPr>
          <a:xfrm>
            <a:off x="-8018404" y="2418983"/>
            <a:ext cx="7970203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71E0E928-9686-02FC-D231-A800805C2393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892A1E27-AFAF-D9B7-F61E-024AA8DAD0DE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B7FE3775-4E3D-6E38-5CF8-EFE9C149E7AD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AI/ML opportunities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86F61468-2BE6-01BD-F745-56B3D0DB3CCE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Diabetes risk predictor: trained on real PIMA dataset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338B52C6-E4CB-3760-A301-60A6DA69A87F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Heart disease classifier: Cleveland dataset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BD7889E8-E376-99ED-12F5-561BC0ECBA6A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Outbreak detection: anomaly detection on visit counts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9419158-4DE3-4495-8CFC-ECCFEAA14966}"/>
              </a:ext>
            </a:extLst>
          </p:cNvPr>
          <p:cNvGrpSpPr/>
          <p:nvPr/>
        </p:nvGrpSpPr>
        <p:grpSpPr>
          <a:xfrm>
            <a:off x="589988" y="1235790"/>
            <a:ext cx="7970203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F65EBEB8-ADF7-5D12-33B3-6AADF53C0183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024DBB68-DEFF-4D03-150D-D0965AED32BA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83575C88-3D6A-D756-2B9B-3DC2DF46F629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F9FAFB"/>
                  </a:solidFill>
                  <a:latin typeface="quote-cjk-patch"/>
                </a:rPr>
                <a:t>From fragmented visits to longitudinal story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7D9FA4C1-1CFC-F729-254C-8C2F992DE663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20 years of BP, sugar, cholesterol, medications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8F507B50-9445-ABB4-3114-0D8836401C75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Lifestyle patterns, hereditary markers, environmental factors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769F369-AC6A-A4C4-4F0D-7B1D1AB77BA2}"/>
              </a:ext>
            </a:extLst>
          </p:cNvPr>
          <p:cNvGrpSpPr/>
          <p:nvPr/>
        </p:nvGrpSpPr>
        <p:grpSpPr>
          <a:xfrm>
            <a:off x="-8005345" y="3570975"/>
            <a:ext cx="7970203" cy="987377"/>
            <a:chOff x="457200" y="1280160"/>
            <a:chExt cx="4114800" cy="148543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35E1854F-AC76-CE02-E6F0-FE3585BA47A9}"/>
                </a:ext>
              </a:extLst>
            </p:cNvPr>
            <p:cNvSpPr/>
            <p:nvPr/>
          </p:nvSpPr>
          <p:spPr>
            <a:xfrm>
              <a:off x="457200" y="1280160"/>
              <a:ext cx="4114800" cy="148543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2AAFBEBB-11C2-DB7B-8885-E1F9CC332986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B776306C-CD53-4CE4-0D7F-2F7325F77206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Future potential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99CC0BFA-EBE1-2A07-C518-F78E4F6EB833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Early warning for slow‑onset diseases (Parkinson’s, Alzheimer’s, CKD)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34A47305-9AF6-EF4B-A3FC-8166E7B6C415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 err="1">
                  <a:solidFill>
                    <a:srgbClr val="1E293B"/>
                  </a:solidFill>
                </a:rPr>
                <a:t>Personalised</a:t>
              </a:r>
              <a:r>
                <a:rPr lang="en-US" sz="1100" dirty="0">
                  <a:solidFill>
                    <a:srgbClr val="1E293B"/>
                  </a:solidFill>
                </a:rPr>
                <a:t> treatment recommendations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FFAE441E-DBA6-C783-8AE0-1F9DDD59B3E3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National epidemic forecasting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462117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66ADA-8483-D67D-3B02-71DEE94C1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2A9C6E-B6B4-7885-F6C4-FD7C55F1E781}"/>
              </a:ext>
            </a:extLst>
          </p:cNvPr>
          <p:cNvSpPr/>
          <p:nvPr/>
        </p:nvSpPr>
        <p:spPr>
          <a:xfrm>
            <a:off x="6531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A15A31-0DD8-8FD8-6953-3CA5AA4EAE9A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THE GOLD MINE: DATA FOR AI &amp; HUMANITY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44986C-6CBA-8E3E-1B8F-04797EDFF98C}"/>
              </a:ext>
            </a:extLst>
          </p:cNvPr>
          <p:cNvGrpSpPr/>
          <p:nvPr/>
        </p:nvGrpSpPr>
        <p:grpSpPr>
          <a:xfrm>
            <a:off x="668216" y="5198376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D372542-95E1-45F8-422F-E44AD002E52D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6EB3DD-385F-E6E7-9091-62672CB5C97A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b="1" dirty="0"/>
                <a:t>Every patient’s lifetime health journey → the richest dataset on earth.</a:t>
              </a:r>
              <a:endParaRPr sz="10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A7FE792-FFEF-2B57-7F01-2B11D55C1CE1}"/>
              </a:ext>
            </a:extLst>
          </p:cNvPr>
          <p:cNvGrpSpPr/>
          <p:nvPr/>
        </p:nvGrpSpPr>
        <p:grpSpPr>
          <a:xfrm>
            <a:off x="589987" y="2412452"/>
            <a:ext cx="7970203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3816A3AD-0D39-7426-FCAC-0F93B6B3CE1C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1F8A3A8A-5EE8-C3BC-27D1-D7FFA8AB3967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9E74A089-C904-9863-A320-91FD06664963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AI/ML opportunities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3C0ABFE0-CAED-5C23-B864-DDD6617D31F6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Diabetes risk predictor: trained on real PIMA dataset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C748BCBB-CC7B-675F-820A-E03D6E7EA259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Heart disease classifier: Cleveland dataset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48D44EB8-DC1A-21FB-943B-5485841A10F9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Outbreak detection: anomaly detection on visit counts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76DAD80-02C6-DAE8-9B3A-658363688491}"/>
              </a:ext>
            </a:extLst>
          </p:cNvPr>
          <p:cNvGrpSpPr/>
          <p:nvPr/>
        </p:nvGrpSpPr>
        <p:grpSpPr>
          <a:xfrm>
            <a:off x="589988" y="1235790"/>
            <a:ext cx="7970203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8E3144CC-02BF-CC4E-4D45-8BA6D9B84469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4ED861F4-695E-504D-3012-65E0424485D1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686BC356-B4DD-F0BC-B5A1-8F08C7471BF9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F9FAFB"/>
                  </a:solidFill>
                  <a:latin typeface="quote-cjk-patch"/>
                </a:rPr>
                <a:t>From fragmented visits to longitudinal story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9045F5F7-8931-C9B8-A6B3-5690E6BD2BE6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20 years of BP, sugar, cholesterol, medications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D4CC6DFE-072C-4FA0-C60A-2C679E1E9FFE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Lifestyle patterns, hereditary markers, environmental factors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5A12F61-D5B2-EE6F-A7C2-C0DFDE017A9B}"/>
              </a:ext>
            </a:extLst>
          </p:cNvPr>
          <p:cNvGrpSpPr/>
          <p:nvPr/>
        </p:nvGrpSpPr>
        <p:grpSpPr>
          <a:xfrm>
            <a:off x="-8005345" y="3570975"/>
            <a:ext cx="7970203" cy="987377"/>
            <a:chOff x="457200" y="1280160"/>
            <a:chExt cx="4114800" cy="148543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7E755DAF-0FE1-7627-97AD-3D021B984A45}"/>
                </a:ext>
              </a:extLst>
            </p:cNvPr>
            <p:cNvSpPr/>
            <p:nvPr/>
          </p:nvSpPr>
          <p:spPr>
            <a:xfrm>
              <a:off x="457200" y="1280160"/>
              <a:ext cx="4114800" cy="148543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7B19EFF3-BB5E-BABC-5187-0054D24353A7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A288907C-C337-F6E8-4E20-A7415D174137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Future potential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8363342C-45BB-7A11-A060-0FEBA08E8392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Early warning for slow‑onset diseases (Parkinson’s, Alzheimer’s, CKD)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38C34A5D-5203-A0C8-20DE-B41809942B87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 err="1">
                  <a:solidFill>
                    <a:srgbClr val="1E293B"/>
                  </a:solidFill>
                </a:rPr>
                <a:t>Personalised</a:t>
              </a:r>
              <a:r>
                <a:rPr lang="en-US" sz="1100" dirty="0">
                  <a:solidFill>
                    <a:srgbClr val="1E293B"/>
                  </a:solidFill>
                </a:rPr>
                <a:t> treatment recommendations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91637D07-D3C2-A24F-816E-014A4B777043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National epidemic forecasting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328953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0F6BD-CDFC-4A37-91D4-F00B5F00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E62BC5-B174-193F-3689-3FE6B97021C1}"/>
              </a:ext>
            </a:extLst>
          </p:cNvPr>
          <p:cNvSpPr/>
          <p:nvPr/>
        </p:nvSpPr>
        <p:spPr>
          <a:xfrm>
            <a:off x="6531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3483DD-A297-470A-276F-0D513702D6C3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THE GOLD MINE: DATA FOR AI &amp; HUMANITY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F77FADB-084E-A351-0E19-3EC0494BB184}"/>
              </a:ext>
            </a:extLst>
          </p:cNvPr>
          <p:cNvGrpSpPr/>
          <p:nvPr/>
        </p:nvGrpSpPr>
        <p:grpSpPr>
          <a:xfrm>
            <a:off x="668216" y="5198376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C8B2413-9D77-E320-73C4-21E3E151E077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1A6D1FA-18D4-8027-402D-955D05D42904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b="1" dirty="0"/>
                <a:t>Every patient’s lifetime health journey → the richest dataset on earth.</a:t>
              </a:r>
              <a:endParaRPr sz="10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C537576-6862-0D07-8058-180029F90974}"/>
              </a:ext>
            </a:extLst>
          </p:cNvPr>
          <p:cNvGrpSpPr/>
          <p:nvPr/>
        </p:nvGrpSpPr>
        <p:grpSpPr>
          <a:xfrm>
            <a:off x="589987" y="2412452"/>
            <a:ext cx="7970203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A5C50B5A-DCB8-DD1A-66C1-2B02E9B5CB6E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97D2058F-0A0C-FFA7-F93D-EAB3C63CE297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81EAA797-B395-EA7E-74AD-A7E82F9FFFDC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AI/ML opportunities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D8831055-C2EB-996B-A1B8-4866B9325DBC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Diabetes risk predictor: trained on real PIMA dataset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E7D95320-ED48-0B33-F0AB-D23E015DFA44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Heart disease classifier: Cleveland dataset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89141C7C-BF92-DC4F-5386-B5D0B5F33FA4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Outbreak detection: anomaly detection on visit counts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F9EF2A4-68B9-EA99-00C7-51E190DCF761}"/>
              </a:ext>
            </a:extLst>
          </p:cNvPr>
          <p:cNvGrpSpPr/>
          <p:nvPr/>
        </p:nvGrpSpPr>
        <p:grpSpPr>
          <a:xfrm>
            <a:off x="589988" y="1235790"/>
            <a:ext cx="7970203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73AAF1CE-5D7A-AA11-0D84-46DDD46D407F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183B0B16-FC23-3D85-560F-3982327230F9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12CBDAE7-06F3-90F1-3808-62C470C15C3B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F9FAFB"/>
                  </a:solidFill>
                  <a:latin typeface="quote-cjk-patch"/>
                </a:rPr>
                <a:t>From fragmented visits to longitudinal story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93F79A82-4B45-76A1-375A-7EADFA72E68C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20 years of BP, sugar, cholesterol, medications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E99FAC00-25B0-8FB6-60CC-E5B995FA1724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Lifestyle patterns, hereditary markers, environmental factors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78EAE1-5538-278B-5A26-52B0CA01DAA4}"/>
              </a:ext>
            </a:extLst>
          </p:cNvPr>
          <p:cNvGrpSpPr/>
          <p:nvPr/>
        </p:nvGrpSpPr>
        <p:grpSpPr>
          <a:xfrm>
            <a:off x="589988" y="3570975"/>
            <a:ext cx="7970203" cy="987377"/>
            <a:chOff x="457200" y="1280160"/>
            <a:chExt cx="4114800" cy="148543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D5C822FB-F8E5-1341-43ED-5F23FEC9D28F}"/>
                </a:ext>
              </a:extLst>
            </p:cNvPr>
            <p:cNvSpPr/>
            <p:nvPr/>
          </p:nvSpPr>
          <p:spPr>
            <a:xfrm>
              <a:off x="457200" y="1280160"/>
              <a:ext cx="4114800" cy="148543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7E0F448F-212D-A4B5-2AB5-07C2C4AE032D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85B85BE7-6EEB-EFD0-6A3C-A088EE4D0E91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Future potential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4C51542D-C17F-978E-3329-E3633F233E76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Early warning for slow‑onset diseases (Parkinson’s, Alzheimer’s, CKD)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4F748244-56FB-19E2-2545-D5BD4E4302B6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 err="1">
                  <a:solidFill>
                    <a:srgbClr val="1E293B"/>
                  </a:solidFill>
                </a:rPr>
                <a:t>Personalised</a:t>
              </a:r>
              <a:r>
                <a:rPr lang="en-US" sz="1100" dirty="0">
                  <a:solidFill>
                    <a:srgbClr val="1E293B"/>
                  </a:solidFill>
                </a:rPr>
                <a:t> treatment recommendations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007A6C61-4736-CAE2-9CFA-1C896D03126A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National epidemic forecasting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11232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F0B31-8377-689F-0A4C-413F8C24D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62014E-37CD-AFE7-0282-C1E703C89ECF}"/>
              </a:ext>
            </a:extLst>
          </p:cNvPr>
          <p:cNvSpPr/>
          <p:nvPr/>
        </p:nvSpPr>
        <p:spPr>
          <a:xfrm>
            <a:off x="6531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E7DF49-E02D-E5B4-36A2-ED2F727B23B4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THE GOLD MINE: DATA FOR AI &amp; HUMANITY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AE2A00-1A05-F980-9AA7-5CDCA72FBB34}"/>
              </a:ext>
            </a:extLst>
          </p:cNvPr>
          <p:cNvSpPr/>
          <p:nvPr/>
        </p:nvSpPr>
        <p:spPr>
          <a:xfrm>
            <a:off x="668216" y="4754247"/>
            <a:ext cx="7673926" cy="386844"/>
          </a:xfrm>
          <a:prstGeom prst="rect">
            <a:avLst/>
          </a:prstGeom>
          <a:solidFill>
            <a:srgbClr val="02809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BB2316-7C16-2B03-C6DB-1B21C3655FFA}"/>
              </a:ext>
            </a:extLst>
          </p:cNvPr>
          <p:cNvSpPr txBox="1"/>
          <p:nvPr/>
        </p:nvSpPr>
        <p:spPr>
          <a:xfrm>
            <a:off x="777240" y="479074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400" b="1" dirty="0"/>
              <a:t>Every patient’s lifetime health journey → the richest dataset on earth.</a:t>
            </a:r>
            <a:endParaRPr sz="10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0DCC6-5A62-7B78-0F15-21C0ABA7A2E3}"/>
              </a:ext>
            </a:extLst>
          </p:cNvPr>
          <p:cNvGrpSpPr/>
          <p:nvPr/>
        </p:nvGrpSpPr>
        <p:grpSpPr>
          <a:xfrm>
            <a:off x="589987" y="2412452"/>
            <a:ext cx="7970203" cy="1033272"/>
            <a:chOff x="457200" y="1280160"/>
            <a:chExt cx="4114800" cy="15544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97A77338-A17B-0FB3-39CF-482288E2A1D6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49C0674F-0432-4A21-FAC5-B5676135A0E7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277FBBBF-3D7A-6DBD-D42F-81CACB931F80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AI/ML opportunities</a:t>
              </a:r>
              <a:endParaRPr lang="en-US" sz="16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0BF96FB4-1832-5E08-AC05-A33AA8E7CD46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Diabetes risk predictor: trained on real PIMA dataset</a:t>
              </a:r>
              <a:endParaRPr lang="en-US" sz="1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B2D7913B-3697-8D58-0835-13482A31EFB0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Heart disease classifier: Cleveland dataset</a:t>
              </a:r>
              <a:endParaRPr lang="en-US" sz="11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2C0B255F-1048-04C5-CF47-4081F64B402F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Outbreak detection: anomaly detection on visit counts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5B197B6-DAEF-0C35-A2EA-E0D9FCCE286D}"/>
              </a:ext>
            </a:extLst>
          </p:cNvPr>
          <p:cNvGrpSpPr/>
          <p:nvPr/>
        </p:nvGrpSpPr>
        <p:grpSpPr>
          <a:xfrm>
            <a:off x="589988" y="1235790"/>
            <a:ext cx="7970203" cy="1033272"/>
            <a:chOff x="457200" y="1280160"/>
            <a:chExt cx="4114800" cy="155448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6732F9AA-0B38-B6B6-8E53-1E74AFFD5D9D}"/>
                </a:ext>
              </a:extLst>
            </p:cNvPr>
            <p:cNvSpPr/>
            <p:nvPr/>
          </p:nvSpPr>
          <p:spPr>
            <a:xfrm>
              <a:off x="457200" y="1280160"/>
              <a:ext cx="4114800" cy="1554480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739BCA3E-6484-EE72-A9FA-AE5698CE098E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315C81A3-C361-693A-DFD3-C46F16A6DC46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600" b="1" dirty="0">
                  <a:solidFill>
                    <a:srgbClr val="F9FAFB"/>
                  </a:solidFill>
                  <a:latin typeface="quote-cjk-patch"/>
                </a:rPr>
                <a:t>From fragmented visits to longitudinal story</a:t>
              </a:r>
              <a:endParaRPr lang="en-US" sz="16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37E22EE8-FFF4-32CC-3283-BBAA77B0245C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20 years of BP, sugar, cholesterol, medications</a:t>
              </a:r>
              <a:endParaRPr lang="en-US" sz="11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F1F9C72F-BE18-2692-D95A-672008817008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Lifestyle patterns, hereditary markers, environmental factors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48AC6DB-9A85-CEF2-0C24-C984815F1144}"/>
              </a:ext>
            </a:extLst>
          </p:cNvPr>
          <p:cNvGrpSpPr/>
          <p:nvPr/>
        </p:nvGrpSpPr>
        <p:grpSpPr>
          <a:xfrm>
            <a:off x="589988" y="3570975"/>
            <a:ext cx="7970203" cy="987377"/>
            <a:chOff x="457200" y="1280160"/>
            <a:chExt cx="4114800" cy="1485432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BFEE9AD1-7412-16F2-FC1A-F3AE7CB7CA33}"/>
                </a:ext>
              </a:extLst>
            </p:cNvPr>
            <p:cNvSpPr/>
            <p:nvPr/>
          </p:nvSpPr>
          <p:spPr>
            <a:xfrm>
              <a:off x="457200" y="1280160"/>
              <a:ext cx="4114800" cy="1485432"/>
            </a:xfrm>
            <a:prstGeom prst="rect">
              <a:avLst/>
            </a:prstGeom>
            <a:solidFill>
              <a:srgbClr val="F8FAFC"/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1E6EC8E5-0AB9-21C4-9FA2-974D1A58D859}"/>
                </a:ext>
              </a:extLst>
            </p:cNvPr>
            <p:cNvSpPr/>
            <p:nvPr/>
          </p:nvSpPr>
          <p:spPr>
            <a:xfrm>
              <a:off x="457200" y="1280160"/>
              <a:ext cx="4114800" cy="457200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2EE38BC0-9213-03CD-4E24-AACCEE889466}"/>
                </a:ext>
              </a:extLst>
            </p:cNvPr>
            <p:cNvSpPr/>
            <p:nvPr/>
          </p:nvSpPr>
          <p:spPr>
            <a:xfrm>
              <a:off x="640080" y="1324944"/>
              <a:ext cx="3569988" cy="3484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0" dirty="0">
                  <a:solidFill>
                    <a:srgbClr val="F9FAFB"/>
                  </a:solidFill>
                  <a:effectLst/>
                  <a:latin typeface="quote-cjk-patch"/>
                </a:rPr>
                <a:t>Future potential</a:t>
              </a:r>
              <a:endParaRPr lang="en-US" sz="1600" dirty="0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BC654A1C-F7D8-86AB-9DC4-6AEF52883157}"/>
                </a:ext>
              </a:extLst>
            </p:cNvPr>
            <p:cNvSpPr/>
            <p:nvPr/>
          </p:nvSpPr>
          <p:spPr>
            <a:xfrm>
              <a:off x="685800" y="187452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Early warning for slow‑onset diseases (Parkinson’s, Alzheimer’s, CKD)</a:t>
              </a:r>
              <a:endParaRPr lang="en-US" sz="110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9AA11C93-2F8F-6AAA-255C-F1ABEE8FBE77}"/>
                </a:ext>
              </a:extLst>
            </p:cNvPr>
            <p:cNvSpPr/>
            <p:nvPr/>
          </p:nvSpPr>
          <p:spPr>
            <a:xfrm>
              <a:off x="685800" y="2130552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 err="1">
                  <a:solidFill>
                    <a:srgbClr val="1E293B"/>
                  </a:solidFill>
                </a:rPr>
                <a:t>Personalised</a:t>
              </a:r>
              <a:r>
                <a:rPr lang="en-US" sz="1100" dirty="0">
                  <a:solidFill>
                    <a:srgbClr val="1E293B"/>
                  </a:solidFill>
                </a:rPr>
                <a:t> treatment recommendations</a:t>
              </a: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8C0F50B1-AA4A-8EA4-19C6-A485BF216320}"/>
                </a:ext>
              </a:extLst>
            </p:cNvPr>
            <p:cNvSpPr/>
            <p:nvPr/>
          </p:nvSpPr>
          <p:spPr>
            <a:xfrm>
              <a:off x="685800" y="2386584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rgbClr val="1E293B"/>
                  </a:solidFill>
                </a:rPr>
                <a:t>National epidemic forecasting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613751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A6056C-186B-780A-A949-B5C20740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895198-5A3E-D57A-4C2A-C753E0DE490A}"/>
              </a:ext>
            </a:extLst>
          </p:cNvPr>
          <p:cNvSpPr/>
          <p:nvPr/>
        </p:nvSpPr>
        <p:spPr>
          <a:xfrm>
            <a:off x="6531" y="0"/>
            <a:ext cx="9144000" cy="862149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CAEFFE-FA59-877A-F98C-01981A621108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SOCIAL IMPACT BEYOND TECHNOLOGY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EF9997-F3A4-5EDF-BEE2-812B68E0D008}"/>
              </a:ext>
            </a:extLst>
          </p:cNvPr>
          <p:cNvGrpSpPr/>
          <p:nvPr/>
        </p:nvGrpSpPr>
        <p:grpSpPr>
          <a:xfrm>
            <a:off x="-7711575" y="3693607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3A8D76-5F76-2D85-E0A3-A7C87103D59E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D29BCAD-ED87-A9F2-D611-178922B093F4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patients:</a:t>
              </a:r>
              <a:r>
                <a:rPr lang="en-US" sz="1400" dirty="0"/>
                <a:t> they own their data, not hospitals.</a:t>
              </a:r>
              <a:endParaRPr sz="1050" dirty="0"/>
            </a:p>
          </p:txBody>
        </p:sp>
      </p:grpSp>
      <p:sp>
        <p:nvSpPr>
          <p:cNvPr id="49" name="Text 5">
            <a:extLst>
              <a:ext uri="{FF2B5EF4-FFF2-40B4-BE49-F238E27FC236}">
                <a16:creationId xmlns:a16="http://schemas.microsoft.com/office/drawing/2014/main" id="{07E7F06B-B8A0-2EA9-BD6F-F3357A2FB0EA}"/>
              </a:ext>
            </a:extLst>
          </p:cNvPr>
          <p:cNvSpPr/>
          <p:nvPr/>
        </p:nvSpPr>
        <p:spPr>
          <a:xfrm>
            <a:off x="-7651114" y="3600743"/>
            <a:ext cx="6914924" cy="231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Future potential</a:t>
            </a: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9D815A-6B77-12BD-AD1B-99549CBC0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176526"/>
              </p:ext>
            </p:extLst>
          </p:nvPr>
        </p:nvGraphicFramePr>
        <p:xfrm>
          <a:off x="-8294877" y="924635"/>
          <a:ext cx="823613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087">
                  <a:extLst>
                    <a:ext uri="{9D8B030D-6E8A-4147-A177-3AD203B41FA5}">
                      <a16:colId xmlns:a16="http://schemas.microsoft.com/office/drawing/2014/main" val="3040808871"/>
                    </a:ext>
                  </a:extLst>
                </a:gridCol>
                <a:gridCol w="5101043">
                  <a:extLst>
                    <a:ext uri="{9D8B030D-6E8A-4147-A177-3AD203B41FA5}">
                      <a16:colId xmlns:a16="http://schemas.microsoft.com/office/drawing/2014/main" val="146538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Metric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Impact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3094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Repeated diagnostics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↓ 40% – saves NPR 50M+ annually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5110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Emergency handoff time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↓ 35% – from 15 min to under 1 min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3615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Patient history availability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↑ 95% – currently &lt;30%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5528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Rural coverage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Offline‑first, sync when online encrypted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1502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SDG alignment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SDG 3 – Good Health &amp; Well‑Being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16186819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28271E9D-CCEF-28AC-EDF1-1282377C1E8D}"/>
              </a:ext>
            </a:extLst>
          </p:cNvPr>
          <p:cNvGrpSpPr/>
          <p:nvPr/>
        </p:nvGrpSpPr>
        <p:grpSpPr>
          <a:xfrm>
            <a:off x="-7709399" y="4113794"/>
            <a:ext cx="7673926" cy="386844"/>
            <a:chOff x="668216" y="4754247"/>
            <a:chExt cx="7673926" cy="3868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673E9A-2CC7-D3C4-40C8-6396288B62FB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B0C493-534B-692E-A6F4-C7D729030795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doctors:</a:t>
              </a:r>
              <a:r>
                <a:rPr lang="en-US" sz="1400" dirty="0"/>
                <a:t> complete history, better decisions.</a:t>
              </a:r>
              <a:endParaRPr sz="10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901DD0E-AC4D-DF40-BC24-F782F6F76B1D}"/>
              </a:ext>
            </a:extLst>
          </p:cNvPr>
          <p:cNvGrpSpPr/>
          <p:nvPr/>
        </p:nvGrpSpPr>
        <p:grpSpPr>
          <a:xfrm>
            <a:off x="-7700688" y="4533981"/>
            <a:ext cx="7673926" cy="386844"/>
            <a:chOff x="668216" y="4754247"/>
            <a:chExt cx="7673926" cy="3868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0F98E69-1523-E986-99EA-3D0F63333227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9970B4-2790-2259-673F-927D2AECFC83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the nation:</a:t>
              </a:r>
              <a:r>
                <a:rPr lang="en-US" sz="1400" dirty="0"/>
                <a:t> data‑driven health policy.</a:t>
              </a:r>
              <a:endParaRPr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318580979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50837-2B14-12EF-ECD5-8A3D5FCDE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5B90D1-67F2-56AA-041A-9ACA2D32F3AD}"/>
              </a:ext>
            </a:extLst>
          </p:cNvPr>
          <p:cNvSpPr/>
          <p:nvPr/>
        </p:nvSpPr>
        <p:spPr>
          <a:xfrm>
            <a:off x="6531" y="0"/>
            <a:ext cx="9144000" cy="862149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C1E152-F0CC-DE14-E120-6F20C38A4CE8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SOCIAL IMPACT BEYOND TECHNOLOGY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F900BC-C7C0-1CB1-6C8E-DF14105C9E57}"/>
              </a:ext>
            </a:extLst>
          </p:cNvPr>
          <p:cNvGrpSpPr/>
          <p:nvPr/>
        </p:nvGrpSpPr>
        <p:grpSpPr>
          <a:xfrm>
            <a:off x="-7711575" y="3693607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E31FE3E-584A-6C69-0E1C-53FD64748733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CAFDEE-7149-664B-9C8F-4A732B487274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patients:</a:t>
              </a:r>
              <a:r>
                <a:rPr lang="en-US" sz="1400" dirty="0"/>
                <a:t> they own their data, not hospitals.</a:t>
              </a:r>
              <a:endParaRPr sz="1050" dirty="0"/>
            </a:p>
          </p:txBody>
        </p:sp>
      </p:grpSp>
      <p:sp>
        <p:nvSpPr>
          <p:cNvPr id="49" name="Text 5">
            <a:extLst>
              <a:ext uri="{FF2B5EF4-FFF2-40B4-BE49-F238E27FC236}">
                <a16:creationId xmlns:a16="http://schemas.microsoft.com/office/drawing/2014/main" id="{56D69243-EF65-E004-F0D2-527B3590BFAA}"/>
              </a:ext>
            </a:extLst>
          </p:cNvPr>
          <p:cNvSpPr/>
          <p:nvPr/>
        </p:nvSpPr>
        <p:spPr>
          <a:xfrm>
            <a:off x="-7651114" y="3600743"/>
            <a:ext cx="6914924" cy="231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Future potential</a:t>
            </a: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696412-D2AE-5101-92AE-872025432DD7}"/>
              </a:ext>
            </a:extLst>
          </p:cNvPr>
          <p:cNvGraphicFramePr>
            <a:graphicFrameLocks noGrp="1"/>
          </p:cNvGraphicFramePr>
          <p:nvPr/>
        </p:nvGraphicFramePr>
        <p:xfrm>
          <a:off x="195942" y="924635"/>
          <a:ext cx="823613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087">
                  <a:extLst>
                    <a:ext uri="{9D8B030D-6E8A-4147-A177-3AD203B41FA5}">
                      <a16:colId xmlns:a16="http://schemas.microsoft.com/office/drawing/2014/main" val="3040808871"/>
                    </a:ext>
                  </a:extLst>
                </a:gridCol>
                <a:gridCol w="5101043">
                  <a:extLst>
                    <a:ext uri="{9D8B030D-6E8A-4147-A177-3AD203B41FA5}">
                      <a16:colId xmlns:a16="http://schemas.microsoft.com/office/drawing/2014/main" val="146538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Metric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Impact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3094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Repeated diagnostics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↓ 40% – saves NPR 50M+ annually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5110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Emergency handoff time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↓ 35% – from 15 min to under 1 min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3615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Patient history availability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↑ 95% – currently &lt;30%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5528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Rural coverage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Offline‑first, sync when online encrypted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1502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SDG alignment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SDG 3 – Good Health &amp; Well‑Being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16186819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3FDEFBD6-B780-7EC7-5774-225177337798}"/>
              </a:ext>
            </a:extLst>
          </p:cNvPr>
          <p:cNvGrpSpPr/>
          <p:nvPr/>
        </p:nvGrpSpPr>
        <p:grpSpPr>
          <a:xfrm>
            <a:off x="-7709399" y="4113794"/>
            <a:ext cx="7673926" cy="386844"/>
            <a:chOff x="668216" y="4754247"/>
            <a:chExt cx="7673926" cy="3868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CC7CC8-6F1A-760D-A4AF-5FE4B9610C77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ABFFD3-F6DB-4E6A-5775-57C87D27B775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doctors:</a:t>
              </a:r>
              <a:r>
                <a:rPr lang="en-US" sz="1400" dirty="0"/>
                <a:t> complete history, better decisions.</a:t>
              </a:r>
              <a:endParaRPr sz="10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05FF83E-2CEC-0584-8771-37F122C6CCA3}"/>
              </a:ext>
            </a:extLst>
          </p:cNvPr>
          <p:cNvGrpSpPr/>
          <p:nvPr/>
        </p:nvGrpSpPr>
        <p:grpSpPr>
          <a:xfrm>
            <a:off x="-7700688" y="4533981"/>
            <a:ext cx="7673926" cy="386844"/>
            <a:chOff x="668216" y="4754247"/>
            <a:chExt cx="7673926" cy="3868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8FA4C6-77AD-E936-FA9D-36D7A4AEFA8F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5FF2AB-74CD-4E0A-BA08-197044869CED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the nation:</a:t>
              </a:r>
              <a:r>
                <a:rPr lang="en-US" sz="1400" dirty="0"/>
                <a:t> data‑driven health policy.</a:t>
              </a:r>
              <a:endParaRPr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850453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48C29-D19D-4211-8CFD-A40DA92A7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5C01A9-FA0F-579D-C369-403A48EA9105}"/>
              </a:ext>
            </a:extLst>
          </p:cNvPr>
          <p:cNvSpPr/>
          <p:nvPr/>
        </p:nvSpPr>
        <p:spPr>
          <a:xfrm>
            <a:off x="6531" y="0"/>
            <a:ext cx="9144000" cy="862149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E8ED93-6B10-E140-47CD-F1256D6D139C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SOCIAL IMPACT BEYOND TECHNOLOGY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85D32A-E700-2C98-2567-CAA553744808}"/>
              </a:ext>
            </a:extLst>
          </p:cNvPr>
          <p:cNvGrpSpPr/>
          <p:nvPr/>
        </p:nvGrpSpPr>
        <p:grpSpPr>
          <a:xfrm>
            <a:off x="335114" y="3693607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8280F54-343E-2664-541F-AAB850A990B2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FBF532D-7523-4D12-2615-C4260386C069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patients:</a:t>
              </a:r>
              <a:r>
                <a:rPr lang="en-US" sz="1400" dirty="0"/>
                <a:t> they own their data, not hospitals.</a:t>
              </a:r>
              <a:endParaRPr sz="1050" dirty="0"/>
            </a:p>
          </p:txBody>
        </p:sp>
      </p:grpSp>
      <p:sp>
        <p:nvSpPr>
          <p:cNvPr id="49" name="Text 5">
            <a:extLst>
              <a:ext uri="{FF2B5EF4-FFF2-40B4-BE49-F238E27FC236}">
                <a16:creationId xmlns:a16="http://schemas.microsoft.com/office/drawing/2014/main" id="{59B3DFFB-7598-A426-8EDC-BF80E3268CAD}"/>
              </a:ext>
            </a:extLst>
          </p:cNvPr>
          <p:cNvSpPr/>
          <p:nvPr/>
        </p:nvSpPr>
        <p:spPr>
          <a:xfrm>
            <a:off x="-7651114" y="3600743"/>
            <a:ext cx="6914924" cy="231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Future potential</a:t>
            </a: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E9C721-1F6F-6CF2-F6A0-7EB3667C28ED}"/>
              </a:ext>
            </a:extLst>
          </p:cNvPr>
          <p:cNvGraphicFramePr>
            <a:graphicFrameLocks noGrp="1"/>
          </p:cNvGraphicFramePr>
          <p:nvPr/>
        </p:nvGraphicFramePr>
        <p:xfrm>
          <a:off x="195942" y="924635"/>
          <a:ext cx="823613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087">
                  <a:extLst>
                    <a:ext uri="{9D8B030D-6E8A-4147-A177-3AD203B41FA5}">
                      <a16:colId xmlns:a16="http://schemas.microsoft.com/office/drawing/2014/main" val="3040808871"/>
                    </a:ext>
                  </a:extLst>
                </a:gridCol>
                <a:gridCol w="5101043">
                  <a:extLst>
                    <a:ext uri="{9D8B030D-6E8A-4147-A177-3AD203B41FA5}">
                      <a16:colId xmlns:a16="http://schemas.microsoft.com/office/drawing/2014/main" val="146538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Metric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Impact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3094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Repeated diagnostics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↓ 40% – saves NPR 50M+ annually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5110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Emergency handoff time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↓ 35% – from 15 min to under 1 min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3615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Patient history availability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↑ 95% – currently &lt;30%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5528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Rural coverage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Offline‑first, sync when online encrypted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1502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SDG alignment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SDG 3 – Good Health &amp; Well‑Being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16186819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974B4D99-2CAA-EF85-2B08-2105D03DB190}"/>
              </a:ext>
            </a:extLst>
          </p:cNvPr>
          <p:cNvGrpSpPr/>
          <p:nvPr/>
        </p:nvGrpSpPr>
        <p:grpSpPr>
          <a:xfrm>
            <a:off x="-7709399" y="4113794"/>
            <a:ext cx="7673926" cy="386844"/>
            <a:chOff x="668216" y="4754247"/>
            <a:chExt cx="7673926" cy="3868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80E5E18-705B-2166-AB66-154355E8CA00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E4F3263-2715-64AF-AFD4-9CA6297C2A9C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doctors:</a:t>
              </a:r>
              <a:r>
                <a:rPr lang="en-US" sz="1400" dirty="0"/>
                <a:t> complete history, better decisions.</a:t>
              </a:r>
              <a:endParaRPr sz="10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7A42724-21C7-3030-03C5-9D420455FD4D}"/>
              </a:ext>
            </a:extLst>
          </p:cNvPr>
          <p:cNvGrpSpPr/>
          <p:nvPr/>
        </p:nvGrpSpPr>
        <p:grpSpPr>
          <a:xfrm>
            <a:off x="-7700688" y="4533981"/>
            <a:ext cx="7673926" cy="386844"/>
            <a:chOff x="668216" y="4754247"/>
            <a:chExt cx="7673926" cy="3868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065FB53-EB8E-4AEB-F2DA-ABEA65A7C1EA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28648F-EF88-DE37-CB11-17CCC202B264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the nation:</a:t>
              </a:r>
              <a:r>
                <a:rPr lang="en-US" sz="1400" dirty="0"/>
                <a:t> data‑driven health policy.</a:t>
              </a:r>
              <a:endParaRPr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7488047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1030F-E8F9-8FD8-ADD7-95C99ED8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80E77D-D2C3-E360-9A5D-B9D71360BADE}"/>
              </a:ext>
            </a:extLst>
          </p:cNvPr>
          <p:cNvSpPr/>
          <p:nvPr/>
        </p:nvSpPr>
        <p:spPr>
          <a:xfrm>
            <a:off x="6531" y="0"/>
            <a:ext cx="9144000" cy="862149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64B48C-1039-D8B5-0F3C-79B6DB834543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SOCIAL IMPACT BEYOND TECHNOLOGY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197F95-FD61-AA33-3AD5-0C4FFF637C14}"/>
              </a:ext>
            </a:extLst>
          </p:cNvPr>
          <p:cNvGrpSpPr/>
          <p:nvPr/>
        </p:nvGrpSpPr>
        <p:grpSpPr>
          <a:xfrm>
            <a:off x="335114" y="3693607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39FD565-47B1-A948-0CFA-C4037FB1C405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73F0FCC-D605-6B27-4CE2-E7C121083D47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patients:</a:t>
              </a:r>
              <a:r>
                <a:rPr lang="en-US" sz="1400" dirty="0"/>
                <a:t> they own their data, not hospitals.</a:t>
              </a:r>
              <a:endParaRPr sz="1050" dirty="0"/>
            </a:p>
          </p:txBody>
        </p:sp>
      </p:grpSp>
      <p:sp>
        <p:nvSpPr>
          <p:cNvPr id="49" name="Text 5">
            <a:extLst>
              <a:ext uri="{FF2B5EF4-FFF2-40B4-BE49-F238E27FC236}">
                <a16:creationId xmlns:a16="http://schemas.microsoft.com/office/drawing/2014/main" id="{76895E7F-A4FB-B229-7E8F-62CE6CBE5C6F}"/>
              </a:ext>
            </a:extLst>
          </p:cNvPr>
          <p:cNvSpPr/>
          <p:nvPr/>
        </p:nvSpPr>
        <p:spPr>
          <a:xfrm>
            <a:off x="-7651114" y="3600743"/>
            <a:ext cx="6914924" cy="231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Future potential</a:t>
            </a: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D033D8-4474-2290-F140-CC8D40CA419F}"/>
              </a:ext>
            </a:extLst>
          </p:cNvPr>
          <p:cNvGraphicFramePr>
            <a:graphicFrameLocks noGrp="1"/>
          </p:cNvGraphicFramePr>
          <p:nvPr/>
        </p:nvGraphicFramePr>
        <p:xfrm>
          <a:off x="195942" y="924635"/>
          <a:ext cx="823613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087">
                  <a:extLst>
                    <a:ext uri="{9D8B030D-6E8A-4147-A177-3AD203B41FA5}">
                      <a16:colId xmlns:a16="http://schemas.microsoft.com/office/drawing/2014/main" val="3040808871"/>
                    </a:ext>
                  </a:extLst>
                </a:gridCol>
                <a:gridCol w="5101043">
                  <a:extLst>
                    <a:ext uri="{9D8B030D-6E8A-4147-A177-3AD203B41FA5}">
                      <a16:colId xmlns:a16="http://schemas.microsoft.com/office/drawing/2014/main" val="146538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Metric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Impact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3094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Repeated diagnostics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↓ 40% – saves NPR 50M+ annually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5110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Emergency handoff time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↓ 35% – from 15 min to under 1 min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3615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Patient history availability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↑ 95% – currently &lt;30%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5528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Rural coverage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Offline‑first, sync when online encrypted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1502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SDG alignment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SDG 3 – Good Health &amp; Well‑Being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16186819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493B97E0-52CA-DF62-B067-57909630C995}"/>
              </a:ext>
            </a:extLst>
          </p:cNvPr>
          <p:cNvGrpSpPr/>
          <p:nvPr/>
        </p:nvGrpSpPr>
        <p:grpSpPr>
          <a:xfrm>
            <a:off x="330759" y="4113794"/>
            <a:ext cx="7673926" cy="386844"/>
            <a:chOff x="668216" y="4754247"/>
            <a:chExt cx="7673926" cy="3868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7EA0CF-8E9A-3793-8685-27FD19EA2541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C6A870-3D5B-6AE5-AAA9-C067238C8B93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doctors:</a:t>
              </a:r>
              <a:r>
                <a:rPr lang="en-US" sz="1400" dirty="0"/>
                <a:t> complete history, better decisions.</a:t>
              </a:r>
              <a:endParaRPr sz="10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98E7ACD-07C9-AC4D-3D14-E550F43DA79E}"/>
              </a:ext>
            </a:extLst>
          </p:cNvPr>
          <p:cNvGrpSpPr/>
          <p:nvPr/>
        </p:nvGrpSpPr>
        <p:grpSpPr>
          <a:xfrm>
            <a:off x="-7700688" y="4533981"/>
            <a:ext cx="7673926" cy="386844"/>
            <a:chOff x="668216" y="4754247"/>
            <a:chExt cx="7673926" cy="3868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C69ECB-C1D1-9351-522D-3D65F524504B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44836C-C44D-ABD9-C56B-15CBC9D2EB7C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the nation:</a:t>
              </a:r>
              <a:r>
                <a:rPr lang="en-US" sz="1400" dirty="0"/>
                <a:t> data‑driven health policy.</a:t>
              </a:r>
              <a:endParaRPr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27142884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A17FD-5634-4491-7C4B-B9C4725A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AF1976-A98A-1CB1-AD2D-75AD66E8A346}"/>
              </a:ext>
            </a:extLst>
          </p:cNvPr>
          <p:cNvSpPr/>
          <p:nvPr/>
        </p:nvSpPr>
        <p:spPr>
          <a:xfrm>
            <a:off x="6531" y="0"/>
            <a:ext cx="9144000" cy="862149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C665D9-B1EF-9F1A-AC99-17D16048147D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SOCIAL IMPACT BEYOND TECHNOLOGY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949525-F236-D5E9-9EA0-040FACA7F25D}"/>
              </a:ext>
            </a:extLst>
          </p:cNvPr>
          <p:cNvGrpSpPr/>
          <p:nvPr/>
        </p:nvGrpSpPr>
        <p:grpSpPr>
          <a:xfrm>
            <a:off x="335114" y="3693607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B56077B-5E2E-F94C-0C76-DB042B09F76D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BC1DE3-1F25-8AFD-EA57-CFB23CE69166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patients:</a:t>
              </a:r>
              <a:r>
                <a:rPr lang="en-US" sz="1400" dirty="0"/>
                <a:t> they own their data, not hospitals.</a:t>
              </a:r>
              <a:endParaRPr sz="1050" dirty="0"/>
            </a:p>
          </p:txBody>
        </p:sp>
      </p:grpSp>
      <p:sp>
        <p:nvSpPr>
          <p:cNvPr id="49" name="Text 5">
            <a:extLst>
              <a:ext uri="{FF2B5EF4-FFF2-40B4-BE49-F238E27FC236}">
                <a16:creationId xmlns:a16="http://schemas.microsoft.com/office/drawing/2014/main" id="{B4EC6C91-3CF8-A2C8-E60C-DB29691B3495}"/>
              </a:ext>
            </a:extLst>
          </p:cNvPr>
          <p:cNvSpPr/>
          <p:nvPr/>
        </p:nvSpPr>
        <p:spPr>
          <a:xfrm>
            <a:off x="-7651114" y="3600743"/>
            <a:ext cx="6914924" cy="231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Future potential</a:t>
            </a: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A18B74-2F5E-95D1-8AED-6081EAB90AEC}"/>
              </a:ext>
            </a:extLst>
          </p:cNvPr>
          <p:cNvGraphicFramePr>
            <a:graphicFrameLocks noGrp="1"/>
          </p:cNvGraphicFramePr>
          <p:nvPr/>
        </p:nvGraphicFramePr>
        <p:xfrm>
          <a:off x="195942" y="924635"/>
          <a:ext cx="823613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5087">
                  <a:extLst>
                    <a:ext uri="{9D8B030D-6E8A-4147-A177-3AD203B41FA5}">
                      <a16:colId xmlns:a16="http://schemas.microsoft.com/office/drawing/2014/main" val="3040808871"/>
                    </a:ext>
                  </a:extLst>
                </a:gridCol>
                <a:gridCol w="5101043">
                  <a:extLst>
                    <a:ext uri="{9D8B030D-6E8A-4147-A177-3AD203B41FA5}">
                      <a16:colId xmlns:a16="http://schemas.microsoft.com/office/drawing/2014/main" val="146538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Metric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Impact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3094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Repeated diagnostics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↓ 40% – saves NPR 50M+ annually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5110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Emergency handoff time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↓ 35% – from 15 min to under 1 min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3615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Patient history availability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↑ 95% – currently &lt;30%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5528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Rural coverage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Offline‑first, sync when online encrypted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1502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SDG alignment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SDG 3 – Good Health &amp; Well‑Being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16186819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2244CEC6-BE1E-2F7B-6F98-E391179EC0F8}"/>
              </a:ext>
            </a:extLst>
          </p:cNvPr>
          <p:cNvGrpSpPr/>
          <p:nvPr/>
        </p:nvGrpSpPr>
        <p:grpSpPr>
          <a:xfrm>
            <a:off x="330759" y="4113794"/>
            <a:ext cx="7673926" cy="386844"/>
            <a:chOff x="668216" y="4754247"/>
            <a:chExt cx="7673926" cy="3868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9B53499-5D00-91B3-42E2-1E4662EFF6AB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C78F4C4-5676-FC4E-8F03-1483333C7649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doctors:</a:t>
              </a:r>
              <a:r>
                <a:rPr lang="en-US" sz="1400" dirty="0"/>
                <a:t> complete history, better decisions.</a:t>
              </a:r>
              <a:endParaRPr sz="10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DAFBE7B-E177-A051-89EE-15A8F3CEE929}"/>
              </a:ext>
            </a:extLst>
          </p:cNvPr>
          <p:cNvGrpSpPr/>
          <p:nvPr/>
        </p:nvGrpSpPr>
        <p:grpSpPr>
          <a:xfrm>
            <a:off x="326404" y="4533981"/>
            <a:ext cx="7673926" cy="386844"/>
            <a:chOff x="668216" y="4754247"/>
            <a:chExt cx="7673926" cy="3868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16CCE39-7028-F52B-764C-8A6A188BF0E6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582B64-7077-BD51-1AEC-83D473AFF463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Empowers the nation:</a:t>
              </a:r>
              <a:r>
                <a:rPr lang="en-US" sz="1400" dirty="0"/>
                <a:t> data‑driven health policy.</a:t>
              </a:r>
              <a:endParaRPr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181621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60229-BEB1-3765-4094-5A55EDCDD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16E785-8025-CAC6-A416-EA31F2652F4D}"/>
              </a:ext>
            </a:extLst>
          </p:cNvPr>
          <p:cNvSpPr/>
          <p:nvPr/>
        </p:nvSpPr>
        <p:spPr>
          <a:xfrm>
            <a:off x="6531" y="0"/>
            <a:ext cx="9144000" cy="862149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3E9B4C-2C51-3545-5A59-8F3A234A1AC8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BUSINESS MODEL &amp; SUSTAINABILITY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53D9F3-2C96-E22F-2FC7-60EEF096B08C}"/>
              </a:ext>
            </a:extLst>
          </p:cNvPr>
          <p:cNvGrpSpPr/>
          <p:nvPr/>
        </p:nvGrpSpPr>
        <p:grpSpPr>
          <a:xfrm>
            <a:off x="-7737689" y="3693607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3A96F27-328B-0169-79C0-0BF975766270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879578-7151-AF08-D206-B1E76B199907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Freemium for patients:</a:t>
              </a:r>
              <a:r>
                <a:rPr lang="en-US" sz="1400" dirty="0"/>
                <a:t> always free</a:t>
              </a:r>
              <a:endParaRPr sz="105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BB0AB95-5EC5-317A-98F7-663F9D63C07F}"/>
              </a:ext>
            </a:extLst>
          </p:cNvPr>
          <p:cNvGrpSpPr/>
          <p:nvPr/>
        </p:nvGrpSpPr>
        <p:grpSpPr>
          <a:xfrm>
            <a:off x="-7742044" y="4113794"/>
            <a:ext cx="7673926" cy="386844"/>
            <a:chOff x="668216" y="4754247"/>
            <a:chExt cx="7673926" cy="3868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8F2C3F-2F47-74E1-BEA2-077D062B22C7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B898D3-4769-A1A8-F2D2-2365492A4DDD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Hospitals pay:</a:t>
              </a:r>
              <a:r>
                <a:rPr lang="en-US" sz="1400" dirty="0"/>
                <a:t> value &gt; cost (saves repeated tests)</a:t>
              </a:r>
              <a:endParaRPr sz="10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E23A46C-6B17-0420-65A3-B3FEC3514257}"/>
              </a:ext>
            </a:extLst>
          </p:cNvPr>
          <p:cNvGrpSpPr/>
          <p:nvPr/>
        </p:nvGrpSpPr>
        <p:grpSpPr>
          <a:xfrm>
            <a:off x="-7746404" y="4533981"/>
            <a:ext cx="7673926" cy="386844"/>
            <a:chOff x="668216" y="4754247"/>
            <a:chExt cx="7673926" cy="3868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9D7F67-42F4-3BB2-77A1-CF781C38E1F6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49AA8CB-8168-718E-8262-4E4CA6D6629D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b="1" u="sng" dirty="0"/>
                <a:t>Government pays:</a:t>
              </a:r>
              <a:r>
                <a:rPr lang="en-US" sz="1400" dirty="0"/>
                <a:t> for national intelligence &amp; outbreak control</a:t>
              </a:r>
              <a:endParaRPr sz="1050" dirty="0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B9CE1B9-6AF8-C472-0758-01E4246B0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066810"/>
              </p:ext>
            </p:extLst>
          </p:nvPr>
        </p:nvGraphicFramePr>
        <p:xfrm>
          <a:off x="-7907351" y="872850"/>
          <a:ext cx="7776753" cy="279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51">
                  <a:extLst>
                    <a:ext uri="{9D8B030D-6E8A-4147-A177-3AD203B41FA5}">
                      <a16:colId xmlns:a16="http://schemas.microsoft.com/office/drawing/2014/main" val="2767221993"/>
                    </a:ext>
                  </a:extLst>
                </a:gridCol>
                <a:gridCol w="2592251">
                  <a:extLst>
                    <a:ext uri="{9D8B030D-6E8A-4147-A177-3AD203B41FA5}">
                      <a16:colId xmlns:a16="http://schemas.microsoft.com/office/drawing/2014/main" val="3399972287"/>
                    </a:ext>
                  </a:extLst>
                </a:gridCol>
                <a:gridCol w="2592251">
                  <a:extLst>
                    <a:ext uri="{9D8B030D-6E8A-4147-A177-3AD203B41FA5}">
                      <a16:colId xmlns:a16="http://schemas.microsoft.com/office/drawing/2014/main" val="2625415754"/>
                    </a:ext>
                  </a:extLst>
                </a:gridCol>
              </a:tblGrid>
              <a:tr h="37470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quote-cjk-patch"/>
                        </a:rPr>
                        <a:t>Phase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Revenue Stream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Payer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675344772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1. Pilot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Implementation + training fee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Government / Insurance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38904261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2. Scale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Per‑hospital subscription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Private &amp; public hospitals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30458846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3. Analytics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Anonymized insights dashboard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Ministry of Health, NGOs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93867165"/>
                  </a:ext>
                </a:extLst>
              </a:tr>
              <a:tr h="4252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quote-cjk-patch"/>
                        </a:rPr>
                        <a:t>4. AI‑</a:t>
                      </a:r>
                      <a:r>
                        <a:rPr lang="en-US" sz="1600" b="1" dirty="0" err="1">
                          <a:effectLst/>
                          <a:latin typeface="quote-cjk-patch"/>
                        </a:rPr>
                        <a:t>aaS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Predictive API access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Research institutions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46354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455508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11DBA-0C9C-9D5E-8865-9BBD6D04D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9E3E50-55B1-E2D9-EE3A-312CCB89C2DD}"/>
              </a:ext>
            </a:extLst>
          </p:cNvPr>
          <p:cNvSpPr/>
          <p:nvPr/>
        </p:nvSpPr>
        <p:spPr>
          <a:xfrm>
            <a:off x="6531" y="0"/>
            <a:ext cx="9144000" cy="862149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8F6BD4-1B8A-5070-8DBC-F54559A7B901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BUSINESS MODEL &amp; SUSTAINABILITY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24861D-680C-4D10-AF26-6ED21011C50D}"/>
              </a:ext>
            </a:extLst>
          </p:cNvPr>
          <p:cNvGrpSpPr/>
          <p:nvPr/>
        </p:nvGrpSpPr>
        <p:grpSpPr>
          <a:xfrm>
            <a:off x="-7737689" y="3693607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2036E5-3448-F741-6F68-FFAD3B144CD5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A70FDB-2BE8-C806-15D6-0A38F9C08EDF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Freemium for patients:</a:t>
              </a:r>
              <a:r>
                <a:rPr lang="en-US" sz="1400" dirty="0"/>
                <a:t> always free</a:t>
              </a:r>
              <a:endParaRPr sz="105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EE8A04C-6037-96BF-7782-66B0CC489E51}"/>
              </a:ext>
            </a:extLst>
          </p:cNvPr>
          <p:cNvGrpSpPr/>
          <p:nvPr/>
        </p:nvGrpSpPr>
        <p:grpSpPr>
          <a:xfrm>
            <a:off x="-7742044" y="4113794"/>
            <a:ext cx="7673926" cy="386844"/>
            <a:chOff x="668216" y="4754247"/>
            <a:chExt cx="7673926" cy="3868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88E2F7-453A-34BA-D06B-2C3895602BF3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91AB9D-2EEB-0538-E58C-286043690291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Hospitals pay:</a:t>
              </a:r>
              <a:r>
                <a:rPr lang="en-US" sz="1400" dirty="0"/>
                <a:t> value &gt; cost (saves repeated tests)</a:t>
              </a:r>
              <a:endParaRPr sz="10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E8AE50A-7A0A-72A0-1849-1F9E26FD364B}"/>
              </a:ext>
            </a:extLst>
          </p:cNvPr>
          <p:cNvGrpSpPr/>
          <p:nvPr/>
        </p:nvGrpSpPr>
        <p:grpSpPr>
          <a:xfrm>
            <a:off x="-7746404" y="4533981"/>
            <a:ext cx="7673926" cy="386844"/>
            <a:chOff x="668216" y="4754247"/>
            <a:chExt cx="7673926" cy="3868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806061-6B46-2E33-9D27-B5D6B1B1F846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FB18514-0069-061A-CF1A-9B7F1E4DAADB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b="1" u="sng" dirty="0"/>
                <a:t>Government pays:</a:t>
              </a:r>
              <a:r>
                <a:rPr lang="en-US" sz="1400" dirty="0"/>
                <a:t> for national intelligence &amp; outbreak control</a:t>
              </a:r>
              <a:endParaRPr sz="1050" dirty="0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1223918-4363-30F0-4336-939F5885AE82}"/>
              </a:ext>
            </a:extLst>
          </p:cNvPr>
          <p:cNvGraphicFramePr>
            <a:graphicFrameLocks noGrp="1"/>
          </p:cNvGraphicFramePr>
          <p:nvPr/>
        </p:nvGraphicFramePr>
        <p:xfrm>
          <a:off x="570409" y="872850"/>
          <a:ext cx="7776753" cy="279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51">
                  <a:extLst>
                    <a:ext uri="{9D8B030D-6E8A-4147-A177-3AD203B41FA5}">
                      <a16:colId xmlns:a16="http://schemas.microsoft.com/office/drawing/2014/main" val="2767221993"/>
                    </a:ext>
                  </a:extLst>
                </a:gridCol>
                <a:gridCol w="2592251">
                  <a:extLst>
                    <a:ext uri="{9D8B030D-6E8A-4147-A177-3AD203B41FA5}">
                      <a16:colId xmlns:a16="http://schemas.microsoft.com/office/drawing/2014/main" val="3399972287"/>
                    </a:ext>
                  </a:extLst>
                </a:gridCol>
                <a:gridCol w="2592251">
                  <a:extLst>
                    <a:ext uri="{9D8B030D-6E8A-4147-A177-3AD203B41FA5}">
                      <a16:colId xmlns:a16="http://schemas.microsoft.com/office/drawing/2014/main" val="2625415754"/>
                    </a:ext>
                  </a:extLst>
                </a:gridCol>
              </a:tblGrid>
              <a:tr h="37470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quote-cjk-patch"/>
                        </a:rPr>
                        <a:t>Phase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Revenue Stream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Payer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675344772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1. Pilot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Implementation + training fee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Government / Insurance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38904261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2. Scale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Per‑hospital subscription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Private &amp; public hospitals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30458846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3. Analytics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Anonymized insights dashboard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Ministry of Health, NGOs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93867165"/>
                  </a:ext>
                </a:extLst>
              </a:tr>
              <a:tr h="4252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quote-cjk-patch"/>
                        </a:rPr>
                        <a:t>4. AI‑</a:t>
                      </a:r>
                      <a:r>
                        <a:rPr lang="en-US" sz="1600" b="1" dirty="0" err="1">
                          <a:effectLst/>
                          <a:latin typeface="quote-cjk-patch"/>
                        </a:rPr>
                        <a:t>aaS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Predictive API access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Research institutions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46354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732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536ABB-D4EA-CFC3-7D9A-015F628F7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4CB639-915E-4251-5387-9A80E9D91597}"/>
              </a:ext>
            </a:extLst>
          </p:cNvPr>
          <p:cNvSpPr/>
          <p:nvPr/>
        </p:nvSpPr>
        <p:spPr>
          <a:xfrm>
            <a:off x="6531" y="0"/>
            <a:ext cx="9144000" cy="862149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DBF212-279A-667B-53BE-17AA24960E7A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BUSINESS MODEL &amp; SUSTAINABILITY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3801A2-DF55-EDA7-C55B-20D18085238C}"/>
              </a:ext>
            </a:extLst>
          </p:cNvPr>
          <p:cNvGrpSpPr/>
          <p:nvPr/>
        </p:nvGrpSpPr>
        <p:grpSpPr>
          <a:xfrm>
            <a:off x="655163" y="3693607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443B29E-2C70-93A1-F833-42AE96A4B7CF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1469DBD-27B7-2E00-1A88-69C8EB3F7233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Freemium for patients:</a:t>
              </a:r>
              <a:r>
                <a:rPr lang="en-US" sz="1400" dirty="0"/>
                <a:t> always free</a:t>
              </a:r>
              <a:endParaRPr sz="1050" dirty="0"/>
            </a:p>
          </p:txBody>
        </p:sp>
      </p:grpSp>
      <p:sp>
        <p:nvSpPr>
          <p:cNvPr id="49" name="Text 5">
            <a:extLst>
              <a:ext uri="{FF2B5EF4-FFF2-40B4-BE49-F238E27FC236}">
                <a16:creationId xmlns:a16="http://schemas.microsoft.com/office/drawing/2014/main" id="{0736B4D5-5BE0-CD01-16A3-0D3CBF8E4660}"/>
              </a:ext>
            </a:extLst>
          </p:cNvPr>
          <p:cNvSpPr/>
          <p:nvPr/>
        </p:nvSpPr>
        <p:spPr>
          <a:xfrm>
            <a:off x="-7651114" y="3600743"/>
            <a:ext cx="6914924" cy="231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Future potential</a:t>
            </a:r>
            <a:endParaRPr lang="en-US" sz="16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A43808-DBF2-8411-8ACC-10051329F28E}"/>
              </a:ext>
            </a:extLst>
          </p:cNvPr>
          <p:cNvGrpSpPr/>
          <p:nvPr/>
        </p:nvGrpSpPr>
        <p:grpSpPr>
          <a:xfrm>
            <a:off x="-7742044" y="4113794"/>
            <a:ext cx="7673926" cy="386844"/>
            <a:chOff x="668216" y="4754247"/>
            <a:chExt cx="7673926" cy="3868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4AB8CD4-1186-C131-2874-627FDEB094DA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B96A3B-DABA-3802-1CD6-4BA569413AA6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Hospitals pay:</a:t>
              </a:r>
              <a:r>
                <a:rPr lang="en-US" sz="1400" dirty="0"/>
                <a:t> value &gt; cost (saves repeated tests)</a:t>
              </a:r>
              <a:endParaRPr sz="10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AF6B3D4-24BE-56A9-E8AF-839C303656EC}"/>
              </a:ext>
            </a:extLst>
          </p:cNvPr>
          <p:cNvGrpSpPr/>
          <p:nvPr/>
        </p:nvGrpSpPr>
        <p:grpSpPr>
          <a:xfrm>
            <a:off x="-7746404" y="4533981"/>
            <a:ext cx="7673926" cy="386844"/>
            <a:chOff x="668216" y="4754247"/>
            <a:chExt cx="7673926" cy="3868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094237-9742-E206-5297-EF82DEBE7EAE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740E25-93F3-5443-C737-6285AACC8C83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b="1" u="sng" dirty="0"/>
                <a:t>Government pays:</a:t>
              </a:r>
              <a:r>
                <a:rPr lang="en-US" sz="1400" dirty="0"/>
                <a:t> for national intelligence &amp; outbreak control</a:t>
              </a:r>
              <a:endParaRPr sz="1050" dirty="0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DB6E210-30C8-85BE-A60F-1198FAA35D3B}"/>
              </a:ext>
            </a:extLst>
          </p:cNvPr>
          <p:cNvGraphicFramePr>
            <a:graphicFrameLocks noGrp="1"/>
          </p:cNvGraphicFramePr>
          <p:nvPr/>
        </p:nvGraphicFramePr>
        <p:xfrm>
          <a:off x="570409" y="872850"/>
          <a:ext cx="7776753" cy="279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51">
                  <a:extLst>
                    <a:ext uri="{9D8B030D-6E8A-4147-A177-3AD203B41FA5}">
                      <a16:colId xmlns:a16="http://schemas.microsoft.com/office/drawing/2014/main" val="2767221993"/>
                    </a:ext>
                  </a:extLst>
                </a:gridCol>
                <a:gridCol w="2592251">
                  <a:extLst>
                    <a:ext uri="{9D8B030D-6E8A-4147-A177-3AD203B41FA5}">
                      <a16:colId xmlns:a16="http://schemas.microsoft.com/office/drawing/2014/main" val="3399972287"/>
                    </a:ext>
                  </a:extLst>
                </a:gridCol>
                <a:gridCol w="2592251">
                  <a:extLst>
                    <a:ext uri="{9D8B030D-6E8A-4147-A177-3AD203B41FA5}">
                      <a16:colId xmlns:a16="http://schemas.microsoft.com/office/drawing/2014/main" val="2625415754"/>
                    </a:ext>
                  </a:extLst>
                </a:gridCol>
              </a:tblGrid>
              <a:tr h="37470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quote-cjk-patch"/>
                        </a:rPr>
                        <a:t>Phase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Revenue Stream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Payer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675344772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1. Pilot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Implementation + training fee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Government / Insurance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38904261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2. Scale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Per‑hospital subscription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Private &amp; public hospitals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30458846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3. Analytics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Anonymized insights dashboard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Ministry of Health, NGOs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93867165"/>
                  </a:ext>
                </a:extLst>
              </a:tr>
              <a:tr h="4252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4. AI‑aaS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Predictive API access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Research institutions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46354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2434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FE43F-0A81-B479-FC72-76147977A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569A1C-5920-BFB6-B054-0B399BC6664D}"/>
              </a:ext>
            </a:extLst>
          </p:cNvPr>
          <p:cNvSpPr/>
          <p:nvPr/>
        </p:nvSpPr>
        <p:spPr>
          <a:xfrm>
            <a:off x="6531" y="0"/>
            <a:ext cx="9144000" cy="862149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B4CF3D-9536-B862-B4ED-7412F3EF0CF9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BUSINESS MODEL &amp; SUSTAINABILITY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D630EE-B955-5B8F-A7B7-D6A1D92057E1}"/>
              </a:ext>
            </a:extLst>
          </p:cNvPr>
          <p:cNvGrpSpPr/>
          <p:nvPr/>
        </p:nvGrpSpPr>
        <p:grpSpPr>
          <a:xfrm>
            <a:off x="655163" y="3693607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FADC54C-4246-A5D7-5C4C-5D287466E380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50F790D-EBD5-EFA1-EEC6-7E21E16A5270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Freemium for patients:</a:t>
              </a:r>
              <a:r>
                <a:rPr lang="en-US" sz="1400" dirty="0"/>
                <a:t> always free</a:t>
              </a:r>
              <a:endParaRPr sz="1050" dirty="0"/>
            </a:p>
          </p:txBody>
        </p:sp>
      </p:grpSp>
      <p:sp>
        <p:nvSpPr>
          <p:cNvPr id="49" name="Text 5">
            <a:extLst>
              <a:ext uri="{FF2B5EF4-FFF2-40B4-BE49-F238E27FC236}">
                <a16:creationId xmlns:a16="http://schemas.microsoft.com/office/drawing/2014/main" id="{CC46EF57-2EAB-8876-4152-7DD7BCE5D805}"/>
              </a:ext>
            </a:extLst>
          </p:cNvPr>
          <p:cNvSpPr/>
          <p:nvPr/>
        </p:nvSpPr>
        <p:spPr>
          <a:xfrm>
            <a:off x="-7651114" y="3600743"/>
            <a:ext cx="6914924" cy="231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Future potential</a:t>
            </a:r>
            <a:endParaRPr lang="en-US" sz="16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1E27443-DBE8-7A74-8D76-488029C45647}"/>
              </a:ext>
            </a:extLst>
          </p:cNvPr>
          <p:cNvGrpSpPr/>
          <p:nvPr/>
        </p:nvGrpSpPr>
        <p:grpSpPr>
          <a:xfrm>
            <a:off x="650808" y="4113794"/>
            <a:ext cx="7673926" cy="386844"/>
            <a:chOff x="668216" y="4754247"/>
            <a:chExt cx="7673926" cy="3868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373B72-E0D1-6CEB-C5C6-142C956A9DD6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66CEED-998F-A416-991C-1F5B9E0A3232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Hospitals pay:</a:t>
              </a:r>
              <a:r>
                <a:rPr lang="en-US" sz="1400" dirty="0"/>
                <a:t> value &gt; cost (saves repeated tests)</a:t>
              </a:r>
              <a:endParaRPr sz="10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DB5B7CC-B55F-932A-98FC-1B6BBFA5598A}"/>
              </a:ext>
            </a:extLst>
          </p:cNvPr>
          <p:cNvGrpSpPr/>
          <p:nvPr/>
        </p:nvGrpSpPr>
        <p:grpSpPr>
          <a:xfrm>
            <a:off x="-7746404" y="4533981"/>
            <a:ext cx="7673926" cy="386844"/>
            <a:chOff x="668216" y="4754247"/>
            <a:chExt cx="7673926" cy="3868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205459-E566-3D40-F920-D9991DEA222D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D97AB4-3E80-19F7-5491-23517EB8DAD6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b="1" u="sng" dirty="0"/>
                <a:t>Government pays:</a:t>
              </a:r>
              <a:r>
                <a:rPr lang="en-US" sz="1400" dirty="0"/>
                <a:t> for national intelligence &amp; outbreak control</a:t>
              </a:r>
              <a:endParaRPr sz="1050" dirty="0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52B8516-DCC1-6DCE-0F0C-593E655EBE0A}"/>
              </a:ext>
            </a:extLst>
          </p:cNvPr>
          <p:cNvGraphicFramePr>
            <a:graphicFrameLocks noGrp="1"/>
          </p:cNvGraphicFramePr>
          <p:nvPr/>
        </p:nvGraphicFramePr>
        <p:xfrm>
          <a:off x="570409" y="872850"/>
          <a:ext cx="7776753" cy="279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51">
                  <a:extLst>
                    <a:ext uri="{9D8B030D-6E8A-4147-A177-3AD203B41FA5}">
                      <a16:colId xmlns:a16="http://schemas.microsoft.com/office/drawing/2014/main" val="2767221993"/>
                    </a:ext>
                  </a:extLst>
                </a:gridCol>
                <a:gridCol w="2592251">
                  <a:extLst>
                    <a:ext uri="{9D8B030D-6E8A-4147-A177-3AD203B41FA5}">
                      <a16:colId xmlns:a16="http://schemas.microsoft.com/office/drawing/2014/main" val="3399972287"/>
                    </a:ext>
                  </a:extLst>
                </a:gridCol>
                <a:gridCol w="2592251">
                  <a:extLst>
                    <a:ext uri="{9D8B030D-6E8A-4147-A177-3AD203B41FA5}">
                      <a16:colId xmlns:a16="http://schemas.microsoft.com/office/drawing/2014/main" val="2625415754"/>
                    </a:ext>
                  </a:extLst>
                </a:gridCol>
              </a:tblGrid>
              <a:tr h="37470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quote-cjk-patch"/>
                        </a:rPr>
                        <a:t>Phase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Revenue Stream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Payer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675344772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1. Pilot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Implementation + training fee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Government / Insurance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38904261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2. Scale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Per‑hospital subscription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Private &amp; public hospitals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30458846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3. Analytics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Anonymized insights dashboard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Ministry of Health, NGOs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93867165"/>
                  </a:ext>
                </a:extLst>
              </a:tr>
              <a:tr h="4252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4. AI‑aaS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Predictive API access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Research institutions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46354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046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29F86-272A-511E-9397-736B3447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589D64-2F8B-FDA6-3409-9D7DA21AB554}"/>
              </a:ext>
            </a:extLst>
          </p:cNvPr>
          <p:cNvSpPr/>
          <p:nvPr/>
        </p:nvSpPr>
        <p:spPr>
          <a:xfrm>
            <a:off x="6531" y="0"/>
            <a:ext cx="9144000" cy="862149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46FD4A-601A-DE66-2C82-D79737FE5894}"/>
              </a:ext>
            </a:extLst>
          </p:cNvPr>
          <p:cNvSpPr/>
          <p:nvPr/>
        </p:nvSpPr>
        <p:spPr>
          <a:xfrm>
            <a:off x="457199" y="320040"/>
            <a:ext cx="8546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9FAFB"/>
                </a:solidFill>
                <a:effectLst/>
                <a:latin typeface="quote-cjk-patch"/>
              </a:rPr>
              <a:t>BUSINESS MODEL &amp; SUSTAINABILITY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840005-504C-071A-563B-E398B7F6C443}"/>
              </a:ext>
            </a:extLst>
          </p:cNvPr>
          <p:cNvGrpSpPr/>
          <p:nvPr/>
        </p:nvGrpSpPr>
        <p:grpSpPr>
          <a:xfrm>
            <a:off x="655163" y="3693607"/>
            <a:ext cx="7673926" cy="386844"/>
            <a:chOff x="668216" y="4754247"/>
            <a:chExt cx="7673926" cy="3868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C73DDB2-F129-9D53-30E9-76C263D951A7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721EA55-2A72-2853-E553-5FA267D81122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Freemium for patients:</a:t>
              </a:r>
              <a:r>
                <a:rPr lang="en-US" sz="1400" dirty="0"/>
                <a:t> always free</a:t>
              </a:r>
              <a:endParaRPr sz="1050" dirty="0"/>
            </a:p>
          </p:txBody>
        </p:sp>
      </p:grpSp>
      <p:sp>
        <p:nvSpPr>
          <p:cNvPr id="49" name="Text 5">
            <a:extLst>
              <a:ext uri="{FF2B5EF4-FFF2-40B4-BE49-F238E27FC236}">
                <a16:creationId xmlns:a16="http://schemas.microsoft.com/office/drawing/2014/main" id="{C83615B4-E3E5-C259-E438-A967CEA8A87B}"/>
              </a:ext>
            </a:extLst>
          </p:cNvPr>
          <p:cNvSpPr/>
          <p:nvPr/>
        </p:nvSpPr>
        <p:spPr>
          <a:xfrm>
            <a:off x="-7651114" y="3600743"/>
            <a:ext cx="6914924" cy="231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0" dirty="0">
                <a:solidFill>
                  <a:srgbClr val="F9FAFB"/>
                </a:solidFill>
                <a:effectLst/>
                <a:latin typeface="quote-cjk-patch"/>
              </a:rPr>
              <a:t>Future potential</a:t>
            </a:r>
            <a:endParaRPr lang="en-US" sz="16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C24E8E-5B3C-EFD4-F98C-1E914D214AEA}"/>
              </a:ext>
            </a:extLst>
          </p:cNvPr>
          <p:cNvGrpSpPr/>
          <p:nvPr/>
        </p:nvGrpSpPr>
        <p:grpSpPr>
          <a:xfrm>
            <a:off x="650808" y="4113794"/>
            <a:ext cx="7673926" cy="386844"/>
            <a:chOff x="668216" y="4754247"/>
            <a:chExt cx="7673926" cy="3868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2FE2C00-64F0-470B-541F-4BE729F1B1E0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2637B06-6B1A-98F8-067F-06F2392FDA68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u="sng" dirty="0"/>
                <a:t>Hospitals pay:</a:t>
              </a:r>
              <a:r>
                <a:rPr lang="en-US" sz="1400" dirty="0"/>
                <a:t> value &gt; cost (saves repeated tests)</a:t>
              </a:r>
              <a:endParaRPr sz="105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BEFBBD-E924-888F-CD24-ABACC6611BA5}"/>
              </a:ext>
            </a:extLst>
          </p:cNvPr>
          <p:cNvGrpSpPr/>
          <p:nvPr/>
        </p:nvGrpSpPr>
        <p:grpSpPr>
          <a:xfrm>
            <a:off x="646453" y="4533981"/>
            <a:ext cx="7673926" cy="386844"/>
            <a:chOff x="668216" y="4754247"/>
            <a:chExt cx="7673926" cy="3868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21298E-A143-F006-271E-28DDCA2E2977}"/>
                </a:ext>
              </a:extLst>
            </p:cNvPr>
            <p:cNvSpPr/>
            <p:nvPr/>
          </p:nvSpPr>
          <p:spPr>
            <a:xfrm>
              <a:off x="668216" y="4754247"/>
              <a:ext cx="7673926" cy="386844"/>
            </a:xfrm>
            <a:prstGeom prst="rect">
              <a:avLst/>
            </a:prstGeom>
            <a:solidFill>
              <a:srgbClr val="02809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12756EE-5291-7CC4-BBF1-9F390503117D}"/>
                </a:ext>
              </a:extLst>
            </p:cNvPr>
            <p:cNvSpPr txBox="1"/>
            <p:nvPr/>
          </p:nvSpPr>
          <p:spPr>
            <a:xfrm>
              <a:off x="777240" y="4790740"/>
              <a:ext cx="731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rPr lang="en-US" sz="1400" b="1" u="sng" dirty="0"/>
                <a:t>Government pays:</a:t>
              </a:r>
              <a:r>
                <a:rPr lang="en-US" sz="1400" dirty="0"/>
                <a:t> for national intelligence &amp; outbreak control</a:t>
              </a:r>
              <a:endParaRPr sz="1050" dirty="0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631C1F7-3690-5EF9-683E-30EC93EB55F6}"/>
              </a:ext>
            </a:extLst>
          </p:cNvPr>
          <p:cNvGraphicFramePr>
            <a:graphicFrameLocks noGrp="1"/>
          </p:cNvGraphicFramePr>
          <p:nvPr/>
        </p:nvGraphicFramePr>
        <p:xfrm>
          <a:off x="570409" y="872850"/>
          <a:ext cx="7776753" cy="279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51">
                  <a:extLst>
                    <a:ext uri="{9D8B030D-6E8A-4147-A177-3AD203B41FA5}">
                      <a16:colId xmlns:a16="http://schemas.microsoft.com/office/drawing/2014/main" val="2767221993"/>
                    </a:ext>
                  </a:extLst>
                </a:gridCol>
                <a:gridCol w="2592251">
                  <a:extLst>
                    <a:ext uri="{9D8B030D-6E8A-4147-A177-3AD203B41FA5}">
                      <a16:colId xmlns:a16="http://schemas.microsoft.com/office/drawing/2014/main" val="3399972287"/>
                    </a:ext>
                  </a:extLst>
                </a:gridCol>
                <a:gridCol w="2592251">
                  <a:extLst>
                    <a:ext uri="{9D8B030D-6E8A-4147-A177-3AD203B41FA5}">
                      <a16:colId xmlns:a16="http://schemas.microsoft.com/office/drawing/2014/main" val="2625415754"/>
                    </a:ext>
                  </a:extLst>
                </a:gridCol>
              </a:tblGrid>
              <a:tr h="37470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quote-cjk-patch"/>
                        </a:rPr>
                        <a:t>Phase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Revenue Stream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Payer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675344772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1. Pilot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Implementation + training fee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Government / Insurance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38904261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2. Scale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Per‑hospital subscription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Private &amp; public hospitals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30458846"/>
                  </a:ext>
                </a:extLst>
              </a:tr>
              <a:tr h="584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3. Analytics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Anonymized insights dashboard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Ministry of Health, NGOs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493867165"/>
                  </a:ext>
                </a:extLst>
              </a:tr>
              <a:tr h="4252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1">
                          <a:effectLst/>
                          <a:latin typeface="quote-cjk-patch"/>
                        </a:rPr>
                        <a:t>4. AI‑aaS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Predictive API access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quote-cjk-patch"/>
                        </a:rPr>
                        <a:t>Research institutions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46354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435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8FAFC"/>
                </a:solidFill>
              </a:rPr>
              <a:t>Together, we can transform healthcare for every citizen.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</TotalTime>
  <Words>4213</Words>
  <Application>Microsoft Office PowerPoint</Application>
  <PresentationFormat>On-screen Show (16:9)</PresentationFormat>
  <Paragraphs>919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Arial</vt:lpstr>
      <vt:lpstr>Calibri</vt:lpstr>
      <vt:lpstr>quote-cjk-patch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National Health Management Platform</dc:title>
  <dc:subject>PptxGenJS Presentation</dc:subject>
  <dc:creator>INHMP Team</dc:creator>
  <cp:lastModifiedBy>Kushal Prasad Joshi</cp:lastModifiedBy>
  <cp:revision>19</cp:revision>
  <dcterms:created xsi:type="dcterms:W3CDTF">2026-02-03T17:46:36Z</dcterms:created>
  <dcterms:modified xsi:type="dcterms:W3CDTF">2026-02-12T18:20:05Z</dcterms:modified>
</cp:coreProperties>
</file>